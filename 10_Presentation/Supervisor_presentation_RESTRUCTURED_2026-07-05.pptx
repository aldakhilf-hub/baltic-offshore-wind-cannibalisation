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88" r:id="rId13"/>
    <p:sldId id="267" r:id="rId14"/>
    <p:sldId id="271" r:id="rId15"/>
    <p:sldId id="268" r:id="rId16"/>
    <p:sldId id="269" r:id="rId17"/>
    <p:sldId id="270" r:id="rId18"/>
    <p:sldId id="272" r:id="rId19"/>
    <p:sldId id="273" r:id="rId20"/>
    <p:sldId id="289" r:id="rId40"/>
    <p:sldId id="274" r:id="rId21"/>
    <p:sldId id="275" r:id="rId22"/>
    <p:sldId id="287" r:id="rId23"/>
    <p:sldId id="286" r:id="rId24"/>
    <p:sldId id="276" r:id="rId25"/>
    <p:sldId id="277" r:id="rId26"/>
    <p:sldId id="278" r:id="rId27"/>
    <p:sldId id="279" r:id="rId28"/>
    <p:sldId id="280" r:id="rId29"/>
    <p:sldId id="281" r:id="rId30"/>
    <p:sldId id="282" r:id="rId31"/>
    <p:sldId id="283" r:id="rId32"/>
    <p:sldId id="284" r:id="rId33"/>
    <p:sldId id="28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05"/>
    <p:restoredTop sz="81529"/>
  </p:normalViewPr>
  <p:slideViewPr>
    <p:cSldViewPr snapToGrid="0" snapToObjects="1">
      <p:cViewPr>
        <p:scale>
          <a:sx n="118" d="100"/>
          <a:sy n="118" d="100"/>
        </p:scale>
        <p:origin x="200"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917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Thesis: market value of offshore wind, open North Sea vs enclosed Baltic, out to 2040</a:t>
            </a:r>
          </a:p>
          <a:p>
            <a:r>
              <a:t>•  Order: three research questions, then method from first principles, then results</a:t>
            </a:r>
          </a:p>
          <a:p>
            <a:r>
              <a:t>•  About 20 minutes; please interrupt at any point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RQ1: how does Baltic value compare with the North Sea today, and under the 2030/2040 buildout</a:t>
            </a:r>
          </a:p>
          <a:p>
            <a:r>
              <a:t>•  RQ2: which mechanisms set the erosion, and do they differ enclosed vs open</a:t>
            </a:r>
          </a:p>
          <a:p>
            <a:r>
              <a:t>•  RQ3: can a history-trained model project the future, or is a system model needed</a:t>
            </a:r>
          </a:p>
          <a:p>
            <a:r>
              <a:t>•  All on open data; both predecessor theses relied on confidential Aurora data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 farm earns the price in its windy hours, not the average</a:t>
            </a:r>
          </a:p>
          <a:p>
            <a:r>
              <a:t>•  Correlated wind means all farms flood the market together and push that price down (cannibalisation)</a:t>
            </a:r>
          </a:p>
          <a:p>
            <a:r>
              <a:t>•  Capture value = fraction of the average price actually earned; below 1 = self-depressing</a:t>
            </a:r>
          </a:p>
          <a:p>
            <a:r>
              <a:t>•  Textbook (Hirth) expects the Baltic to hold value better (Nordic hydro, little built); we test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Revenue/MW = capacity factor x price level x capture value</a:t>
            </a:r>
          </a:p>
          <a:p>
            <a:r>
              <a:t>•  CF is flat, price level is shared (gas spike); only capture value diverges, Baltic further</a:t>
            </a:r>
          </a:p>
          <a:p>
            <a:r>
              <a:t>•  So the whole revenue story lives in capture value: our common currency across both models</a:t>
            </a:r>
          </a:p>
          <a:p>
            <a:r>
              <a:t>•  Measured monthly for 31 study farms (16 North Sea, 15 Baltic)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Unit of analysis = the bidding zone (one price per area per hour)</a:t>
            </a:r>
          </a:p>
          <a:p>
            <a:r>
              <a:rPr dirty="0"/>
              <a:t>•  North Sea (open): DE, NL, BE, DK1, FR</a:t>
            </a:r>
          </a:p>
          <a:p>
            <a:r>
              <a:rPr dirty="0"/>
              <a:t>•  Baltic under-built: PL, EE, LV, LT; built-out preview: DK2, SE4</a:t>
            </a:r>
          </a:p>
          <a:p>
            <a:r>
              <a:rPr dirty="0"/>
              <a:t>•  Excluded: Finland (nuclear), GB (Brexit), Norway (hydro)</a:t>
            </a:r>
          </a:p>
          <a:p>
            <a:r>
              <a:rPr dirty="0"/>
              <a:t>•  Space-for-time: the built-out zones are the future of the under-built ones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Need to MEASURE the past (data-rich) and PROJECT the future (no data); no single method does both</a:t>
            </a:r>
          </a:p>
          <a:p>
            <a:r>
              <a:t>•  Regression measures the past and explains the mechanism</a:t>
            </a:r>
          </a:p>
          <a:p>
            <a:r>
              <a:t>•  PyPSA carries the future; the validation triangle checks they agree where reality is observable</a:t>
            </a:r>
          </a:p>
          <a:p>
            <a:r>
              <a:t>•  Deliberate division of labour; the regression provably cannot extrapolate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Need a consistent hourly profile for every zone, including zones with no farm yet, from open data</a:t>
            </a:r>
          </a:p>
          <a:p>
            <a:r>
              <a:rPr dirty="0"/>
              <a:t>•  Built from weather: ERA5 wind, lifted to 150 m hub height, through a 15 MW turbine power curve</a:t>
            </a:r>
          </a:p>
          <a:p>
            <a:r>
              <a:rPr dirty="0"/>
              <a:t>•  Validated vs metered output: r = 0.88 hourly, 0.95 monthly</a:t>
            </a:r>
          </a:p>
          <a:p>
            <a:r>
              <a:rPr dirty="0"/>
              <a:t>•  Neither predecessor validated this; it lets us price farms in zones with prices but no turbines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Unit = one farm-month; 7 features in, that month's capture value out</a:t>
            </a:r>
          </a:p>
          <a:p>
            <a:r>
              <a:t>•  Scored leave-farm-out (blind): R2 = 0.69</a:t>
            </a:r>
          </a:p>
          <a:p>
            <a:r>
              <a:t>•  Capture value is a property of prices, so I price the validated farm in all 7 enclosed Baltic zones</a:t>
            </a:r>
          </a:p>
          <a:p>
            <a:r>
              <a:t>•  Predicts the enclosed Baltic zones blind within 0.07 (general, not memorising one zone)</a:t>
            </a:r>
          </a:p>
          <a:p>
            <a:r>
              <a:t>•  A North-Sea-only model still transfers to the Baltic (R2 ~0.38): general, not memorising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The empirical instrument opened up (the mirror of the </a:t>
            </a:r>
            <a:r>
              <a:rPr dirty="0" err="1"/>
              <a:t>PyPSA</a:t>
            </a:r>
            <a:r>
              <a:rPr dirty="0"/>
              <a:t> box)</a:t>
            </a:r>
          </a:p>
          <a:p>
            <a:r>
              <a:rPr dirty="0"/>
              <a:t>•  Inputs: 7 market features per farm-month (crowding, demand, penetration, fuel, buffering) from the VWF + ENTSO-E</a:t>
            </a:r>
          </a:p>
          <a:p>
            <a:r>
              <a:rPr dirty="0"/>
              <a:t>•  Model: gradient boosting, 400 shallow trees summed; trained operational, scored leave-farm-out (R2 0.69)</a:t>
            </a:r>
          </a:p>
          <a:p>
            <a:r>
              <a:rPr dirty="0"/>
              <a:t>•  How it projects: the tree ABSTAINS (flat ~0.82); the analytical form extrapolates gently (0.79, 0.72) but linearly</a:t>
            </a:r>
          </a:p>
          <a:p>
            <a:r>
              <a:rPr dirty="0"/>
              <a:t>•  That sits above </a:t>
            </a:r>
            <a:r>
              <a:rPr dirty="0" err="1"/>
              <a:t>PyPSA's</a:t>
            </a:r>
            <a:r>
              <a:rPr dirty="0"/>
              <a:t> 0.57/0.47 (the convex collapse it cannot see), so </a:t>
            </a:r>
            <a:r>
              <a:rPr dirty="0" err="1"/>
              <a:t>PyPSA</a:t>
            </a:r>
            <a:r>
              <a:rPr dirty="0"/>
              <a:t> carries 2040</a:t>
            </a:r>
            <a:endParaRPr lang="en-GB" dirty="0"/>
          </a:p>
          <a:p>
            <a:endParaRPr lang="en-GB" dirty="0"/>
          </a:p>
          <a:p>
            <a:r>
              <a:rPr lang="en-GB" sz="1200" b="0" i="0" kern="1200" dirty="0">
                <a:solidFill>
                  <a:schemeClr val="tx1"/>
                </a:solidFill>
                <a:effectLst/>
                <a:latin typeface="+mn-lt"/>
                <a:ea typeface="+mn-ea"/>
                <a:cs typeface="+mn-cs"/>
              </a:rPr>
              <a:t>it is like predicting a house's price (CV) from its size, location, and age (the 7 features). You train on past </a:t>
            </a:r>
            <a:r>
              <a:rPr lang="en-GB" dirty="0"/>
              <a:t>(attributes, price)</a:t>
            </a:r>
            <a:r>
              <a:rPr lang="en-GB" sz="1200" b="0" i="0" kern="1200" dirty="0">
                <a:solidFill>
                  <a:schemeClr val="tx1"/>
                </a:solidFill>
                <a:effectLst/>
                <a:latin typeface="+mn-lt"/>
                <a:ea typeface="+mn-ea"/>
                <a:cs typeface="+mn-cs"/>
              </a:rPr>
              <a:t> pairs; at prediction you supply only the attributes and the model returns a price. The price is the target, never an input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Open model: grid, generators, storage, demand, solved least-cost every hour</a:t>
            </a:r>
          </a:p>
          <a:p>
            <a:r>
              <a:t>•  Wholesale price = hourly shadow price at each node, then capture value by the same formula</a:t>
            </a:r>
          </a:p>
          <a:p>
            <a:r>
              <a:t>•  14 countries, ~30 nodes, grid FROZEN at 2020 (today's grid under tomorrow's fleet, on purpose)</a:t>
            </a:r>
          </a:p>
          <a:p>
            <a:r>
              <a:t>•  Future built from official TYNDP 2030/2040 scenarios; the frozen grid is bracketed later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Inputs: grid nodes, full fleet, ERA5 weather, hourly demand, fuel and carbon prices</a:t>
            </a:r>
          </a:p>
          <a:p>
            <a:r>
              <a:t>•  Solves: minimise system cost over 8,760 hours; the supply=demand shadow price is the wholesale price</a:t>
            </a:r>
          </a:p>
          <a:p>
            <a:r>
              <a:t>•  Windy hour: wind is marginal, price falls toward zero; still hour: gas sets it</a:t>
            </a:r>
          </a:p>
          <a:p>
            <a:r>
              <a:t>•  Supervisor's question: same capture-value formula as the regression, but price from a grid the regression cannot see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sz="1200" b="0" i="0" kern="1200" dirty="0">
                <a:solidFill>
                  <a:schemeClr val="tx1"/>
                </a:solidFill>
                <a:effectLst/>
                <a:latin typeface="+mn-lt"/>
                <a:ea typeface="+mn-ea"/>
                <a:cs typeface="+mn-cs"/>
              </a:rPr>
              <a:t>Assumptions 2, 3 and 4 compound in small, hydro-coupled, well-interconnected zones. That is exactly why your DK2 capture value comes out at 0.93-0.97 versus an observed 0.78: perfect-foresight hydro floors the Nordic price, the copper-plate tie to Sweden prevents the local price from collapsing, and the LP cannot produce the negative-price tail. </a:t>
            </a:r>
            <a:endParaRPr lang="en-US" dirty="0"/>
          </a:p>
        </p:txBody>
      </p:sp>
    </p:spTree>
    <p:extLst>
      <p:ext uri="{BB962C8B-B14F-4D97-AF65-F5344CB8AC3E}">
        <p14:creationId xmlns:p14="http://schemas.microsoft.com/office/powerpoint/2010/main" val="1566369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Three independent estimates per zone: observed, PyPSA, regression (blind)</a:t>
            </a:r>
          </a:p>
          <a:p>
            <a:r>
              <a:t>•  Blind regression within 0.014 of observed (2023), 0.025 across 3 years, by a route independent of PyPSA</a:t>
            </a:r>
          </a:p>
          <a:p>
            <a:r>
              <a:t>•  PyPSA exact on open zones, carries its congestion bias on DK1 and DK2</a:t>
            </a:r>
          </a:p>
          <a:p>
            <a:r>
              <a:t>•  No predecessor confronted a statistical model, a physical model, and observation like this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buildout behind the result; the natural question is whether it is realistic</a:t>
            </a:r>
          </a:p>
          <a:p>
            <a:r>
              <a:t>•  North Sea offshore ~19 to 165 GW; Baltic Sea ~3 to 50 GW (of which the enclosed states 0 to ~25, a quarter of regional demand)</a:t>
            </a:r>
          </a:p>
          <a:p>
            <a:r>
              <a:t>•  Full mix: gas and oil persist (~80 and 9 GW) through 2040, nuclear and hydro stay, only DE/PL coal winds down</a:t>
            </a:r>
          </a:p>
          <a:p>
            <a:r>
              <a:t>•  The fossil backbone still sets the low-wind price, which is exactly what erodes capture value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Direct answer to RQ1, as a map; shading = capture value</a:t>
            </a:r>
          </a:p>
          <a:p>
            <a:r>
              <a:t>•  Today the map is all green: under-built Baltic 0.85 to 0.92, level with the North Sea 0.85 to 0.90</a:t>
            </a:r>
          </a:p>
          <a:p>
            <a:r>
              <a:t>•  So the Baltic does NOT start behind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First buildout has landed; North Sea and under-built Baltic still mostly green (high 0.7s to 0.8s)</a:t>
            </a:r>
          </a:p>
          <a:p>
            <a:r>
              <a:t>•  Baltic starting to fade as its own correlated wind begins to crowd its price</a:t>
            </a:r>
          </a:p>
          <a:p>
            <a:r>
              <a:t>•  Estonia grey: no offshore in the water yet at this horizon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Map splits: Baltic red-orange (PL 0.49, LV 0.42, EE 0.39); North Sea holds about 0.57</a:t>
            </a:r>
          </a:p>
          <a:p>
            <a:r>
              <a:t>•  Parity today (~0.89) to Baltic ~0.47 vs North Sea ~0.57; Baltic loses ~47%, North Sea ~35%</a:t>
            </a:r>
          </a:p>
          <a:p>
            <a:r>
              <a:t>•  The buildout, not the starting point, is what does it</a:t>
            </a:r>
          </a:p>
          <a:p>
            <a:r>
              <a:t>•  Why it falls faster, and whether the grid changes it, are the next sections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reframe: I removed the grid limit, let the model build the cost-optimal transmission and pay for it</a:t>
            </a:r>
          </a:p>
          <a:p>
            <a:r>
              <a:t>•  Frozen (solid): Baltic erodes faster, 0.47 vs North Sea 0.57</a:t>
            </a:r>
          </a:p>
          <a:p>
            <a:r>
              <a:t>•  Optimal (dashed) CROSSES: Baltic recovers to 0.66, above the North Sea 0.64 (PL 0.49 to 0.74)</a:t>
            </a:r>
          </a:p>
          <a:p>
            <a:r>
              <a:t>•  So the faster Baltic erosion is a frozen-grid effect; open the export valve and its advantage returns</a:t>
            </a:r>
          </a:p>
          <a:p>
            <a:r>
              <a:t>•  Policy headline: interconnection is the highest-leverage lever</a:t>
            </a:r>
          </a:p>
          <a:p>
            <a:r>
              <a:t>•  Honest detail: at 2030 (low penetration) optimal is marginally below frozen; it only helps once congestion binds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Answers his question directly: of the CV fall, how much is congestion (grid-fixable) vs structural enclosure</a:t>
            </a:r>
          </a:p>
          <a:p>
            <a:r>
              <a:t>•  Both basins start at parity ~0.89; frozen 2040: Baltic 0.47, North Sea 0.57</a:t>
            </a:r>
          </a:p>
          <a:p>
            <a:r>
              <a:t>•  North Sea fall = 80% structural, 20% congestion; Baltic = 54% structural, 46% congestion</a:t>
            </a:r>
          </a:p>
          <a:p>
            <a:r>
              <a:t>•  Baltic congestion penalty (0.19) is 3x the North Sea's (0.06); its STRUCTURAL fall is smaller (0.22 vs 0.25)</a:t>
            </a:r>
          </a:p>
          <a:p>
            <a:r>
              <a:t>•  So the enclosure is really congestion: build the grid and the Baltic ends ABOVE the North Sea (0.66 vs 0.64)</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Cross-sectional question: why does one farm earn less than another in the same month</a:t>
            </a:r>
          </a:p>
          <a:p>
            <a:r>
              <a:t>•  Strip the shared 2022 fuel-crisis time signal: carbon collapses from 29% to 4%</a:t>
            </a:r>
          </a:p>
          <a:p>
            <a:r>
              <a:t>•  Crowding (correlation with system wind) leads at 32%; buffering (interconnection, flexibility) close behind</a:t>
            </a:r>
          </a:p>
          <a:p>
            <a:r>
              <a:t>•  Basins differ: the same buildout cannibalises about twice as steeply in the enclosed Baltic (analytical penalty 0.74 vs 0.37)</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Geographic root of why the Baltic is steeper (built like Jacquet: cluster the farms, circle them on the map)</a:t>
            </a:r>
          </a:p>
          <a:p>
            <a:r>
              <a:t>•  Under-built Baltic correlate at 0.61 vs North Sea 0.44; built-out DK2/SE4 tightest at 0.87</a:t>
            </a:r>
          </a:p>
          <a:p>
            <a:r>
              <a:t>•  Those under-built zones are exactly the ones about to build out</a:t>
            </a:r>
          </a:p>
          <a:p>
            <a:r>
              <a:t>•  The two basins are decoupled (0.28), so the Baltic cannot lean on the North Sea to absorb its surplus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granular, farm-by-farm version of the previous slide, one correlation matrix per country that has more than one study farm, the idiom Jacquet uses. The point is that within-country synchronicity is really about geographic spread, not which basin you are in: a compact fleet like Belgium's three farms or Poland's two blows almost as one, near 0.95, while a spread fleet like Germany's six or Denmark's seven is looser, around 0.65. The most telling panel is Germany, which splits into two clear blocks, its North Sea farms in one and its Baltic farms in the other, the two barely correlated. So even inside a single country the basin boundary beats the national one: it is proximity and the sea you sit in, not the flag, that set how tightly wind blows together. That same proximity, concentrated in the small enclosed Baltic, is what aggregates up to the basin pattern on the previous slide.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39746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deepens the mechanism and ties it to the literature. The figure is the correlation between the North Sea and the Baltic, broken down by month, down the side, and hour of day, along the bottom. Red means the two basins blow together; blue means they are decoupled. Look at the seasonal banding. In winter, November to February, the band is red: the basins synchronise. In summer, especially June and July afternoons, it turns deep blue: they decouple, because summer wind is driven by local daytime sea breezes that differ between the basins. Why this matters: winter is when offshore output is highest. So in exactly the season the Baltic generates most, it blows together with the North Sea, which means its export valve to the rest of Europe shuts precisely when its surplus peaks. That deepens winter cannibalisation. This is the same winter signature Jacquet found in the French case, and here it is explained by basin synchronicity: the enclosure bites hardest in winter.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231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Can an empirical model project these futures? Provably no, and that is by design</a:t>
            </a:r>
          </a:p>
          <a:p>
            <a:r>
              <a:t>•  Every future scenario sits beyond the training range (carbon); the tree flat-lines out of support</a:t>
            </a:r>
          </a:p>
          <a:p>
            <a:r>
              <a:t>•  Time-split test (train through 2022, predict 2023 to 2024) fails: R2 about minus 0.03</a:t>
            </a:r>
          </a:p>
          <a:p>
            <a:r>
              <a:t>•  So the regression abstains and PyPSA carries it; the triangle proves the hand-off (a methodological contribution)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Every instrument on one chart (North Sea left, Baltic right), 2025 to 2040</a:t>
            </a:r>
          </a:p>
          <a:p>
            <a:r>
              <a:t>•  PyPSA frozen finds the collapse (NS 0.57, Baltic 0.47); the optimal grid recovers it (0.64, 0.66)</a:t>
            </a:r>
          </a:p>
          <a:p>
            <a:r>
              <a:t>•  Regression stays high: tree abstains (flat ~0.82), analytical projects gently (0.79, 0.72)</a:t>
            </a:r>
          </a:p>
          <a:p>
            <a:r>
              <a:t>•  The 2040 gap (~0.22 NS, 0.25 Baltic) IS the convex collapse the linear form misses, so PyPSA carries it</a:t>
            </a:r>
          </a:p>
          <a:p>
            <a:r>
              <a:t>•  Agree to 2030 (trust either); part at 2040 (only the market-clearing model is right)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Does it PAY? Net value/MW = resource (CF) x capture value x price, minus depth/distance cost (GWA + GEBCO)</a:t>
            </a:r>
          </a:p>
          <a:p>
            <a:r>
              <a:t>•  2025: ~48% of the shelf profitable (green); 2040: ~12% - the profitable area collapses</a:t>
            </a:r>
          </a:p>
          <a:p>
            <a:r>
              <a:t>•  WHY it shrinks: cannibalisation erodes capture value, so revenue drops below cost across more of the sea; cheaper turbines (~12%) cannot keep up with the value lost</a:t>
            </a:r>
          </a:p>
          <a:p>
            <a:r>
              <a:t>•  WHY the shallow North Sea stays green: it stacks all three - best wind (CF ~0.5), shallow water, near shore - so the most cost margin to absorb the erosion</a:t>
            </a:r>
          </a:p>
          <a:p>
            <a:r>
              <a:t>•  WHY the deep water (Norwegian trench) is always red: floating foundations add ~EUR 1m/MW, so even strong wind cannot break even there</a:t>
            </a:r>
          </a:p>
          <a:p>
            <a:r>
              <a:t>•  WHY it still beats the Baltic despite the capture-value reversal: net value is set by resource + cost, and the North Sea's ~20% CF edge outweighs the Baltic's higher capture value</a:t>
            </a:r>
          </a:p>
          <a:p>
            <a:r>
              <a:t>•  Takeaway: build EARLY (value highest before cannibalisation) and SHALLOW (cost margin); late and deep both lose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contribution: value-adjusted LCOE = LCOE / capture value = the price a site needs to break even</a:t>
            </a:r>
          </a:p>
          <a:p>
            <a:r>
              <a:t>•  Raw LCOE FALLS with technology (74 to 66 EUR/MWh); the value-adjusted LCOE RISES (87 to 121)</a:t>
            </a:r>
          </a:p>
          <a:p>
            <a:r>
              <a:t>•  Cannibalisation undoes the learning; the competitive area (under ~70) collapses from 35% to under 1%</a:t>
            </a:r>
          </a:p>
          <a:p>
            <a:r>
              <a:t>•  Robust: costs must fall 36% by 2040 (3x the DEA's 12%) just to hold it flat, in all 27 cases</a:t>
            </a:r>
          </a:p>
          <a:p>
            <a:r>
              <a:t>•  No one has mapped this spatially before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Value-adjusted LCOE = LCOE/CV, and interconnection raises CV, so it lowers the break-even price</a:t>
            </a:r>
          </a:p>
          <a:p>
            <a:r>
              <a:t>•  Enclosed Baltic falls EUR 33/MWh, four times the core North Sea's EUR 8 (Danish transit EUR 48)</a:t>
            </a:r>
          </a:p>
          <a:p>
            <a:r>
              <a:t>•  Worth about EUR 1.2 bn/yr to Baltic offshore alone, roughly 55% of the cost of ALL the new lines</a:t>
            </a:r>
          </a:p>
          <a:p>
            <a:r>
              <a:t>•  Not an open cost problem: the model builds a specific 133 GW at EUR 2.2 bn/yr and stops</a:t>
            </a:r>
          </a:p>
          <a:p>
            <a:r>
              <a:t>•  Recommendation: build the grid; it is a break-even cut aimed exactly at the basin with the problem</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Objective 4: does adding capture value change which sites to build?</a:t>
            </a:r>
          </a:p>
          <a:p>
            <a:r>
              <a:t>•  Rank candidate areas by cost (LCOE) vs value-adjusted (vLCOE): 2025 agree (0.99), 2040 diverge (0.90)</a:t>
            </a:r>
          </a:p>
          <a:p>
            <a:r>
              <a:t>•  Movers: cheap-but-cannibalised Estonia + Latvia DROP; value-resilient Danish North Sea RISES; German Bight stays #1</a:t>
            </a:r>
          </a:p>
          <a:p>
            <a:r>
              <a:t>•  So cost-only ranking is fine today but increasingly misleads toward 2040: the value dimension matters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169 candidate sites, two lenses: cheapest break-even (value for money) vs largest profit/MW (net value)</a:t>
            </a:r>
          </a:p>
          <a:p>
            <a:r>
              <a:t>•  Both reward the shallow windy value-resilient shelf; German Bight tops both</a:t>
            </a:r>
          </a:p>
          <a:p>
            <a:r>
              <a:t>•  Value-for-money tilts to the cheap shallow western Baltic (PL, DK2); absolute money tilts to the high-resource North Sea</a:t>
            </a:r>
          </a:p>
          <a:p>
            <a:r>
              <a:t>•  Recommendation: German Bight + shallow western Baltic first; cheap eastern Baltic (EE, LV) is a value trap by 2040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Objective 5: portfolio value of spreading across both basins vs concentrating in the North Sea</a:t>
            </a:r>
          </a:p>
          <a:p>
            <a:r>
              <a:t>•  Cannibalisation hedge YES: all-NS craters; spreading ~12% to the Baltic lifts aggregate 2040 CV about a third; planned split near-optimal</a:t>
            </a:r>
          </a:p>
          <a:p>
            <a:r>
              <a:t>•  Risk hedge NO: wind decorrelates (0.28) but capture value co-moves (0.80), so no volatility cut; NS is lower-risk AND higher-value</a:t>
            </a:r>
          </a:p>
          <a:p>
            <a:r>
              <a:t>•  Payoff is on the MEAN (less cannibalisation), not the variance; the low correlation lives in the wind, not the value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RQ1: parity today, Baltic about 0.47 by 2040 vs North Sea 0.57; with grid it recovers to 0.66 (above)</a:t>
            </a:r>
          </a:p>
          <a:p>
            <a:r>
              <a:t>•  RQ2: same mechanisms, steeper in the enclosed Baltic (correlated wind, weak export valve)</a:t>
            </a:r>
          </a:p>
          <a:p>
            <a:r>
              <a:t>•  RQ3: regression measures and explains; PyPSA carries the future; the triangle validates the hand-off</a:t>
            </a:r>
          </a:p>
          <a:p>
            <a:r>
              <a:t>•  Economics: value-adjusted LCOE rises despite cheaper turbines; interconnection lowers the Baltic's EUR 33/MWh (~EUR 1.2 bn/yr)</a:t>
            </a:r>
          </a:p>
          <a:p>
            <a:r>
              <a:t>•  Policy: interconnection is THE lever; subsidy and CfD design must price the structural fall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Baltic does not start behind, but on today's grid the buildout cannibalises it faster</a:t>
            </a:r>
          </a:p>
          <a:p>
            <a:r>
              <a:t>•  Build the grid and it reverses: the Baltic recovers above the North Sea; the erosion is a policy choice, not fate</a:t>
            </a:r>
          </a:p>
          <a:p>
            <a:r>
              <a:t>•  Novel metric: value-adjusted LCOE rises despite cheaper turbines; interconnection lowers the Baltic's most (EUR 33/MWh, ~EUR 1.2 bn/yr)</a:t>
            </a:r>
          </a:p>
          <a:p>
            <a:r>
              <a:t>•  Contribution: two validated instruments, a proven hand-off, a value-adjusted cost map, all on open data</a:t>
            </a:r>
          </a:p>
          <a:p>
            <a:r>
              <a:t>•  Thank you;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  This answers his CfD question directly: of the capture-value fall, how much can a CfD actually cover</a:t>
            </a:r>
          </a:p>
          <a:p>
            <a:r>
              <a:t>•  A CfD keys on the price level, not the cause: it tops up any positive price, and constrained-off volume is compensated (EU 2019/943 Art. 13), but at zero price the payment is SUSPENDED (GB AR4+, EU market reform) and no compliant scheme may cover it</a:t>
            </a:r>
          </a:p>
          <a:p>
            <a:r>
              <a:t>•  Capture value factorises exactly: CV = (share of energy still earning a positive price) x (how depressed that price is). Baltic frozen 0.47 = 0.82 x 0.58; North Sea frozen 0.57 = 0.53 x 1.07</a:t>
            </a:r>
          </a:p>
          <a:p>
            <a:r>
              <a:t>•  So on the frozen grid the Baltic's loss is 35% farm / 65% state, the North Sea's is ~109% farm (its paid-hour price sits ABOVE the annual mean, so nothing to top up)</a:t>
            </a:r>
          </a:p>
          <a:p>
            <a:r>
              <a:t>•  Under the optimal grid the depression factor snaps to ~0.99 in BOTH basins: the grid removes price depression entirely, and what is left is purely the uncompensable zero-price channel</a:t>
            </a:r>
          </a:p>
          <a:p>
            <a:r>
              <a:t>•  Policy: interconnection cuts the CfD bill but raises investor risk; ranking projects on capture value alone misranks them for a CfD-backed investor</a:t>
            </a:r>
          </a:p>
          <a:p>
            <a:r>
              <a:t>•  Caveat: the LP floors prices at zero, so the farm-borne slice is a conservative floor; Poland's frozen-grid depression is partly scarcity pricing (1.17: PL CV 0.49 full vs 0.74 ex-scarcity)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194560"/>
            <a:ext cx="10698480" cy="1646605"/>
          </a:xfrm>
          <a:prstGeom prst="rect">
            <a:avLst/>
          </a:prstGeom>
          <a:noFill/>
        </p:spPr>
        <p:txBody>
          <a:bodyPr wrap="square">
            <a:spAutoFit/>
          </a:bodyPr>
          <a:lstStyle/>
          <a:p>
            <a:r>
              <a:rPr sz="3400" b="1" dirty="0">
                <a:solidFill>
                  <a:srgbClr val="14293D"/>
                </a:solidFill>
                <a:latin typeface="Calibri"/>
              </a:rPr>
              <a:t>The Market Value of Offshore Wind:
The North Sea and the Baltic to 2040</a:t>
            </a:r>
          </a:p>
          <a:p>
            <a:pPr>
              <a:spcBef>
                <a:spcPts val="1800"/>
              </a:spcBef>
            </a:pPr>
            <a:r>
              <a:rPr sz="1800" dirty="0">
                <a:solidFill>
                  <a:srgbClr val="2E6E9E"/>
                </a:solidFill>
                <a:latin typeface="Calibri"/>
              </a:rPr>
              <a:t>Faisal </a:t>
            </a:r>
            <a:r>
              <a:rPr lang="en-GB" sz="1800" dirty="0">
                <a:solidFill>
                  <a:srgbClr val="2E6E9E"/>
                </a:solidFill>
                <a:latin typeface="Calibri"/>
              </a:rPr>
              <a:t>Bindakhil</a:t>
            </a:r>
            <a:r>
              <a:rPr sz="1800" dirty="0">
                <a:solidFill>
                  <a:srgbClr val="2E6E9E"/>
                </a:solidFill>
                <a:latin typeface="Calibri"/>
              </a:rPr>
              <a:t>   ·   MSc Thesis   ·   Supervisor presentation</a:t>
            </a:r>
          </a:p>
        </p:txBody>
      </p:sp>
      <p:sp>
        <p:nvSpPr>
          <p:cNvPr id="3" name="TextBox 2">
            <a:extLst>
              <a:ext uri="{FF2B5EF4-FFF2-40B4-BE49-F238E27FC236}">
                <a16:creationId xmlns:a16="http://schemas.microsoft.com/office/drawing/2014/main" id="{EAEA0BA3-AFD2-F346-B54A-ECC89819B3B4}"/>
              </a:ext>
            </a:extLst>
          </p:cNvPr>
          <p:cNvSpPr txBox="1"/>
          <p:nvPr/>
        </p:nvSpPr>
        <p:spPr>
          <a:xfrm>
            <a:off x="2035628" y="5279572"/>
            <a:ext cx="2020168" cy="369332"/>
          </a:xfrm>
          <a:prstGeom prst="rect">
            <a:avLst/>
          </a:prstGeom>
          <a:noFill/>
        </p:spPr>
        <p:txBody>
          <a:bodyPr wrap="none" rtlCol="0">
            <a:spAutoFit/>
          </a:bodyPr>
          <a:lstStyle/>
          <a:p>
            <a:r>
              <a:rPr lang="en-US" dirty="0"/>
              <a:t>Keep work focused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Research questions</a:t>
            </a:r>
          </a:p>
        </p:txBody>
      </p:sp>
      <p:sp>
        <p:nvSpPr>
          <p:cNvPr id="3" name="TextBox 2"/>
          <p:cNvSpPr txBox="1"/>
          <p:nvPr/>
        </p:nvSpPr>
        <p:spPr>
          <a:xfrm>
            <a:off x="777240" y="1508760"/>
            <a:ext cx="10607040" cy="3067506"/>
          </a:xfrm>
          <a:prstGeom prst="rect">
            <a:avLst/>
          </a:prstGeom>
          <a:noFill/>
        </p:spPr>
        <p:txBody>
          <a:bodyPr wrap="square">
            <a:spAutoFit/>
          </a:bodyPr>
          <a:lstStyle/>
          <a:p>
            <a:pPr>
              <a:spcAft>
                <a:spcPts val="1000"/>
              </a:spcAft>
            </a:pPr>
            <a:r>
              <a:rPr sz="2000" dirty="0">
                <a:solidFill>
                  <a:srgbClr val="222B33"/>
                </a:solidFill>
                <a:latin typeface="Calibri"/>
              </a:rPr>
              <a:t>•  RQ1. How does Baltic offshore value compare with the North Sea today, and how does it evolve under the buildout to 2030 and 2040?</a:t>
            </a:r>
          </a:p>
          <a:p>
            <a:pPr>
              <a:spcAft>
                <a:spcPts val="1000"/>
              </a:spcAft>
            </a:pPr>
            <a:r>
              <a:rPr sz="2000" dirty="0">
                <a:solidFill>
                  <a:srgbClr val="222B33"/>
                </a:solidFill>
                <a:latin typeface="Calibri"/>
              </a:rPr>
              <a:t>•  RQ2. Which market mechanisms set how fast value erodes, and do they differ between an enclosed and an open basin?</a:t>
            </a:r>
          </a:p>
          <a:p>
            <a:pPr>
              <a:spcAft>
                <a:spcPts val="1000"/>
              </a:spcAft>
            </a:pPr>
            <a:r>
              <a:rPr sz="2000" dirty="0">
                <a:solidFill>
                  <a:srgbClr val="222B33"/>
                </a:solidFill>
                <a:latin typeface="Calibri"/>
              </a:rPr>
              <a:t>•  RQ3. Can a model trained on history project these futures, or is a system model needed, and how should the two combine?</a:t>
            </a:r>
            <a:endParaRPr lang="en-GB" sz="2000" dirty="0">
              <a:solidFill>
                <a:srgbClr val="222B33"/>
              </a:solidFill>
              <a:latin typeface="Calibri"/>
            </a:endParaRPr>
          </a:p>
          <a:p>
            <a:pPr>
              <a:spcAft>
                <a:spcPts val="1000"/>
              </a:spcAft>
            </a:pPr>
            <a:endParaRPr lang="en-GB" sz="2000" dirty="0">
              <a:solidFill>
                <a:srgbClr val="222B33"/>
              </a:solidFill>
              <a:latin typeface="Calibri"/>
            </a:endParaRPr>
          </a:p>
          <a:p>
            <a:pPr>
              <a:spcAft>
                <a:spcPts val="1000"/>
              </a:spcAft>
            </a:pPr>
            <a:endParaRPr lang="en-GB" sz="2000" dirty="0">
              <a:solidFill>
                <a:srgbClr val="222B33"/>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The puzzle: theory expects the Baltic to be favourable</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A wind farm earns the price in the hours it generates, not the average</a:t>
            </a:r>
          </a:p>
          <a:p>
            <a:pPr>
              <a:spcAft>
                <a:spcPts val="1000"/>
              </a:spcAft>
            </a:pPr>
            <a:r>
              <a:rPr sz="2200">
                <a:solidFill>
                  <a:srgbClr val="222B33"/>
                </a:solidFill>
                <a:latin typeface="Calibri"/>
              </a:rPr>
              <a:t>•  When wind blows, all farms flood the market together and depress that price</a:t>
            </a:r>
          </a:p>
          <a:p>
            <a:pPr>
              <a:spcAft>
                <a:spcPts val="1000"/>
              </a:spcAft>
            </a:pPr>
            <a:r>
              <a:rPr sz="2200">
                <a:solidFill>
                  <a:srgbClr val="222B33"/>
                </a:solidFill>
                <a:latin typeface="Calibri"/>
              </a:rPr>
              <a:t>•  Capture value = the fraction of the average price a farm actually earns</a:t>
            </a:r>
          </a:p>
          <a:p>
            <a:pPr>
              <a:spcAft>
                <a:spcPts val="1000"/>
              </a:spcAft>
            </a:pPr>
            <a:r>
              <a:rPr sz="2200">
                <a:solidFill>
                  <a:srgbClr val="222B33"/>
                </a:solidFill>
                <a:latin typeface="Calibri"/>
              </a:rPr>
              <a:t>•  Theory (hydro premium, low buildout) says the Baltic should hold value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Capture value is the number that matters</a:t>
            </a:r>
          </a:p>
        </p:txBody>
      </p:sp>
      <p:sp>
        <p:nvSpPr>
          <p:cNvPr id="3" name="TextBox 2"/>
          <p:cNvSpPr txBox="1"/>
          <p:nvPr/>
        </p:nvSpPr>
        <p:spPr>
          <a:xfrm>
            <a:off x="594360" y="1097280"/>
            <a:ext cx="10972800" cy="713016"/>
          </a:xfrm>
          <a:prstGeom prst="rect">
            <a:avLst/>
          </a:prstGeom>
          <a:noFill/>
        </p:spPr>
        <p:txBody>
          <a:bodyPr wrap="square">
            <a:spAutoFit/>
          </a:bodyPr>
          <a:lstStyle/>
          <a:p>
            <a:pPr>
              <a:spcAft>
                <a:spcPts val="1000"/>
              </a:spcAft>
            </a:pPr>
            <a:r>
              <a:rPr sz="1600" dirty="0">
                <a:solidFill>
                  <a:srgbClr val="222B33"/>
                </a:solidFill>
                <a:latin typeface="Calibri"/>
              </a:rPr>
              <a:t>•  </a:t>
            </a:r>
            <a:r>
              <a:rPr lang="en-GB" sz="1600" dirty="0">
                <a:solidFill>
                  <a:srgbClr val="222B33"/>
                </a:solidFill>
                <a:latin typeface="Calibri"/>
              </a:rPr>
              <a:t>Lets decompose, </a:t>
            </a:r>
            <a:r>
              <a:rPr sz="1600" dirty="0">
                <a:solidFill>
                  <a:srgbClr val="222B33"/>
                </a:solidFill>
                <a:latin typeface="Calibri"/>
              </a:rPr>
              <a:t>Revenue per MW = capacity factor × price level × capture value</a:t>
            </a:r>
          </a:p>
          <a:p>
            <a:pPr>
              <a:spcAft>
                <a:spcPts val="1000"/>
              </a:spcAft>
            </a:pPr>
            <a:r>
              <a:rPr sz="1600" dirty="0">
                <a:solidFill>
                  <a:srgbClr val="222B33"/>
                </a:solidFill>
                <a:latin typeface="Calibri"/>
              </a:rPr>
              <a:t>•  Capacity factor flat over time; price level shared; only capture value diverges</a:t>
            </a:r>
          </a:p>
        </p:txBody>
      </p:sp>
      <p:pic>
        <p:nvPicPr>
          <p:cNvPr id="4" name="Picture 3" descr="fig_revenue_decomp.png"/>
          <p:cNvPicPr>
            <a:picLocks noChangeAspect="1"/>
          </p:cNvPicPr>
          <p:nvPr/>
        </p:nvPicPr>
        <p:blipFill>
          <a:blip r:embed="rId3"/>
          <a:stretch>
            <a:fillRect/>
          </a:stretch>
        </p:blipFill>
        <p:spPr>
          <a:xfrm>
            <a:off x="1798167" y="2286000"/>
            <a:ext cx="8595360" cy="277696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F08F15-F610-7747-9BEE-29F8F9F9C273}"/>
                  </a:ext>
                </a:extLst>
              </p:cNvPr>
              <p:cNvSpPr txBox="1"/>
              <p:nvPr/>
            </p:nvSpPr>
            <p:spPr>
              <a:xfrm>
                <a:off x="6007510" y="5585886"/>
                <a:ext cx="1960473" cy="6764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𝑐𝑎𝑝𝑡𝑢𝑟𝑒</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𝑡</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𝑔</m:t>
                                  </m:r>
                                </m:e>
                                <m:sub>
                                  <m:r>
                                    <a:rPr lang="en-GB" b="0" i="1" smtClean="0">
                                      <a:latin typeface="Cambria Math" panose="02040503050406030204" pitchFamily="18" charset="0"/>
                                    </a:rPr>
                                    <m:t>𝑡</m:t>
                                  </m:r>
                                </m:sub>
                              </m:sSub>
                            </m:e>
                          </m:nary>
                        </m:num>
                        <m:den>
                          <m:nary>
                            <m:naryPr>
                              <m:chr m:val="∑"/>
                              <m:subHide m:val="on"/>
                              <m:supHide m:val="on"/>
                              <m:ctrlPr>
                                <a:rPr lang="en-GB" i="1">
                                  <a:latin typeface="Cambria Math" panose="02040503050406030204" pitchFamily="18" charset="0"/>
                                </a:rPr>
                              </m:ctrlPr>
                            </m:naryP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𝑔</m:t>
                                  </m:r>
                                </m:e>
                                <m:sub>
                                  <m:r>
                                    <a:rPr lang="en-GB" b="0" i="1" smtClean="0">
                                      <a:latin typeface="Cambria Math" panose="02040503050406030204" pitchFamily="18" charset="0"/>
                                    </a:rPr>
                                    <m:t>𝑡</m:t>
                                  </m:r>
                                </m:sub>
                              </m:sSub>
                            </m:e>
                          </m:nary>
                        </m:den>
                      </m:f>
                    </m:oMath>
                  </m:oMathPara>
                </a14:m>
                <a:endParaRPr lang="en-US" dirty="0"/>
              </a:p>
            </p:txBody>
          </p:sp>
        </mc:Choice>
        <mc:Fallback xmlns="">
          <p:sp>
            <p:nvSpPr>
              <p:cNvPr id="5" name="TextBox 4">
                <a:extLst>
                  <a:ext uri="{FF2B5EF4-FFF2-40B4-BE49-F238E27FC236}">
                    <a16:creationId xmlns:a16="http://schemas.microsoft.com/office/drawing/2014/main" id="{0FF08F15-F610-7747-9BEE-29F8F9F9C273}"/>
                  </a:ext>
                </a:extLst>
              </p:cNvPr>
              <p:cNvSpPr txBox="1">
                <a:spLocks noRot="1" noChangeAspect="1" noMove="1" noResize="1" noEditPoints="1" noAdjustHandles="1" noChangeArrowheads="1" noChangeShapeType="1" noTextEdit="1"/>
              </p:cNvSpPr>
              <p:nvPr/>
            </p:nvSpPr>
            <p:spPr>
              <a:xfrm>
                <a:off x="6007510" y="5585886"/>
                <a:ext cx="1960473" cy="676404"/>
              </a:xfrm>
              <a:prstGeom prst="rect">
                <a:avLst/>
              </a:prstGeom>
              <a:blipFill>
                <a:blip r:embed="rId4"/>
                <a:stretch>
                  <a:fillRect t="-64151" b="-96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61E430-2863-6F47-8B96-F9178CE56355}"/>
                  </a:ext>
                </a:extLst>
              </p:cNvPr>
              <p:cNvSpPr txBox="1"/>
              <p:nvPr/>
            </p:nvSpPr>
            <p:spPr>
              <a:xfrm>
                <a:off x="1798167" y="5739422"/>
                <a:ext cx="2458237" cy="564514"/>
              </a:xfrm>
              <a:prstGeom prst="rect">
                <a:avLst/>
              </a:prstGeom>
              <a:noFill/>
            </p:spPr>
            <p:txBody>
              <a:bodyPr wrap="none" rtlCol="0">
                <a:spAutoFit/>
              </a:bodyPr>
              <a:lstStyle/>
              <a:p>
                <a:r>
                  <a:rPr lang="en-US" dirty="0"/>
                  <a:t>Capture Value = </a:t>
                </a:r>
                <a14:m>
                  <m:oMath xmlns:m="http://schemas.openxmlformats.org/officeDocument/2006/math">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𝑐𝑎𝑝𝑡𝑢𝑟𝑒</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𝑎𝑣𝑒𝑟𝑎𝑔𝑒</m:t>
                            </m:r>
                          </m:sub>
                        </m:sSub>
                      </m:den>
                    </m:f>
                  </m:oMath>
                </a14:m>
                <a:r>
                  <a:rPr lang="en-US" dirty="0"/>
                  <a:t> </a:t>
                </a:r>
              </a:p>
            </p:txBody>
          </p:sp>
        </mc:Choice>
        <mc:Fallback xmlns="">
          <p:sp>
            <p:nvSpPr>
              <p:cNvPr id="6" name="TextBox 5">
                <a:extLst>
                  <a:ext uri="{FF2B5EF4-FFF2-40B4-BE49-F238E27FC236}">
                    <a16:creationId xmlns:a16="http://schemas.microsoft.com/office/drawing/2014/main" id="{2A61E430-2863-6F47-8B96-F9178CE56355}"/>
                  </a:ext>
                </a:extLst>
              </p:cNvPr>
              <p:cNvSpPr txBox="1">
                <a:spLocks noRot="1" noChangeAspect="1" noMove="1" noResize="1" noEditPoints="1" noAdjustHandles="1" noChangeArrowheads="1" noChangeShapeType="1" noTextEdit="1"/>
              </p:cNvSpPr>
              <p:nvPr/>
            </p:nvSpPr>
            <p:spPr>
              <a:xfrm>
                <a:off x="1798167" y="5739422"/>
                <a:ext cx="2458237" cy="564514"/>
              </a:xfrm>
              <a:prstGeom prst="rect">
                <a:avLst/>
              </a:prstGeom>
              <a:blipFill>
                <a:blip r:embed="rId5"/>
                <a:stretch>
                  <a:fillRect l="-2062" b="-2273"/>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Scope: three groups of bidding zones</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Unit = the bidding zone (the area where one price is set)</a:t>
            </a:r>
          </a:p>
          <a:p>
            <a:pPr>
              <a:spcAft>
                <a:spcPts val="1000"/>
              </a:spcAft>
            </a:pPr>
            <a:r>
              <a:rPr sz="2200">
                <a:solidFill>
                  <a:srgbClr val="222B33"/>
                </a:solidFill>
                <a:latin typeface="Calibri"/>
              </a:rPr>
              <a:t>•  North Sea (open): DE, NL, BE, Danish DK1, FR</a:t>
            </a:r>
          </a:p>
          <a:p>
            <a:pPr>
              <a:spcAft>
                <a:spcPts val="1000"/>
              </a:spcAft>
            </a:pPr>
            <a:r>
              <a:rPr sz="2200">
                <a:solidFill>
                  <a:srgbClr val="222B33"/>
                </a:solidFill>
                <a:latin typeface="Calibri"/>
              </a:rPr>
              <a:t>•  Baltic under-built: Poland, Estonia, Latvia, Lithuania</a:t>
            </a:r>
          </a:p>
          <a:p>
            <a:pPr>
              <a:spcAft>
                <a:spcPts val="1000"/>
              </a:spcAft>
            </a:pPr>
            <a:r>
              <a:rPr sz="2200">
                <a:solidFill>
                  <a:srgbClr val="222B33"/>
                </a:solidFill>
                <a:latin typeface="Calibri"/>
              </a:rPr>
              <a:t>•  Baltic built-out (the preview): Danish DK2, Swedish SE4</a:t>
            </a:r>
          </a:p>
          <a:p>
            <a:pPr>
              <a:spcAft>
                <a:spcPts val="1000"/>
              </a:spcAft>
            </a:pPr>
            <a:r>
              <a:rPr sz="2200">
                <a:solidFill>
                  <a:srgbClr val="222B33"/>
                </a:solidFill>
                <a:latin typeface="Calibri"/>
              </a:rPr>
              <a:t>•  Excluded: Finland (nuclear collapse), GB (Brexit), Norway (hydro)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The design: two instruments, one validation</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Regression: measures the past, where data is dense</a:t>
            </a:r>
          </a:p>
          <a:p>
            <a:pPr>
              <a:spcAft>
                <a:spcPts val="1000"/>
              </a:spcAft>
            </a:pPr>
            <a:r>
              <a:rPr sz="2200">
                <a:solidFill>
                  <a:srgbClr val="222B33"/>
                </a:solidFill>
                <a:latin typeface="Calibri"/>
              </a:rPr>
              <a:t>•  PyPSA system model: projects the future, where there is no data</a:t>
            </a:r>
          </a:p>
          <a:p>
            <a:pPr>
              <a:spcAft>
                <a:spcPts val="1000"/>
              </a:spcAft>
            </a:pPr>
            <a:r>
              <a:rPr sz="2200">
                <a:solidFill>
                  <a:srgbClr val="222B33"/>
                </a:solidFill>
                <a:latin typeface="Calibri"/>
              </a:rPr>
              <a:t>•  The validation triangle: checks both agree where reality can be observed</a:t>
            </a:r>
          </a:p>
          <a:p>
            <a:pPr>
              <a:spcAft>
                <a:spcPts val="1000"/>
              </a:spcAft>
            </a:pPr>
            <a:r>
              <a:rPr sz="2200">
                <a:solidFill>
                  <a:srgbClr val="222B33"/>
                </a:solidFill>
                <a:latin typeface="Calibri"/>
              </a:rPr>
              <a:t>•  A deliberate division of labour (this is RQ3)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The data: a virtual wind farm from weather</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ERA5 wind → hub height → power curve → hourly output, for every zone</a:t>
            </a:r>
          </a:p>
          <a:p>
            <a:pPr>
              <a:spcAft>
                <a:spcPts val="1000"/>
              </a:spcAft>
            </a:pPr>
            <a:r>
              <a:rPr sz="1600">
                <a:solidFill>
                  <a:srgbClr val="222B33"/>
                </a:solidFill>
                <a:latin typeface="Calibri"/>
              </a:rPr>
              <a:t>•  Validated against metered generation: r = 0.88 hourly, 0.95 monthly</a:t>
            </a:r>
          </a:p>
        </p:txBody>
      </p:sp>
      <p:pic>
        <p:nvPicPr>
          <p:cNvPr id="4" name="Picture 3" descr="fig_vwf_vs_observed.png"/>
          <p:cNvPicPr>
            <a:picLocks noChangeAspect="1"/>
          </p:cNvPicPr>
          <p:nvPr/>
        </p:nvPicPr>
        <p:blipFill>
          <a:blip r:embed="rId3"/>
          <a:stretch>
            <a:fillRect/>
          </a:stretch>
        </p:blipFill>
        <p:spPr>
          <a:xfrm>
            <a:off x="1798167" y="2286000"/>
            <a:ext cx="8595360" cy="23711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Instrument 1: the regression, trained and tested blind</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Input: the 7 market features for one farm-month  →  output: that farm-month's capture value</a:t>
            </a:r>
          </a:p>
          <a:p>
            <a:pPr>
              <a:spcAft>
                <a:spcPts val="1000"/>
              </a:spcAft>
            </a:pPr>
            <a:r>
              <a:rPr sz="1600">
                <a:solidFill>
                  <a:srgbClr val="222B33"/>
                </a:solidFill>
                <a:latin typeface="Calibri"/>
              </a:rPr>
              <a:t>•  Scored leave-farm-out: every prediction is for a farm the model never trained on (R² 0.69; every enclosed Baltic zone predicted blind)</a:t>
            </a:r>
          </a:p>
        </p:txBody>
      </p:sp>
      <p:pic>
        <p:nvPicPr>
          <p:cNvPr id="4" name="Picture 3" descr="fig_F_leverC_before_after.png"/>
          <p:cNvPicPr>
            <a:picLocks noChangeAspect="1"/>
          </p:cNvPicPr>
          <p:nvPr/>
        </p:nvPicPr>
        <p:blipFill>
          <a:blip r:embed="rId3"/>
          <a:stretch>
            <a:fillRect/>
          </a:stretch>
        </p:blipFill>
        <p:spPr>
          <a:xfrm>
            <a:off x="2749974" y="2286000"/>
            <a:ext cx="6691745" cy="4206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Inside the regression: inputs, the model, and how it projects</a:t>
            </a:r>
          </a:p>
        </p:txBody>
      </p:sp>
      <p:pic>
        <p:nvPicPr>
          <p:cNvPr id="3" name="Picture 2" descr="fig_regression_pipeline.png"/>
          <p:cNvPicPr>
            <a:picLocks noChangeAspect="1"/>
          </p:cNvPicPr>
          <p:nvPr/>
        </p:nvPicPr>
        <p:blipFill>
          <a:blip r:embed="rId3"/>
          <a:stretch>
            <a:fillRect/>
          </a:stretch>
        </p:blipFill>
        <p:spPr>
          <a:xfrm>
            <a:off x="1630173" y="1280160"/>
            <a:ext cx="8931348" cy="5120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Instrument 2: PyPSA, the power-system model</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Open model: grid, generators, storage, demand, solved hourly</a:t>
            </a:r>
          </a:p>
          <a:p>
            <a:pPr>
              <a:spcAft>
                <a:spcPts val="1000"/>
              </a:spcAft>
            </a:pPr>
            <a:r>
              <a:rPr sz="2200">
                <a:solidFill>
                  <a:srgbClr val="222B33"/>
                </a:solidFill>
                <a:latin typeface="Calibri"/>
              </a:rPr>
              <a:t>•  14 countries, ~30 nodes, frozen 2020 grid, year-correct fleets</a:t>
            </a:r>
          </a:p>
          <a:p>
            <a:pPr>
              <a:spcAft>
                <a:spcPts val="1000"/>
              </a:spcAft>
            </a:pPr>
            <a:r>
              <a:rPr sz="2200">
                <a:solidFill>
                  <a:srgbClr val="222B33"/>
                </a:solidFill>
                <a:latin typeface="Calibri"/>
              </a:rPr>
              <a:t>•  Wholesale price = the hourly shadow price at each node</a:t>
            </a:r>
          </a:p>
          <a:p>
            <a:pPr>
              <a:spcAft>
                <a:spcPts val="1000"/>
              </a:spcAft>
            </a:pPr>
            <a:r>
              <a:rPr sz="2200">
                <a:solidFill>
                  <a:srgbClr val="222B33"/>
                </a:solidFill>
                <a:latin typeface="Calibri"/>
              </a:rPr>
              <a:t>•  Future built from official TYNDP 2030/2040 scenarios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Inside PyPSA: inputs, the dispatch it solves, and the outputs</a:t>
            </a:r>
          </a:p>
        </p:txBody>
      </p:sp>
      <p:pic>
        <p:nvPicPr>
          <p:cNvPr id="3" name="Picture 2" descr="fig_pypsa_pipeline.png"/>
          <p:cNvPicPr>
            <a:picLocks noChangeAspect="1"/>
          </p:cNvPicPr>
          <p:nvPr/>
        </p:nvPicPr>
        <p:blipFill>
          <a:blip r:embed="rId3"/>
          <a:stretch>
            <a:fillRect/>
          </a:stretch>
        </p:blipFill>
        <p:spPr>
          <a:xfrm>
            <a:off x="1630173" y="1280160"/>
            <a:ext cx="8931348" cy="5120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4A5202-A88F-CC4C-A1FF-433BFB96349F}"/>
              </a:ext>
            </a:extLst>
          </p:cNvPr>
          <p:cNvSpPr txBox="1"/>
          <p:nvPr/>
        </p:nvSpPr>
        <p:spPr>
          <a:xfrm>
            <a:off x="298750" y="1126274"/>
            <a:ext cx="10418869" cy="5355312"/>
          </a:xfrm>
          <a:prstGeom prst="rect">
            <a:avLst/>
          </a:prstGeom>
          <a:noFill/>
        </p:spPr>
        <p:txBody>
          <a:bodyPr wrap="square" rtlCol="0">
            <a:spAutoFit/>
          </a:bodyPr>
          <a:lstStyle/>
          <a:p>
            <a:pPr marL="800100" lvl="1" indent="-342900">
              <a:buFont typeface="+mj-lt"/>
              <a:buAutoNum type="arabicPeriod"/>
            </a:pPr>
            <a:r>
              <a:rPr lang="en-GB" dirty="0"/>
              <a:t>Perfect competition / marginal-cost pricing. Price = marginal unit's cost, no market power, no scarcity bidding. Real prices carry mark-ups and scarcity rents the model omits, so modelled prices are smoother.</a:t>
            </a:r>
          </a:p>
          <a:p>
            <a:pPr marL="800100" lvl="1" indent="-342900">
              <a:buFont typeface="+mj-lt"/>
              <a:buAutoNum type="arabicPeriod"/>
            </a:pPr>
            <a:r>
              <a:rPr lang="en-GB" dirty="0"/>
              <a:t>Linear program, NO unit commitment (</a:t>
            </a:r>
            <a:r>
              <a:rPr lang="en-GB" dirty="0" err="1"/>
              <a:t>extendable_carriers</a:t>
            </a:r>
            <a:r>
              <a:rPr lang="en-GB" dirty="0"/>
              <a:t> empty; no integer variables). No start-up costs, no minimum load, no minimum up/down times, no ramp limits. Consequence: essentially no negative prices. Real negative prices come from must-run inflexible plants and subsidies bidding below zero; an LP floors at ~0. This </a:t>
            </a:r>
            <a:r>
              <a:rPr lang="en-GB" i="1" dirty="0"/>
              <a:t>understates</a:t>
            </a:r>
            <a:r>
              <a:rPr lang="en-GB" dirty="0"/>
              <a:t> the cannibalisation tail.</a:t>
            </a:r>
          </a:p>
          <a:p>
            <a:pPr marL="800100" lvl="1" indent="-342900">
              <a:buFont typeface="+mj-lt"/>
              <a:buAutoNum type="arabicPeriod"/>
            </a:pPr>
            <a:r>
              <a:rPr lang="en-GB" dirty="0"/>
              <a:t>Perfect foresight. The solver sees the entire year's weather and demand at once, so storage, especially Norwegian hydro, is dispatched perfectly (config </a:t>
            </a:r>
            <a:r>
              <a:rPr lang="en-GB" dirty="0" err="1"/>
              <a:t>flatten_dispatch</a:t>
            </a:r>
            <a:r>
              <a:rPr lang="en-GB" dirty="0"/>
              <a:t>: false, </a:t>
            </a:r>
            <a:r>
              <a:rPr lang="en-GB" dirty="0" err="1"/>
              <a:t>hydro_max_hours</a:t>
            </a:r>
            <a:r>
              <a:rPr lang="en-GB" dirty="0"/>
              <a:t> from national reservoir totals = ~151 </a:t>
            </a:r>
            <a:r>
              <a:rPr lang="en-GB" dirty="0" err="1"/>
              <a:t>TWh</a:t>
            </a:r>
            <a:r>
              <a:rPr lang="en-GB" dirty="0"/>
              <a:t>). This over-smooths Nordic prices and is the specific reason your DK2 capture value is too high. Real operators have imperfect, rolling foresight.</a:t>
            </a:r>
          </a:p>
          <a:p>
            <a:pPr marL="800100" lvl="1" indent="-342900">
              <a:buFont typeface="+mj-lt"/>
              <a:buAutoNum type="arabicPeriod"/>
            </a:pPr>
            <a:r>
              <a:rPr lang="en-GB" dirty="0"/>
              <a:t>30-cluster spatial aggregation, copper-plate within a cluster (config clusters: [30]). Each cluster is one node with no internal congestion; cross-border lines are finite but use thermal ratings, which exceed real market NTCs. Small, well-connected zones (DK2) get their price pinned to large neighbours, hiding local cannibalisation.</a:t>
            </a:r>
          </a:p>
          <a:p>
            <a:pPr marL="800100" lvl="1" indent="-342900">
              <a:buFont typeface="+mj-lt"/>
              <a:buAutoNum type="arabicPeriod"/>
            </a:pPr>
            <a:r>
              <a:rPr lang="en-GB" dirty="0"/>
              <a:t>Inelastic demand. Load is a fixed ENTSO-E time series; there is no demand response. Scarcity is absorbed only by load-shedding at VOLL = 100,000 </a:t>
            </a:r>
          </a:p>
          <a:p>
            <a:endParaRPr lang="en-US" dirty="0"/>
          </a:p>
        </p:txBody>
      </p:sp>
      <p:sp>
        <p:nvSpPr>
          <p:cNvPr id="3" name="TextBox 2">
            <a:extLst>
              <a:ext uri="{FF2B5EF4-FFF2-40B4-BE49-F238E27FC236}">
                <a16:creationId xmlns:a16="http://schemas.microsoft.com/office/drawing/2014/main" id="{B2E1FCF0-92DC-0E45-A545-7FB8706487C2}"/>
              </a:ext>
            </a:extLst>
          </p:cNvPr>
          <p:cNvSpPr txBox="1"/>
          <p:nvPr/>
        </p:nvSpPr>
        <p:spPr>
          <a:xfrm>
            <a:off x="606056" y="425302"/>
            <a:ext cx="2112053" cy="369332"/>
          </a:xfrm>
          <a:prstGeom prst="rect">
            <a:avLst/>
          </a:prstGeom>
          <a:noFill/>
        </p:spPr>
        <p:txBody>
          <a:bodyPr wrap="none" rtlCol="0">
            <a:spAutoFit/>
          </a:bodyPr>
          <a:lstStyle/>
          <a:p>
            <a:r>
              <a:rPr lang="en-US" dirty="0"/>
              <a:t>Model Assumptions:</a:t>
            </a:r>
          </a:p>
        </p:txBody>
      </p:sp>
    </p:spTree>
    <p:extLst>
      <p:ext uri="{BB962C8B-B14F-4D97-AF65-F5344CB8AC3E}">
        <p14:creationId xmlns:p14="http://schemas.microsoft.com/office/powerpoint/2010/main" val="4237712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dirty="0">
                <a:solidFill>
                  <a:srgbClr val="14293D"/>
                </a:solidFill>
                <a:latin typeface="Calibri"/>
              </a:rPr>
              <a:t>The validation triangle</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dirty="0">
                <a:solidFill>
                  <a:srgbClr val="222B33"/>
                </a:solidFill>
                <a:latin typeface="Calibri"/>
              </a:rPr>
              <a:t>•  Three independent estimates: observed, </a:t>
            </a:r>
            <a:r>
              <a:rPr sz="1600" dirty="0" err="1">
                <a:solidFill>
                  <a:srgbClr val="222B33"/>
                </a:solidFill>
                <a:latin typeface="Calibri"/>
              </a:rPr>
              <a:t>PyPSA</a:t>
            </a:r>
            <a:r>
              <a:rPr sz="1600" dirty="0">
                <a:solidFill>
                  <a:srgbClr val="222B33"/>
                </a:solidFill>
                <a:latin typeface="Calibri"/>
              </a:rPr>
              <a:t>, regression (blind)</a:t>
            </a:r>
          </a:p>
          <a:p>
            <a:pPr>
              <a:spcAft>
                <a:spcPts val="1000"/>
              </a:spcAft>
            </a:pPr>
            <a:r>
              <a:rPr sz="1600" dirty="0">
                <a:solidFill>
                  <a:srgbClr val="222B33"/>
                </a:solidFill>
                <a:latin typeface="Calibri"/>
              </a:rPr>
              <a:t>•  The blind regression lands within 0.014 of observed; </a:t>
            </a:r>
            <a:r>
              <a:rPr sz="1600" dirty="0" err="1">
                <a:solidFill>
                  <a:srgbClr val="222B33"/>
                </a:solidFill>
                <a:latin typeface="Calibri"/>
              </a:rPr>
              <a:t>PyPSA's</a:t>
            </a:r>
            <a:r>
              <a:rPr sz="1600" dirty="0">
                <a:solidFill>
                  <a:srgbClr val="222B33"/>
                </a:solidFill>
                <a:latin typeface="Calibri"/>
              </a:rPr>
              <a:t> congestion bias shows in DK1 and DK2</a:t>
            </a:r>
          </a:p>
        </p:txBody>
      </p:sp>
      <p:pic>
        <p:nvPicPr>
          <p:cNvPr id="4" name="Picture 3" descr="fig_validation_triangle_2023.png"/>
          <p:cNvPicPr>
            <a:picLocks noChangeAspect="1"/>
          </p:cNvPicPr>
          <p:nvPr/>
        </p:nvPicPr>
        <p:blipFill>
          <a:blip r:embed="rId3"/>
          <a:stretch>
            <a:fillRect/>
          </a:stretch>
        </p:blipFill>
        <p:spPr>
          <a:xfrm>
            <a:off x="2415387" y="2286000"/>
            <a:ext cx="7360919" cy="4206240"/>
          </a:xfrm>
          <a:prstGeom prst="rect">
            <a:avLst/>
          </a:prstGeom>
        </p:spPr>
      </p:pic>
      <p:sp>
        <p:nvSpPr>
          <p:cNvPr id="5" name="TextBox 4">
            <a:extLst>
              <a:ext uri="{FF2B5EF4-FFF2-40B4-BE49-F238E27FC236}">
                <a16:creationId xmlns:a16="http://schemas.microsoft.com/office/drawing/2014/main" id="{2F193E48-6ACE-AA4E-8791-A01834DCA61E}"/>
              </a:ext>
            </a:extLst>
          </p:cNvPr>
          <p:cNvSpPr txBox="1"/>
          <p:nvPr/>
        </p:nvSpPr>
        <p:spPr>
          <a:xfrm>
            <a:off x="658624" y="2990088"/>
            <a:ext cx="1654808" cy="2031325"/>
          </a:xfrm>
          <a:prstGeom prst="rect">
            <a:avLst/>
          </a:prstGeom>
          <a:noFill/>
        </p:spPr>
        <p:txBody>
          <a:bodyPr wrap="square" rtlCol="0">
            <a:spAutoFit/>
          </a:bodyPr>
          <a:lstStyle/>
          <a:p>
            <a:r>
              <a:rPr lang="en-US" dirty="0"/>
              <a:t>Test model more</a:t>
            </a:r>
          </a:p>
          <a:p>
            <a:r>
              <a:rPr lang="en-US" dirty="0"/>
              <a:t>Find out how model Is performing</a:t>
            </a:r>
          </a:p>
          <a:p>
            <a:r>
              <a:rPr lang="en-US" dirty="0"/>
              <a:t>Not a data dump</a:t>
            </a:r>
          </a:p>
        </p:txBody>
      </p:sp>
      <p:sp>
        <p:nvSpPr>
          <p:cNvPr id="6" name="TextBox 5">
            <a:extLst>
              <a:ext uri="{FF2B5EF4-FFF2-40B4-BE49-F238E27FC236}">
                <a16:creationId xmlns:a16="http://schemas.microsoft.com/office/drawing/2014/main" id="{E9688591-E236-CC43-AA56-A1D29F23F3E0}"/>
              </a:ext>
            </a:extLst>
          </p:cNvPr>
          <p:cNvSpPr txBox="1"/>
          <p:nvPr/>
        </p:nvSpPr>
        <p:spPr>
          <a:xfrm>
            <a:off x="502921" y="5437554"/>
            <a:ext cx="1654808" cy="1200329"/>
          </a:xfrm>
          <a:prstGeom prst="rect">
            <a:avLst/>
          </a:prstGeom>
          <a:noFill/>
        </p:spPr>
        <p:txBody>
          <a:bodyPr wrap="square" rtlCol="0">
            <a:spAutoFit/>
          </a:bodyPr>
          <a:lstStyle/>
          <a:p>
            <a:r>
              <a:rPr lang="en-US" dirty="0"/>
              <a:t>Go heavy on method</a:t>
            </a:r>
          </a:p>
          <a:p>
            <a:r>
              <a:rPr lang="en-US" dirty="0"/>
              <a:t>How to test to disruption</a:t>
            </a:r>
          </a:p>
        </p:txBody>
      </p:sp>
      <p:sp>
        <p:nvSpPr>
          <p:cNvPr id="7" name="TextBox 6">
            <a:extLst>
              <a:ext uri="{FF2B5EF4-FFF2-40B4-BE49-F238E27FC236}">
                <a16:creationId xmlns:a16="http://schemas.microsoft.com/office/drawing/2014/main" id="{B5BC947F-149E-944A-96DF-2194DDCA7E8B}"/>
              </a:ext>
            </a:extLst>
          </p:cNvPr>
          <p:cNvSpPr txBox="1"/>
          <p:nvPr/>
        </p:nvSpPr>
        <p:spPr>
          <a:xfrm>
            <a:off x="10396728" y="2286000"/>
            <a:ext cx="1015086" cy="369332"/>
          </a:xfrm>
          <a:prstGeom prst="rect">
            <a:avLst/>
          </a:prstGeom>
          <a:noFill/>
        </p:spPr>
        <p:txBody>
          <a:bodyPr wrap="none" rtlCol="0">
            <a:spAutoFit/>
          </a:bodyPr>
          <a:lstStyle/>
          <a:p>
            <a:r>
              <a:rPr lang="en-US" dirty="0"/>
              <a:t>balmoral</a:t>
            </a:r>
          </a:p>
        </p:txBody>
      </p:sp>
      <p:sp>
        <p:nvSpPr>
          <p:cNvPr id="8" name="TextBox 7">
            <a:extLst>
              <a:ext uri="{FF2B5EF4-FFF2-40B4-BE49-F238E27FC236}">
                <a16:creationId xmlns:a16="http://schemas.microsoft.com/office/drawing/2014/main" id="{4186244F-DB69-7243-890A-09795433228E}"/>
              </a:ext>
            </a:extLst>
          </p:cNvPr>
          <p:cNvSpPr txBox="1"/>
          <p:nvPr/>
        </p:nvSpPr>
        <p:spPr>
          <a:xfrm>
            <a:off x="9776306" y="3636418"/>
            <a:ext cx="2336345" cy="369332"/>
          </a:xfrm>
          <a:prstGeom prst="rect">
            <a:avLst/>
          </a:prstGeom>
          <a:noFill/>
        </p:spPr>
        <p:txBody>
          <a:bodyPr wrap="none" rtlCol="0">
            <a:spAutoFit/>
          </a:bodyPr>
          <a:lstStyle/>
          <a:p>
            <a:r>
              <a:rPr lang="en-US" dirty="0" err="1"/>
              <a:t>Pypsa</a:t>
            </a:r>
            <a:r>
              <a:rPr lang="en-US" dirty="0"/>
              <a:t> perfect foresight</a:t>
            </a:r>
          </a:p>
        </p:txBody>
      </p:sp>
      <p:sp>
        <p:nvSpPr>
          <p:cNvPr id="9" name="TextBox 8">
            <a:extLst>
              <a:ext uri="{FF2B5EF4-FFF2-40B4-BE49-F238E27FC236}">
                <a16:creationId xmlns:a16="http://schemas.microsoft.com/office/drawing/2014/main" id="{F94F6937-C6D8-414F-9AC7-6981328CE67C}"/>
              </a:ext>
            </a:extLst>
          </p:cNvPr>
          <p:cNvSpPr txBox="1"/>
          <p:nvPr/>
        </p:nvSpPr>
        <p:spPr>
          <a:xfrm>
            <a:off x="10154743" y="1316529"/>
            <a:ext cx="1957908" cy="369332"/>
          </a:xfrm>
          <a:prstGeom prst="rect">
            <a:avLst/>
          </a:prstGeom>
          <a:noFill/>
        </p:spPr>
        <p:txBody>
          <a:bodyPr wrap="none" rtlCol="0">
            <a:spAutoFit/>
          </a:bodyPr>
          <a:lstStyle/>
          <a:p>
            <a:r>
              <a:rPr lang="en-US" dirty="0"/>
              <a:t>Try sector coupled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The build-out behind the result: the full energy mix</a:t>
            </a:r>
          </a:p>
        </p:txBody>
      </p:sp>
      <p:pic>
        <p:nvPicPr>
          <p:cNvPr id="3" name="Picture 2" descr="fig_energy_mix.png"/>
          <p:cNvPicPr>
            <a:picLocks noChangeAspect="1"/>
          </p:cNvPicPr>
          <p:nvPr/>
        </p:nvPicPr>
        <p:blipFill>
          <a:blip r:embed="rId3"/>
          <a:stretch>
            <a:fillRect/>
          </a:stretch>
        </p:blipFill>
        <p:spPr>
          <a:xfrm>
            <a:off x="1523847" y="1280160"/>
            <a:ext cx="9144000" cy="41801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RQ1: the market value of offshore wind today</a:t>
            </a:r>
          </a:p>
        </p:txBody>
      </p:sp>
      <p:pic>
        <p:nvPicPr>
          <p:cNvPr id="3" name="Picture 2" descr="fig_heatmap_2025.png"/>
          <p:cNvPicPr>
            <a:picLocks noChangeAspect="1"/>
          </p:cNvPicPr>
          <p:nvPr/>
        </p:nvPicPr>
        <p:blipFill>
          <a:blip r:embed="rId3"/>
          <a:stretch>
            <a:fillRect/>
          </a:stretch>
        </p:blipFill>
        <p:spPr>
          <a:xfrm>
            <a:off x="3721302" y="1280160"/>
            <a:ext cx="4749089" cy="51206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RQ1: by 2030 the Baltic begins to fade</a:t>
            </a:r>
          </a:p>
        </p:txBody>
      </p:sp>
      <p:pic>
        <p:nvPicPr>
          <p:cNvPr id="3" name="Picture 2" descr="fig_heatmap_2030.png"/>
          <p:cNvPicPr>
            <a:picLocks noChangeAspect="1"/>
          </p:cNvPicPr>
          <p:nvPr/>
        </p:nvPicPr>
        <p:blipFill>
          <a:blip r:embed="rId3"/>
          <a:stretch>
            <a:fillRect/>
          </a:stretch>
        </p:blipFill>
        <p:spPr>
          <a:xfrm>
            <a:off x="3721302" y="1280160"/>
            <a:ext cx="4749089" cy="51206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RQ1: by 2040 the Baltic erodes well past the North Sea</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dirty="0">
                <a:solidFill>
                  <a:srgbClr val="222B33"/>
                </a:solidFill>
                <a:latin typeface="Calibri"/>
              </a:rPr>
              <a:t>•  At parity today (~0.89); by 2040 the Baltic falls to about 0.47, the North Sea holds about 0.57</a:t>
            </a:r>
          </a:p>
        </p:txBody>
      </p:sp>
      <p:pic>
        <p:nvPicPr>
          <p:cNvPr id="4" name="Picture 3" descr="fig_heatmap_2040.png"/>
          <p:cNvPicPr>
            <a:picLocks noChangeAspect="1"/>
          </p:cNvPicPr>
          <p:nvPr/>
        </p:nvPicPr>
        <p:blipFill>
          <a:blip r:embed="rId3"/>
          <a:stretch>
            <a:fillRect/>
          </a:stretch>
        </p:blipFill>
        <p:spPr>
          <a:xfrm>
            <a:off x="4145328" y="2286000"/>
            <a:ext cx="3901037" cy="4206239"/>
          </a:xfrm>
          <a:prstGeom prst="rect">
            <a:avLst/>
          </a:prstGeom>
        </p:spPr>
      </p:pic>
      <p:sp>
        <p:nvSpPr>
          <p:cNvPr id="5" name="TextBox 4">
            <a:extLst>
              <a:ext uri="{FF2B5EF4-FFF2-40B4-BE49-F238E27FC236}">
                <a16:creationId xmlns:a16="http://schemas.microsoft.com/office/drawing/2014/main" id="{EB511A19-F267-1D44-A9D0-5CAAD4EAF0CC}"/>
              </a:ext>
            </a:extLst>
          </p:cNvPr>
          <p:cNvSpPr txBox="1"/>
          <p:nvPr/>
        </p:nvSpPr>
        <p:spPr>
          <a:xfrm>
            <a:off x="1691640" y="2816352"/>
            <a:ext cx="1636217" cy="369332"/>
          </a:xfrm>
          <a:prstGeom prst="rect">
            <a:avLst/>
          </a:prstGeom>
          <a:noFill/>
        </p:spPr>
        <p:txBody>
          <a:bodyPr wrap="none" rtlCol="0">
            <a:spAutoFit/>
          </a:bodyPr>
          <a:lstStyle/>
          <a:p>
            <a:r>
              <a:rPr lang="en-US" dirty="0"/>
              <a:t>Gb market data</a:t>
            </a:r>
          </a:p>
        </p:txBody>
      </p:sp>
      <p:sp>
        <p:nvSpPr>
          <p:cNvPr id="6" name="TextBox 5">
            <a:extLst>
              <a:ext uri="{FF2B5EF4-FFF2-40B4-BE49-F238E27FC236}">
                <a16:creationId xmlns:a16="http://schemas.microsoft.com/office/drawing/2014/main" id="{C853D1BE-96AA-1C47-971B-BDACB1227EE1}"/>
              </a:ext>
            </a:extLst>
          </p:cNvPr>
          <p:cNvSpPr txBox="1"/>
          <p:nvPr/>
        </p:nvSpPr>
        <p:spPr>
          <a:xfrm>
            <a:off x="1572768" y="3429000"/>
            <a:ext cx="1618520" cy="369332"/>
          </a:xfrm>
          <a:prstGeom prst="rect">
            <a:avLst/>
          </a:prstGeom>
          <a:noFill/>
        </p:spPr>
        <p:txBody>
          <a:bodyPr wrap="none" rtlCol="0">
            <a:spAutoFit/>
          </a:bodyPr>
          <a:lstStyle/>
          <a:p>
            <a:r>
              <a:rPr lang="en-US" dirty="0"/>
              <a:t>It Is public avail</a:t>
            </a:r>
          </a:p>
        </p:txBody>
      </p:sp>
      <p:sp>
        <p:nvSpPr>
          <p:cNvPr id="7" name="TextBox 6">
            <a:extLst>
              <a:ext uri="{FF2B5EF4-FFF2-40B4-BE49-F238E27FC236}">
                <a16:creationId xmlns:a16="http://schemas.microsoft.com/office/drawing/2014/main" id="{702631A7-C7C0-7741-98CB-635893CC1599}"/>
              </a:ext>
            </a:extLst>
          </p:cNvPr>
          <p:cNvSpPr txBox="1"/>
          <p:nvPr/>
        </p:nvSpPr>
        <p:spPr>
          <a:xfrm>
            <a:off x="160811" y="4616827"/>
            <a:ext cx="3736276" cy="1200329"/>
          </a:xfrm>
          <a:prstGeom prst="rect">
            <a:avLst/>
          </a:prstGeom>
          <a:noFill/>
        </p:spPr>
        <p:txBody>
          <a:bodyPr wrap="square" rtlCol="0">
            <a:spAutoFit/>
          </a:bodyPr>
          <a:lstStyle/>
          <a:p>
            <a:r>
              <a:rPr lang="en-US" dirty="0"/>
              <a:t>In the case of transmission </a:t>
            </a:r>
          </a:p>
          <a:p>
            <a:r>
              <a:rPr lang="en-US" dirty="0"/>
              <a:t>Const </a:t>
            </a:r>
            <a:r>
              <a:rPr lang="en-US" dirty="0" err="1"/>
              <a:t>cfd</a:t>
            </a:r>
            <a:r>
              <a:rPr lang="en-US" dirty="0"/>
              <a:t> winning not in the case of </a:t>
            </a:r>
            <a:r>
              <a:rPr lang="en-US" dirty="0" err="1"/>
              <a:t>overprod</a:t>
            </a:r>
            <a:endParaRPr lang="en-US" dirty="0"/>
          </a:p>
          <a:p>
            <a:endParaRPr lang="en-US" dirty="0"/>
          </a:p>
        </p:txBody>
      </p:sp>
      <p:sp>
        <p:nvSpPr>
          <p:cNvPr id="8" name="TextBox 7">
            <a:extLst>
              <a:ext uri="{FF2B5EF4-FFF2-40B4-BE49-F238E27FC236}">
                <a16:creationId xmlns:a16="http://schemas.microsoft.com/office/drawing/2014/main" id="{44FE38E2-907D-CB4D-BED2-819C1A16F7E9}"/>
              </a:ext>
            </a:extLst>
          </p:cNvPr>
          <p:cNvSpPr txBox="1"/>
          <p:nvPr/>
        </p:nvSpPr>
        <p:spPr>
          <a:xfrm>
            <a:off x="9906000" y="713232"/>
            <a:ext cx="1691639" cy="2031325"/>
          </a:xfrm>
          <a:prstGeom prst="rect">
            <a:avLst/>
          </a:prstGeom>
          <a:noFill/>
        </p:spPr>
        <p:txBody>
          <a:bodyPr wrap="square" rtlCol="0">
            <a:spAutoFit/>
          </a:bodyPr>
          <a:lstStyle/>
          <a:p>
            <a:r>
              <a:rPr lang="en-US" dirty="0"/>
              <a:t>See </a:t>
            </a:r>
            <a:r>
              <a:rPr lang="en-US" dirty="0" err="1"/>
              <a:t>whn</a:t>
            </a:r>
            <a:r>
              <a:rPr lang="en-US" dirty="0"/>
              <a:t> issue is trans and when issue </a:t>
            </a:r>
            <a:r>
              <a:rPr lang="en-US" dirty="0" err="1"/>
              <a:t>si</a:t>
            </a:r>
            <a:r>
              <a:rPr lang="en-US" dirty="0"/>
              <a:t> oversupply</a:t>
            </a:r>
          </a:p>
          <a:p>
            <a:endParaRPr lang="en-US" dirty="0"/>
          </a:p>
          <a:p>
            <a:r>
              <a:rPr lang="en-US" dirty="0"/>
              <a:t>Apply policy angle?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Does the Baltic still erode faster if we build the grid? No, it reverses</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Frozen grid (today's): the Baltic erodes faster, 2040 Baltic 0.47 vs North Sea 0.57</a:t>
            </a:r>
          </a:p>
          <a:p>
            <a:pPr>
              <a:spcAft>
                <a:spcPts val="1000"/>
              </a:spcAft>
            </a:pPr>
            <a:r>
              <a:rPr sz="1600">
                <a:solidFill>
                  <a:srgbClr val="222B33"/>
                </a:solidFill>
                <a:latin typeface="Calibri"/>
              </a:rPr>
              <a:t>•  Cost-optimal grid: the ordering REVERSES, Baltic 0.66, above the North Sea 0.64</a:t>
            </a:r>
          </a:p>
          <a:p>
            <a:pPr>
              <a:spcAft>
                <a:spcPts val="1000"/>
              </a:spcAft>
            </a:pPr>
            <a:r>
              <a:rPr sz="1600">
                <a:solidFill>
                  <a:srgbClr val="222B33"/>
                </a:solidFill>
                <a:latin typeface="Calibri"/>
              </a:rPr>
              <a:t>•  So the Baltic's faster erosion is a grid story: open the export valve and its advantage returns</a:t>
            </a:r>
          </a:p>
          <a:p>
            <a:pPr>
              <a:spcAft>
                <a:spcPts val="1000"/>
              </a:spcAft>
            </a:pPr>
            <a:r>
              <a:rPr sz="1600">
                <a:solidFill>
                  <a:srgbClr val="222B33"/>
                </a:solidFill>
                <a:latin typeface="Calibri"/>
              </a:rPr>
              <a:t>•  Interconnection is the single highest-leverage lever on Baltic value</a:t>
            </a:r>
          </a:p>
        </p:txBody>
      </p:sp>
      <p:pic>
        <p:nvPicPr>
          <p:cNvPr id="4" name="Picture 3" descr="fig_grid_reversal.png"/>
          <p:cNvPicPr>
            <a:picLocks noChangeAspect="1"/>
          </p:cNvPicPr>
          <p:nvPr/>
        </p:nvPicPr>
        <p:blipFill>
          <a:blip r:embed="rId3"/>
          <a:stretch>
            <a:fillRect/>
          </a:stretch>
        </p:blipFill>
        <p:spPr>
          <a:xfrm>
            <a:off x="3387976" y="2775771"/>
            <a:ext cx="5385568" cy="35143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Congestion or enclosure? Decomposing the Baltic's fall</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Each basin's 2040 fall split in two: structural buildout (the grid cannot fix) and congestion (an optimal grid removes)</a:t>
            </a:r>
          </a:p>
          <a:p>
            <a:pPr>
              <a:spcAft>
                <a:spcPts val="1000"/>
              </a:spcAft>
            </a:pPr>
            <a:r>
              <a:rPr sz="1600">
                <a:solidFill>
                  <a:srgbClr val="222B33"/>
                </a:solidFill>
                <a:latin typeface="Calibri"/>
              </a:rPr>
              <a:t>•  Both start at parity ~0.89; on the frozen grid the Baltic falls to 0.47, the North Sea to 0.57</a:t>
            </a:r>
          </a:p>
          <a:p>
            <a:pPr>
              <a:spcAft>
                <a:spcPts val="1000"/>
              </a:spcAft>
            </a:pPr>
            <a:r>
              <a:rPr sz="1600">
                <a:solidFill>
                  <a:srgbClr val="222B33"/>
                </a:solidFill>
                <a:latin typeface="Calibri"/>
              </a:rPr>
              <a:t>•  The Baltic's congestion penalty (0.19) is 3x the North Sea's (0.06); its structural fall is SMALLER (0.22 vs 0.25)</a:t>
            </a:r>
          </a:p>
          <a:p>
            <a:pPr>
              <a:spcAft>
                <a:spcPts val="1000"/>
              </a:spcAft>
            </a:pPr>
            <a:r>
              <a:rPr sz="1600">
                <a:solidFill>
                  <a:srgbClr val="222B33"/>
                </a:solidFill>
                <a:latin typeface="Calibri"/>
              </a:rPr>
              <a:t>•  So the enclosure shows up as congestion the grid removes, not a permanent penalty: build it and the Baltic ends ABOVE the North Sea</a:t>
            </a:r>
          </a:p>
        </p:txBody>
      </p:sp>
      <p:pic>
        <p:nvPicPr>
          <p:cNvPr id="4" name="Picture 3" descr="fig_cv_decomposition.png"/>
          <p:cNvPicPr>
            <a:picLocks noChangeAspect="1"/>
          </p:cNvPicPr>
          <p:nvPr/>
        </p:nvPicPr>
        <p:blipFill>
          <a:blip r:embed="rId3"/>
          <a:stretch>
            <a:fillRect/>
          </a:stretch>
        </p:blipFill>
        <p:spPr>
          <a:xfrm>
            <a:off x="2543824" y="2891078"/>
            <a:ext cx="6590551" cy="363616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RQ2: what sets the severity, and it is steeper in the Baltic</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Strip out the 2022 fuel-crisis signal and crowding leads (32%); carbon and gas are a time artefact, not a farm-to-farm driver</a:t>
            </a:r>
          </a:p>
          <a:p>
            <a:pPr>
              <a:spcAft>
                <a:spcPts val="1000"/>
              </a:spcAft>
            </a:pPr>
            <a:r>
              <a:rPr sz="1600">
                <a:solidFill>
                  <a:srgbClr val="222B33"/>
                </a:solidFill>
                <a:latin typeface="Calibri"/>
              </a:rPr>
              <a:t>•  Same mechanisms in both basins, but steeper in the enclosed Baltic: the same buildout cannibalises about twice as hard</a:t>
            </a:r>
          </a:p>
        </p:txBody>
      </p:sp>
      <p:pic>
        <p:nvPicPr>
          <p:cNvPr id="4" name="Picture 3" descr="fig_shap_demeaned.png"/>
          <p:cNvPicPr>
            <a:picLocks noChangeAspect="1"/>
          </p:cNvPicPr>
          <p:nvPr/>
        </p:nvPicPr>
        <p:blipFill>
          <a:blip r:embed="rId3"/>
          <a:stretch>
            <a:fillRect/>
          </a:stretch>
        </p:blipFill>
        <p:spPr>
          <a:xfrm>
            <a:off x="2565610" y="2286000"/>
            <a:ext cx="7060474" cy="42062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RQ2: the enclosed basin blows together</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Under-built Baltic states correlate at 0.61; the North Sea at 0.44; the two basins decouple (0.28)</a:t>
            </a:r>
          </a:p>
          <a:p>
            <a:pPr>
              <a:spcAft>
                <a:spcPts val="1000"/>
              </a:spcAft>
            </a:pPr>
            <a:r>
              <a:rPr sz="1600">
                <a:solidFill>
                  <a:srgbClr val="222B33"/>
                </a:solidFill>
                <a:latin typeface="Calibri"/>
              </a:rPr>
              <a:t>•  As those zones build out, their correlated wind floods the enclosed market together, the congestion the grid relieves</a:t>
            </a:r>
          </a:p>
        </p:txBody>
      </p:sp>
      <p:pic>
        <p:nvPicPr>
          <p:cNvPr id="4" name="Picture 3" descr="fig_basin_correlation.png"/>
          <p:cNvPicPr>
            <a:picLocks noChangeAspect="1"/>
          </p:cNvPicPr>
          <p:nvPr/>
        </p:nvPicPr>
        <p:blipFill>
          <a:blip r:embed="rId3"/>
          <a:stretch>
            <a:fillRect/>
          </a:stretch>
        </p:blipFill>
        <p:spPr>
          <a:xfrm>
            <a:off x="1905483" y="2230244"/>
            <a:ext cx="8135402" cy="42062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RQ2: within-country synchronicity, farm by farm</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A compact fleet blows almost as one (Belgium 0.96, Poland 0.94); a spread one less so (Germany 0.64, Denmark 0.67)</a:t>
            </a:r>
          </a:p>
          <a:p>
            <a:pPr>
              <a:spcAft>
                <a:spcPts val="1000"/>
              </a:spcAft>
            </a:pPr>
            <a:r>
              <a:rPr sz="1600">
                <a:solidFill>
                  <a:srgbClr val="222B33"/>
                </a:solidFill>
                <a:latin typeface="Calibri"/>
              </a:rPr>
              <a:t>•  Even Germany splits in two: its North Sea and its Baltic farms decouple, so the basin boundary beats the national one</a:t>
            </a:r>
          </a:p>
        </p:txBody>
      </p:sp>
      <p:pic>
        <p:nvPicPr>
          <p:cNvPr id="4" name="Picture 3" descr="fig_country_correlation.png"/>
          <p:cNvPicPr>
            <a:picLocks noChangeAspect="1"/>
          </p:cNvPicPr>
          <p:nvPr/>
        </p:nvPicPr>
        <p:blipFill>
          <a:blip r:embed="rId3"/>
          <a:stretch>
            <a:fillRect/>
          </a:stretch>
        </p:blipFill>
        <p:spPr>
          <a:xfrm>
            <a:off x="2733492" y="2286000"/>
            <a:ext cx="6724709" cy="4206240"/>
          </a:xfrm>
          <a:prstGeom prst="rect">
            <a:avLst/>
          </a:prstGeom>
        </p:spPr>
      </p:pic>
      <p:sp>
        <p:nvSpPr>
          <p:cNvPr id="5" name="TextBox 4">
            <a:extLst>
              <a:ext uri="{FF2B5EF4-FFF2-40B4-BE49-F238E27FC236}">
                <a16:creationId xmlns:a16="http://schemas.microsoft.com/office/drawing/2014/main" id="{AA33CFC0-4C4D-5E46-8052-90611DF98460}"/>
              </a:ext>
            </a:extLst>
          </p:cNvPr>
          <p:cNvSpPr txBox="1"/>
          <p:nvPr/>
        </p:nvSpPr>
        <p:spPr>
          <a:xfrm>
            <a:off x="413467" y="2425148"/>
            <a:ext cx="1375569" cy="646331"/>
          </a:xfrm>
          <a:prstGeom prst="rect">
            <a:avLst/>
          </a:prstGeom>
          <a:noFill/>
        </p:spPr>
        <p:txBody>
          <a:bodyPr wrap="none" rtlCol="0">
            <a:spAutoFit/>
          </a:bodyPr>
          <a:lstStyle/>
          <a:p>
            <a:r>
              <a:rPr lang="en-US"/>
              <a:t>Check data? </a:t>
            </a:r>
          </a:p>
          <a:p>
            <a:r>
              <a:rPr lang="en-US"/>
              <a:t>HKZ GEMI</a:t>
            </a:r>
          </a:p>
        </p:txBody>
      </p:sp>
    </p:spTree>
    <p:extLst>
      <p:ext uri="{BB962C8B-B14F-4D97-AF65-F5344CB8AC3E}">
        <p14:creationId xmlns:p14="http://schemas.microsoft.com/office/powerpoint/2010/main" val="3594271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RQ2: when they blow together, a seasonal pattern</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Winter (red): the basins synchronise, exactly when output is highest</a:t>
            </a:r>
          </a:p>
          <a:p>
            <a:pPr>
              <a:spcAft>
                <a:spcPts val="1000"/>
              </a:spcAft>
            </a:pPr>
            <a:r>
              <a:rPr sz="1600">
                <a:solidFill>
                  <a:srgbClr val="222B33"/>
                </a:solidFill>
                <a:latin typeface="Calibri"/>
              </a:rPr>
              <a:t>•  Summer (blue): they decouple. This matches Jacquet's winter-cannibalisation finding</a:t>
            </a:r>
          </a:p>
        </p:txBody>
      </p:sp>
      <p:pic>
        <p:nvPicPr>
          <p:cNvPr id="4" name="Picture 3" descr="fig_crossbasin_sync.png"/>
          <p:cNvPicPr>
            <a:picLocks noChangeAspect="1"/>
          </p:cNvPicPr>
          <p:nvPr/>
        </p:nvPicPr>
        <p:blipFill>
          <a:blip r:embed="rId3"/>
          <a:stretch>
            <a:fillRect/>
          </a:stretch>
        </p:blipFill>
        <p:spPr>
          <a:xfrm>
            <a:off x="0" y="2990088"/>
            <a:ext cx="5080688" cy="2822605"/>
          </a:xfrm>
          <a:prstGeom prst="rect">
            <a:avLst/>
          </a:prstGeom>
        </p:spPr>
      </p:pic>
      <p:pic>
        <p:nvPicPr>
          <p:cNvPr id="11" name="Picture 10">
            <a:extLst>
              <a:ext uri="{FF2B5EF4-FFF2-40B4-BE49-F238E27FC236}">
                <a16:creationId xmlns:a16="http://schemas.microsoft.com/office/drawing/2014/main" id="{0D6BBA11-342B-A947-84B7-266E92CBBADF}"/>
              </a:ext>
            </a:extLst>
          </p:cNvPr>
          <p:cNvPicPr>
            <a:picLocks noChangeAspect="1"/>
          </p:cNvPicPr>
          <p:nvPr/>
        </p:nvPicPr>
        <p:blipFill>
          <a:blip r:embed="rId4"/>
          <a:stretch>
            <a:fillRect/>
          </a:stretch>
        </p:blipFill>
        <p:spPr>
          <a:xfrm>
            <a:off x="5080688" y="3144436"/>
            <a:ext cx="6958912" cy="2513907"/>
          </a:xfrm>
          <a:prstGeom prst="rect">
            <a:avLst/>
          </a:prstGeom>
        </p:spPr>
      </p:pic>
    </p:spTree>
    <p:extLst>
      <p:ext uri="{BB962C8B-B14F-4D97-AF65-F5344CB8AC3E}">
        <p14:creationId xmlns:p14="http://schemas.microsoft.com/office/powerpoint/2010/main" val="2678458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RQ3: the regression abstains, so PyPSA carries the future</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Every future scenario leaves the model's training range (carbon)</a:t>
            </a:r>
          </a:p>
          <a:p>
            <a:pPr>
              <a:spcAft>
                <a:spcPts val="1000"/>
              </a:spcAft>
            </a:pPr>
            <a:r>
              <a:rPr sz="1600">
                <a:solidFill>
                  <a:srgbClr val="222B33"/>
                </a:solidFill>
                <a:latin typeface="Calibri"/>
              </a:rPr>
              <a:t>•  The tree model flat-lines out of support, by proof; a time-split test fails</a:t>
            </a:r>
          </a:p>
        </p:txBody>
      </p:sp>
      <p:pic>
        <p:nvPicPr>
          <p:cNvPr id="4" name="Picture 3" descr="fig_E_carbon_flatline.png"/>
          <p:cNvPicPr>
            <a:picLocks noChangeAspect="1"/>
          </p:cNvPicPr>
          <p:nvPr/>
        </p:nvPicPr>
        <p:blipFill>
          <a:blip r:embed="rId3"/>
          <a:stretch>
            <a:fillRect/>
          </a:stretch>
        </p:blipFill>
        <p:spPr>
          <a:xfrm>
            <a:off x="2434267" y="2286000"/>
            <a:ext cx="7323159" cy="42062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Capture value to 2040: every instrument on one chart</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PyPSA frozen finds the convex collapse (North Sea 0.57, Baltic 0.47); the optimal grid recovers it (0.64, 0.66)</a:t>
            </a:r>
          </a:p>
          <a:p>
            <a:pPr>
              <a:spcAft>
                <a:spcPts val="1000"/>
              </a:spcAft>
            </a:pPr>
            <a:r>
              <a:rPr sz="1600">
                <a:solidFill>
                  <a:srgbClr val="222B33"/>
                </a:solidFill>
                <a:latin typeface="Calibri"/>
              </a:rPr>
              <a:t>•  The regression cannot see it: the tree abstains (flat ~0.82), the analytical form projects only gently (0.79, 0.72)</a:t>
            </a:r>
          </a:p>
          <a:p>
            <a:pPr>
              <a:spcAft>
                <a:spcPts val="1000"/>
              </a:spcAft>
            </a:pPr>
            <a:r>
              <a:rPr sz="1600">
                <a:solidFill>
                  <a:srgbClr val="222B33"/>
                </a:solidFill>
                <a:latin typeface="Calibri"/>
              </a:rPr>
              <a:t>•  That 2040 gap IS the convex cannibalisation the linear empirical form misses, so PyPSA carries the headline</a:t>
            </a:r>
          </a:p>
          <a:p>
            <a:pPr>
              <a:spcAft>
                <a:spcPts val="1000"/>
              </a:spcAft>
            </a:pPr>
            <a:r>
              <a:rPr sz="1600">
                <a:solidFill>
                  <a:srgbClr val="222B33"/>
                </a:solidFill>
                <a:latin typeface="Calibri"/>
              </a:rPr>
              <a:t>•  Agree to 2030 (trust either); part at 2040 (only the market-clearing model is right)</a:t>
            </a:r>
          </a:p>
        </p:txBody>
      </p:sp>
      <p:pic>
        <p:nvPicPr>
          <p:cNvPr id="4" name="Picture 3" descr="fig_capture_value_evolution.png"/>
          <p:cNvPicPr>
            <a:picLocks noChangeAspect="1"/>
          </p:cNvPicPr>
          <p:nvPr/>
        </p:nvPicPr>
        <p:blipFill>
          <a:blip r:embed="rId3"/>
          <a:stretch>
            <a:fillRect/>
          </a:stretch>
        </p:blipFill>
        <p:spPr>
          <a:xfrm>
            <a:off x="2319375" y="2990088"/>
            <a:ext cx="7689810" cy="3611880"/>
          </a:xfrm>
          <a:prstGeom prst="rect">
            <a:avLst/>
          </a:prstGeom>
        </p:spPr>
      </p:pic>
      <p:sp>
        <p:nvSpPr>
          <p:cNvPr id="5" name="TextBox 4">
            <a:extLst>
              <a:ext uri="{FF2B5EF4-FFF2-40B4-BE49-F238E27FC236}">
                <a16:creationId xmlns:a16="http://schemas.microsoft.com/office/drawing/2014/main" id="{3DEC2875-62C6-1D4A-88AD-BE7339BE4585}"/>
              </a:ext>
            </a:extLst>
          </p:cNvPr>
          <p:cNvSpPr txBox="1"/>
          <p:nvPr/>
        </p:nvSpPr>
        <p:spPr>
          <a:xfrm>
            <a:off x="329184" y="3255264"/>
            <a:ext cx="1621982" cy="646331"/>
          </a:xfrm>
          <a:prstGeom prst="rect">
            <a:avLst/>
          </a:prstGeom>
          <a:noFill/>
        </p:spPr>
        <p:txBody>
          <a:bodyPr wrap="none" rtlCol="0">
            <a:spAutoFit/>
          </a:bodyPr>
          <a:lstStyle/>
          <a:p>
            <a:r>
              <a:rPr lang="en-US" dirty="0"/>
              <a:t>Effort of what </a:t>
            </a:r>
          </a:p>
          <a:p>
            <a:r>
              <a:rPr lang="en-US" dirty="0"/>
              <a:t>Model is better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Does offshore wind pay? From capture value to net value</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Net value per MW = revenue (resource x capture value x price) minus depth- and distance-driven cost</a:t>
            </a:r>
          </a:p>
          <a:p>
            <a:pPr>
              <a:spcAft>
                <a:spcPts val="1000"/>
              </a:spcAft>
            </a:pPr>
            <a:r>
              <a:rPr sz="1600">
                <a:solidFill>
                  <a:srgbClr val="222B33"/>
                </a:solidFill>
                <a:latin typeface="Calibri"/>
              </a:rPr>
              <a:t>•  2025: ~48% of the shelf is merchant-profitable (green); by 2040 cannibalisation shrinks it to ~12% even as turbines get cheaper</a:t>
            </a:r>
          </a:p>
          <a:p>
            <a:pPr>
              <a:spcAft>
                <a:spcPts val="1000"/>
              </a:spcAft>
            </a:pPr>
            <a:r>
              <a:rPr sz="1600">
                <a:solidFill>
                  <a:srgbClr val="222B33"/>
                </a:solidFill>
                <a:latin typeface="Calibri"/>
              </a:rPr>
              <a:t>•  WHY it shrinks: cannibalisation erodes the captured price faster than cheaper turbines cut cost</a:t>
            </a:r>
          </a:p>
          <a:p>
            <a:pPr>
              <a:spcAft>
                <a:spcPts val="1000"/>
              </a:spcAft>
            </a:pPr>
            <a:r>
              <a:rPr sz="1600">
                <a:solidFill>
                  <a:srgbClr val="222B33"/>
                </a:solidFill>
                <a:latin typeface="Calibri"/>
              </a:rPr>
              <a:t>•  WHY the green is the shallow North Sea: best wind + shallow + near-shore stack the most cost margin; deep water never clears the floating-foundation cost</a:t>
            </a:r>
          </a:p>
        </p:txBody>
      </p:sp>
      <p:pic>
        <p:nvPicPr>
          <p:cNvPr id="4" name="Picture 3" descr="fig_netvalue_2040.png"/>
          <p:cNvPicPr>
            <a:picLocks noChangeAspect="1"/>
          </p:cNvPicPr>
          <p:nvPr/>
        </p:nvPicPr>
        <p:blipFill>
          <a:blip r:embed="rId3"/>
          <a:stretch>
            <a:fillRect/>
          </a:stretch>
        </p:blipFill>
        <p:spPr>
          <a:xfrm>
            <a:off x="4184425" y="2618836"/>
            <a:ext cx="3597702" cy="38792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538609"/>
          </a:xfrm>
          <a:prstGeom prst="rect">
            <a:avLst/>
          </a:prstGeom>
          <a:noFill/>
        </p:spPr>
        <p:txBody>
          <a:bodyPr wrap="square">
            <a:spAutoFit/>
          </a:bodyPr>
          <a:lstStyle/>
          <a:p>
            <a:r>
              <a:rPr lang="en-GB" sz="2900" b="1" dirty="0">
                <a:solidFill>
                  <a:srgbClr val="14293D"/>
                </a:solidFill>
                <a:latin typeface="Calibri"/>
              </a:rPr>
              <a:t>V</a:t>
            </a:r>
            <a:r>
              <a:rPr sz="2900" b="1" dirty="0" err="1">
                <a:solidFill>
                  <a:srgbClr val="14293D"/>
                </a:solidFill>
                <a:latin typeface="Calibri"/>
              </a:rPr>
              <a:t>alue</a:t>
            </a:r>
            <a:r>
              <a:rPr sz="2900" b="1" dirty="0">
                <a:solidFill>
                  <a:srgbClr val="14293D"/>
                </a:solidFill>
                <a:latin typeface="Calibri"/>
              </a:rPr>
              <a:t>-adjusted LCOE (</a:t>
            </a:r>
            <a:r>
              <a:rPr sz="2900" b="1" dirty="0" err="1">
                <a:solidFill>
                  <a:srgbClr val="14293D"/>
                </a:solidFill>
                <a:latin typeface="Calibri"/>
              </a:rPr>
              <a:t>cannibalisation</a:t>
            </a:r>
            <a:r>
              <a:rPr sz="2900" b="1" dirty="0">
                <a:solidFill>
                  <a:srgbClr val="14293D"/>
                </a:solidFill>
                <a:latin typeface="Calibri"/>
              </a:rPr>
              <a:t> undoes the learning)</a:t>
            </a:r>
          </a:p>
        </p:txBody>
      </p:sp>
      <p:sp>
        <p:nvSpPr>
          <p:cNvPr id="3" name="TextBox 2"/>
          <p:cNvSpPr txBox="1"/>
          <p:nvPr/>
        </p:nvSpPr>
        <p:spPr>
          <a:xfrm>
            <a:off x="594360" y="1170432"/>
            <a:ext cx="10972800" cy="1051560"/>
          </a:xfrm>
          <a:prstGeom prst="rect">
            <a:avLst/>
          </a:prstGeom>
          <a:noFill/>
        </p:spPr>
        <p:txBody>
          <a:bodyPr wrap="square">
            <a:spAutoFit/>
          </a:bodyPr>
          <a:lstStyle/>
          <a:p>
            <a:pPr>
              <a:spcAft>
                <a:spcPts val="1000"/>
              </a:spcAft>
            </a:pPr>
            <a:r>
              <a:rPr sz="1600">
                <a:solidFill>
                  <a:srgbClr val="222B33"/>
                </a:solidFill>
                <a:latin typeface="Calibri"/>
              </a:rPr>
              <a:t>•  Value-adjusted LCOE = LCOE / capture value = the wholesale price a site needs to break even</a:t>
            </a:r>
          </a:p>
          <a:p>
            <a:pPr>
              <a:spcAft>
                <a:spcPts val="1000"/>
              </a:spcAft>
            </a:pPr>
            <a:r>
              <a:rPr sz="1600">
                <a:solidFill>
                  <a:srgbClr val="222B33"/>
                </a:solidFill>
                <a:latin typeface="Calibri"/>
              </a:rPr>
              <a:t>•  Raw LCOE FALLS with technology (74 to 66 EUR/MWh); the value-adjusted LCOE RISES (87 to 121), because cannibalisation overruns learning</a:t>
            </a:r>
          </a:p>
          <a:p>
            <a:pPr>
              <a:spcAft>
                <a:spcPts val="1000"/>
              </a:spcAft>
            </a:pPr>
            <a:r>
              <a:rPr sz="1600">
                <a:solidFill>
                  <a:srgbClr val="222B33"/>
                </a:solidFill>
                <a:latin typeface="Calibri"/>
              </a:rPr>
              <a:t>•  Robust: costs would have to fall 36% by 2040 (3x the DEA's 12%) just to hold it flat, in all 27 cases tested</a:t>
            </a:r>
          </a:p>
        </p:txBody>
      </p:sp>
      <p:pic>
        <p:nvPicPr>
          <p:cNvPr id="4" name="Picture 3" descr="fig_vlcoe_2040.png"/>
          <p:cNvPicPr>
            <a:picLocks noChangeAspect="1"/>
          </p:cNvPicPr>
          <p:nvPr/>
        </p:nvPicPr>
        <p:blipFill>
          <a:blip r:embed="rId3"/>
          <a:stretch>
            <a:fillRect/>
          </a:stretch>
        </p:blipFill>
        <p:spPr>
          <a:xfrm>
            <a:off x="4145362" y="2779776"/>
            <a:ext cx="3307344" cy="35661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Interconnection is the lever, in money</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Interconnection lowers the enclosed Baltic's value-adjusted LCOE by EUR 33/MWh, 4x the core North Sea's EUR 8</a:t>
            </a:r>
          </a:p>
          <a:p>
            <a:pPr>
              <a:spcAft>
                <a:spcPts val="1000"/>
              </a:spcAft>
            </a:pPr>
            <a:r>
              <a:rPr sz="1600">
                <a:solidFill>
                  <a:srgbClr val="222B33"/>
                </a:solidFill>
                <a:latin typeface="Calibri"/>
              </a:rPr>
              <a:t>•  Worth ~EUR 1.2 bn/yr in captured revenue to Baltic offshore alone, about 55% of the cost of ALL the new lines</a:t>
            </a:r>
          </a:p>
          <a:p>
            <a:pPr>
              <a:spcAft>
                <a:spcPts val="1000"/>
              </a:spcAft>
            </a:pPr>
            <a:r>
              <a:rPr sz="1600">
                <a:solidFill>
                  <a:srgbClr val="222B33"/>
                </a:solidFill>
                <a:latin typeface="Calibri"/>
              </a:rPr>
              <a:t>•  The recommendation: the cost-optimal grid makes Baltic offshore viable; without it, it needs subsidy</a:t>
            </a:r>
          </a:p>
        </p:txBody>
      </p:sp>
      <p:pic>
        <p:nvPicPr>
          <p:cNvPr id="4" name="Picture 3" descr="fig_vlcoe_grid_2040.png"/>
          <p:cNvPicPr>
            <a:picLocks noChangeAspect="1"/>
          </p:cNvPicPr>
          <p:nvPr/>
        </p:nvPicPr>
        <p:blipFill>
          <a:blip r:embed="rId3"/>
          <a:stretch>
            <a:fillRect/>
          </a:stretch>
        </p:blipFill>
        <p:spPr>
          <a:xfrm>
            <a:off x="2287495" y="2286000"/>
            <a:ext cx="7616704" cy="4206240"/>
          </a:xfrm>
          <a:prstGeom prst="rect">
            <a:avLst/>
          </a:prstGeom>
        </p:spPr>
      </p:pic>
      <p:sp>
        <p:nvSpPr>
          <p:cNvPr id="5" name="TextBox 4">
            <a:extLst>
              <a:ext uri="{FF2B5EF4-FFF2-40B4-BE49-F238E27FC236}">
                <a16:creationId xmlns:a16="http://schemas.microsoft.com/office/drawing/2014/main" id="{0B655C43-BBC7-A840-AE59-2E632313A730}"/>
              </a:ext>
            </a:extLst>
          </p:cNvPr>
          <p:cNvSpPr txBox="1"/>
          <p:nvPr/>
        </p:nvSpPr>
        <p:spPr>
          <a:xfrm>
            <a:off x="594360" y="3113590"/>
            <a:ext cx="1847898" cy="1200329"/>
          </a:xfrm>
          <a:prstGeom prst="rect">
            <a:avLst/>
          </a:prstGeom>
          <a:noFill/>
        </p:spPr>
        <p:txBody>
          <a:bodyPr wrap="square" rtlCol="0">
            <a:spAutoFit/>
          </a:bodyPr>
          <a:lstStyle/>
          <a:p>
            <a:r>
              <a:rPr lang="en-US" dirty="0"/>
              <a:t>Value being captured by </a:t>
            </a:r>
            <a:r>
              <a:rPr lang="en-US" dirty="0" err="1"/>
              <a:t>cfd</a:t>
            </a:r>
            <a:r>
              <a:rPr lang="en-US" dirty="0"/>
              <a:t>?</a:t>
            </a:r>
          </a:p>
          <a:p>
            <a:r>
              <a:rPr lang="en-US" dirty="0"/>
              <a:t>Winners and losers.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Does capture value change where to build?</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Rank candidate areas by cost alone (LCOE) versus with capture value added (value-adjusted LCOE)</a:t>
            </a:r>
          </a:p>
          <a:p>
            <a:pPr>
              <a:spcAft>
                <a:spcPts val="1000"/>
              </a:spcAft>
            </a:pPr>
            <a:r>
              <a:rPr sz="1600">
                <a:solidFill>
                  <a:srgbClr val="222B33"/>
                </a:solidFill>
                <a:latin typeface="Calibri"/>
              </a:rPr>
              <a:t>•  2025 the two rankings agree (0.99); by 2040 they diverge (0.90), so the value dimension increasingly reorders site choice</a:t>
            </a:r>
          </a:p>
          <a:p>
            <a:pPr>
              <a:spcAft>
                <a:spcPts val="1000"/>
              </a:spcAft>
            </a:pPr>
            <a:r>
              <a:rPr sz="1600">
                <a:solidFill>
                  <a:srgbClr val="222B33"/>
                </a:solidFill>
                <a:latin typeface="Calibri"/>
              </a:rPr>
              <a:t>•  The cheap-but-cannibalised eastern Baltic (Estonia, Latvia) drops; the value-resilient Danish North Sea rises; the German Bight stays number one</a:t>
            </a:r>
          </a:p>
          <a:p>
            <a:pPr>
              <a:spcAft>
                <a:spcPts val="1000"/>
              </a:spcAft>
            </a:pPr>
            <a:r>
              <a:rPr sz="1600">
                <a:solidFill>
                  <a:srgbClr val="222B33"/>
                </a:solidFill>
                <a:latin typeface="Calibri"/>
              </a:rPr>
              <a:t>•  So ranking on cost alone is fine today but increasingly misleads toward 2040</a:t>
            </a:r>
          </a:p>
        </p:txBody>
      </p:sp>
      <p:pic>
        <p:nvPicPr>
          <p:cNvPr id="4" name="Picture 3" descr="fig_site_ranking.png"/>
          <p:cNvPicPr>
            <a:picLocks noChangeAspect="1"/>
          </p:cNvPicPr>
          <p:nvPr/>
        </p:nvPicPr>
        <p:blipFill>
          <a:blip r:embed="rId3"/>
          <a:stretch>
            <a:fillRect/>
          </a:stretch>
        </p:blipFill>
        <p:spPr>
          <a:xfrm>
            <a:off x="2700322" y="3061258"/>
            <a:ext cx="6791356" cy="32958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Where to build: many sites, two lenses</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dirty="0">
                <a:solidFill>
                  <a:srgbClr val="222B33"/>
                </a:solidFill>
                <a:latin typeface="Calibri"/>
              </a:rPr>
              <a:t>•  169 candidate sites across both shelves, ranked two ways: cheapest break-even (value for money) and largest profit per MW (net value)</a:t>
            </a:r>
          </a:p>
          <a:p>
            <a:pPr>
              <a:spcAft>
                <a:spcPts val="1000"/>
              </a:spcAft>
            </a:pPr>
            <a:r>
              <a:rPr sz="1600" dirty="0">
                <a:solidFill>
                  <a:srgbClr val="222B33"/>
                </a:solidFill>
                <a:latin typeface="Calibri"/>
              </a:rPr>
              <a:t>•  Both reward the shallow, windy, value-resilient shelf; the German Bight tops both lenses</a:t>
            </a:r>
          </a:p>
          <a:p>
            <a:pPr>
              <a:spcAft>
                <a:spcPts val="1000"/>
              </a:spcAft>
            </a:pPr>
            <a:r>
              <a:rPr sz="1600" dirty="0">
                <a:solidFill>
                  <a:srgbClr val="222B33"/>
                </a:solidFill>
                <a:latin typeface="Calibri"/>
              </a:rPr>
              <a:t>•  Value-for-money tilts to the cheap shallow western Baltic (Poland, DK2); absolute money tilts to the high-resource open North Sea</a:t>
            </a:r>
          </a:p>
          <a:p>
            <a:pPr>
              <a:spcAft>
                <a:spcPts val="1000"/>
              </a:spcAft>
            </a:pPr>
            <a:r>
              <a:rPr sz="1600" dirty="0">
                <a:solidFill>
                  <a:srgbClr val="222B33"/>
                </a:solidFill>
                <a:latin typeface="Calibri"/>
              </a:rPr>
              <a:t>•  Recommendation: German Bight and the shallow western Baltic first; the cheap eastern-Baltic sites are a value trap by 2040</a:t>
            </a:r>
          </a:p>
        </p:txBody>
      </p:sp>
      <p:pic>
        <p:nvPicPr>
          <p:cNvPr id="4" name="Picture 3" descr="fig_site_ranking_2metric.png"/>
          <p:cNvPicPr>
            <a:picLocks noChangeAspect="1"/>
          </p:cNvPicPr>
          <p:nvPr/>
        </p:nvPicPr>
        <p:blipFill>
          <a:blip r:embed="rId3"/>
          <a:stretch>
            <a:fillRect/>
          </a:stretch>
        </p:blipFill>
        <p:spPr>
          <a:xfrm>
            <a:off x="3012130" y="3309798"/>
            <a:ext cx="6015329" cy="331279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Is it worth spreading across both basins?</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dirty="0">
                <a:solidFill>
                  <a:srgbClr val="222B33"/>
                </a:solidFill>
                <a:latin typeface="Calibri"/>
              </a:rPr>
              <a:t>•  </a:t>
            </a:r>
            <a:r>
              <a:rPr sz="1600" dirty="0" err="1">
                <a:solidFill>
                  <a:srgbClr val="222B33"/>
                </a:solidFill>
                <a:latin typeface="Calibri"/>
              </a:rPr>
              <a:t>Cannibalisation</a:t>
            </a:r>
            <a:r>
              <a:rPr sz="1600" dirty="0">
                <a:solidFill>
                  <a:srgbClr val="222B33"/>
                </a:solidFill>
                <a:latin typeface="Calibri"/>
              </a:rPr>
              <a:t> hedge (YES): all-North-Sea craters; spreading the optimal ~12% to the Baltic lifts aggregate 2040 capture value about a third (planned split near-optimal)</a:t>
            </a:r>
          </a:p>
          <a:p>
            <a:pPr>
              <a:spcAft>
                <a:spcPts val="1000"/>
              </a:spcAft>
            </a:pPr>
            <a:r>
              <a:rPr sz="1600" dirty="0">
                <a:solidFill>
                  <a:srgbClr val="222B33"/>
                </a:solidFill>
                <a:latin typeface="Calibri"/>
              </a:rPr>
              <a:t>•  Risk hedge (NO): the wind decorrelates (0.28) but capture value co-moves (0.80) on shared European prices, so no volatility cut</a:t>
            </a:r>
          </a:p>
          <a:p>
            <a:pPr>
              <a:spcAft>
                <a:spcPts val="1000"/>
              </a:spcAft>
            </a:pPr>
            <a:r>
              <a:rPr sz="1600" dirty="0">
                <a:solidFill>
                  <a:srgbClr val="222B33"/>
                </a:solidFill>
                <a:latin typeface="Calibri"/>
              </a:rPr>
              <a:t>•  So the portfolio payoff is on the MEAN (less </a:t>
            </a:r>
            <a:r>
              <a:rPr sz="1600" dirty="0" err="1">
                <a:solidFill>
                  <a:srgbClr val="222B33"/>
                </a:solidFill>
                <a:latin typeface="Calibri"/>
              </a:rPr>
              <a:t>cannibalisation</a:t>
            </a:r>
            <a:r>
              <a:rPr sz="1600" dirty="0">
                <a:solidFill>
                  <a:srgbClr val="222B33"/>
                </a:solidFill>
                <a:latin typeface="Calibri"/>
              </a:rPr>
              <a:t>), not the variance</a:t>
            </a:r>
          </a:p>
          <a:p>
            <a:pPr>
              <a:spcAft>
                <a:spcPts val="1000"/>
              </a:spcAft>
            </a:pPr>
            <a:r>
              <a:rPr sz="1600" dirty="0">
                <a:solidFill>
                  <a:srgbClr val="222B33"/>
                </a:solidFill>
                <a:latin typeface="Calibri"/>
              </a:rPr>
              <a:t>•  The low correlation that motivates diversification lives in the wind, not the value</a:t>
            </a:r>
          </a:p>
        </p:txBody>
      </p:sp>
      <p:pic>
        <p:nvPicPr>
          <p:cNvPr id="4" name="Picture 3" descr="fig_diversification.png"/>
          <p:cNvPicPr>
            <a:picLocks noChangeAspect="1"/>
          </p:cNvPicPr>
          <p:nvPr/>
        </p:nvPicPr>
        <p:blipFill>
          <a:blip r:embed="rId3"/>
          <a:stretch>
            <a:fillRect/>
          </a:stretch>
        </p:blipFill>
        <p:spPr>
          <a:xfrm>
            <a:off x="1887377" y="2990088"/>
            <a:ext cx="8595360" cy="37203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What it means, against the three questions</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RQ1: at parity today; the Baltic falls to about 0.47 by 2040 vs the North Sea's 0.57, but with grid expansion it recovers to 0.66, above the North Sea</a:t>
            </a:r>
          </a:p>
          <a:p>
            <a:pPr>
              <a:spcAft>
                <a:spcPts val="1000"/>
              </a:spcAft>
            </a:pPr>
            <a:r>
              <a:rPr sz="2200">
                <a:solidFill>
                  <a:srgbClr val="222B33"/>
                </a:solidFill>
                <a:latin typeface="Calibri"/>
              </a:rPr>
              <a:t>•  RQ2: same mechanisms, steeper in the enclosed Baltic (weak export valve, correlated wind)</a:t>
            </a:r>
          </a:p>
          <a:p>
            <a:pPr>
              <a:spcAft>
                <a:spcPts val="1000"/>
              </a:spcAft>
            </a:pPr>
            <a:r>
              <a:rPr sz="2200">
                <a:solidFill>
                  <a:srgbClr val="222B33"/>
                </a:solidFill>
                <a:latin typeface="Calibri"/>
              </a:rPr>
              <a:t>•  RQ3: regression measures and explains; PyPSA carries the far future; the triangle validates the hand-off</a:t>
            </a:r>
          </a:p>
          <a:p>
            <a:pPr>
              <a:spcAft>
                <a:spcPts val="1000"/>
              </a:spcAft>
            </a:pPr>
            <a:r>
              <a:rPr sz="2200">
                <a:solidFill>
                  <a:srgbClr val="222B33"/>
                </a:solidFill>
                <a:latin typeface="Calibri"/>
              </a:rPr>
              <a:t>•  Economics: the value-adjusted LCOE RISES despite cheaper turbines; interconnection lowers the Baltic's by EUR 33/MWh, worth ~EUR 1.2 bn/yr</a:t>
            </a:r>
          </a:p>
          <a:p>
            <a:pPr>
              <a:spcAft>
                <a:spcPts val="1000"/>
              </a:spcAft>
            </a:pPr>
            <a:r>
              <a:rPr sz="2200">
                <a:solidFill>
                  <a:srgbClr val="222B33"/>
                </a:solidFill>
                <a:latin typeface="Calibri"/>
              </a:rPr>
              <a:t>•  Policy: interconnection is THE lever, it decides whether the Baltic erodes or thrives; subsidy design must price the structural fall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Conclusion</a:t>
            </a:r>
          </a:p>
        </p:txBody>
      </p:sp>
      <p:sp>
        <p:nvSpPr>
          <p:cNvPr id="3" name="TextBox 2"/>
          <p:cNvSpPr txBox="1"/>
          <p:nvPr/>
        </p:nvSpPr>
        <p:spPr>
          <a:xfrm>
            <a:off x="777240" y="1508760"/>
            <a:ext cx="10607040" cy="4754880"/>
          </a:xfrm>
          <a:prstGeom prst="rect">
            <a:avLst/>
          </a:prstGeom>
          <a:noFill/>
        </p:spPr>
        <p:txBody>
          <a:bodyPr wrap="square">
            <a:spAutoFit/>
          </a:bodyPr>
          <a:lstStyle/>
          <a:p>
            <a:pPr>
              <a:spcAft>
                <a:spcPts val="1000"/>
              </a:spcAft>
            </a:pPr>
            <a:r>
              <a:rPr sz="2200">
                <a:solidFill>
                  <a:srgbClr val="222B33"/>
                </a:solidFill>
                <a:latin typeface="Calibri"/>
              </a:rPr>
              <a:t>•  The enclosed Baltic does not start behind, but on today's grid the buildout cannibalises it faster</a:t>
            </a:r>
          </a:p>
          <a:p>
            <a:pPr>
              <a:spcAft>
                <a:spcPts val="1000"/>
              </a:spcAft>
            </a:pPr>
            <a:r>
              <a:rPr sz="2200">
                <a:solidFill>
                  <a:srgbClr val="222B33"/>
                </a:solidFill>
                <a:latin typeface="Calibri"/>
              </a:rPr>
              <a:t>•  Build the grid and it reverses: the Baltic recovers above the North Sea, and the erosion is a policy choice, not fate</a:t>
            </a:r>
          </a:p>
          <a:p>
            <a:pPr>
              <a:spcAft>
                <a:spcPts val="1000"/>
              </a:spcAft>
            </a:pPr>
            <a:r>
              <a:rPr sz="2200">
                <a:solidFill>
                  <a:srgbClr val="222B33"/>
                </a:solidFill>
                <a:latin typeface="Calibri"/>
              </a:rPr>
              <a:t>•  New metric, the value-adjusted LCOE, rises despite cheaper turbines; interconnection lowers the Baltic's most (EUR 33/MWh, ~EUR 1.2 bn/yr)</a:t>
            </a:r>
          </a:p>
          <a:p>
            <a:pPr>
              <a:spcAft>
                <a:spcPts val="1000"/>
              </a:spcAft>
            </a:pPr>
            <a:r>
              <a:rPr sz="2200">
                <a:solidFill>
                  <a:srgbClr val="222B33"/>
                </a:solidFill>
                <a:latin typeface="Calibri"/>
              </a:rPr>
              <a:t>•  Contribution: two validated instruments, a proven hand-off, a value-adjusted cost map, on open data  ·  Thank you · questions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2900" b="1">
                <a:solidFill>
                  <a:srgbClr val="14293D"/>
                </a:solidFill>
                <a:latin typeface="Calibri"/>
              </a:rPr>
              <a:t>Who bears the loss? Congestion is compensated, oversupply is not</a:t>
            </a:r>
          </a:p>
        </p:txBody>
      </p:sp>
      <p:sp>
        <p:nvSpPr>
          <p:cNvPr id="3" name="TextBox 2"/>
          <p:cNvSpPr txBox="1"/>
          <p:nvPr/>
        </p:nvSpPr>
        <p:spPr>
          <a:xfrm>
            <a:off x="594360" y="1097280"/>
            <a:ext cx="10972800" cy="1051560"/>
          </a:xfrm>
          <a:prstGeom prst="rect">
            <a:avLst/>
          </a:prstGeom>
          <a:noFill/>
        </p:spPr>
        <p:txBody>
          <a:bodyPr wrap="square">
            <a:spAutoFit/>
          </a:bodyPr>
          <a:lstStyle/>
          <a:p>
            <a:pPr>
              <a:spcAft>
                <a:spcPts val="1000"/>
              </a:spcAft>
            </a:pPr>
            <a:r>
              <a:rPr sz="1600">
                <a:solidFill>
                  <a:srgbClr val="222B33"/>
                </a:solidFill>
                <a:latin typeface="Calibri"/>
              </a:rPr>
              <a:t>•  A CfD tops up any positive price but pays nothing at zero, so the money turns on the price LEVEL, not the cause of the loss</a:t>
            </a:r>
          </a:p>
          <a:p>
            <a:pPr>
              <a:spcAft>
                <a:spcPts val="1000"/>
              </a:spcAft>
            </a:pPr>
            <a:r>
              <a:rPr sz="1600">
                <a:solidFill>
                  <a:srgbClr val="222B33"/>
                </a:solidFill>
                <a:latin typeface="Calibri"/>
              </a:rPr>
              <a:t>•  Frozen grid: 65% of the Baltic's fall is depressed-but-paid (state carries it); the North Sea's is all zero-price (farm does)</a:t>
            </a:r>
          </a:p>
          <a:p>
            <a:pPr>
              <a:spcAft>
                <a:spcPts val="1000"/>
              </a:spcAft>
            </a:pPr>
            <a:r>
              <a:rPr sz="1600">
                <a:solidFill>
                  <a:srgbClr val="222B33"/>
                </a:solidFill>
                <a:latin typeface="Calibri"/>
              </a:rPr>
              <a:t>•  Same-looking erosion, opposite bearer: the Baltic's is fiscal, the North Sea's is investor-borne</a:t>
            </a:r>
          </a:p>
          <a:p>
            <a:pPr>
              <a:spcAft>
                <a:spcPts val="1000"/>
              </a:spcAft>
            </a:pPr>
            <a:r>
              <a:rPr sz="1600">
                <a:solidFill>
                  <a:srgbClr val="222B33"/>
                </a:solidFill>
                <a:latin typeface="Calibri"/>
              </a:rPr>
              <a:t>•  Build the grid and both converge to ~99% farm-borne: it removes the depression but hands the rest to the investor</a:t>
            </a:r>
          </a:p>
        </p:txBody>
      </p:sp>
      <p:pic>
        <p:nvPicPr>
          <p:cNvPr id="4" name="Picture 3" descr="fig_whopays_decomposition.png"/>
          <p:cNvPicPr>
            <a:picLocks noChangeAspect="1"/>
          </p:cNvPicPr>
          <p:nvPr/>
        </p:nvPicPr>
        <p:blipFill>
          <a:blip r:embed="rId2"/>
          <a:stretch>
            <a:fillRect/>
          </a:stretch>
        </p:blipFill>
        <p:spPr>
          <a:xfrm>
            <a:off x="2679192" y="2889504"/>
            <a:ext cx="6830568" cy="36393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12591</TotalTime>
  <Words>5309</Words>
  <Application>Microsoft Macintosh PowerPoint</Application>
  <PresentationFormat>Widescreen</PresentationFormat>
  <Paragraphs>281</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Bindakhil, Faisal M A</cp:lastModifiedBy>
  <cp:revision>5</cp:revision>
  <dcterms:created xsi:type="dcterms:W3CDTF">2013-01-27T09:14:16Z</dcterms:created>
  <dcterms:modified xsi:type="dcterms:W3CDTF">2026-07-05T10:38:17Z</dcterms:modified>
  <cp:category/>
</cp:coreProperties>
</file>