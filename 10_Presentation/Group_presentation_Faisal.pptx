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Europe's offshore wind sits in two seas. Every filled shape is an operating wind farm and every dashed outline is a planned one. The mechanism behind my work is simple. Farms in one sea generate in the same hours, so when they produce the price falls for all of them. The share of the average market price a farm receives is its capture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North Sea first. One hundred and thirty operating farms, thirty-six gigawatts. The near-shore sites are taken: farms built since 2019 sit forty-five kilometres from shore on average, against thirteen for farms built before 2012. And the share of the price they capture keeps falling, from 0.95 in 2017 to 0.87 in 2024.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Baltic. Eighteen operating farms, six gigawatts, a sixth of the North Sea, but ninety-nine gigawatts approved or planned and ninety-three gigawatts of technical potential in shallow water with strong winds. Today its farms capture the same share of the market price as North Sea farms, at a tenth of the buildout.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splits in two: how do the two seas compare today and once the fleet is built, and what causes the loss and how much can be avoided. The first needs the observed record, the second needs a market I can rebuild under a grid that does not yet exist. So there are two models. Both take ERA5 weather. The statistical model learns from eight years of ENTSO-E prices at 31 farms and is the right tool for today. The power-system model, PyPSA-Eur, rebuilds the market from plants, grid and demand under the official scenarios and is the right tool for 2040, because I can run it under two grids. Both reproduce 2023 within half a percentage point, and both produce the same output, capture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result. Today both seas capture 0.88 of the average price. By 2040 with the planned fleet and today's grid the North Sea falls to 0.57 and the Baltic to 0.47, almost half its value. About half of the Baltic loss is congestion in the grid. Expand the grid and the Baltic recovers to 0.66, level with the North Sea.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maps, one idea. LCOE is what it costs to produce a megawatt hour. Capture value is the share of the market price you receive for it. Divide one by the other and you get the price a farm must earn on average to break even, the value-adjusted LCOE. By 2040 the median site is cheaper to build, 66 euros, down from 74, yet its break-even price rises to 121, up from 87, because capture value falls faster than cost.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break-even price across the sea in 2040 with today's grid. In 2040 the median site needs 121 euros per megawatt hour to break even, and less than one per cent of the seabed clears seventy. The central Baltic is the most exposed part of the region.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expand the transmission. Same wind, same farms, same year. The Baltic break-even price falls by 33 euros per megawatt hour, and Polish and Danish waters drop below seventy. The extra loss the Baltic suffers comes from congestion in the grid, and transmission removes it. Cannibalisation is a design outcome.</a:t>
            </a:r>
          </a:p>
          <a:p/>
          <a:p>
            <a:r>
              <a:t>Handover: my work tells you what price the market will pay a developer and how uncertain that price is. Markos takes that price risk into the contracting decision: how much of a farm's output to sell forward under a PPA and how much to leave to the market.</a:t>
            </a:r>
          </a:p>
          <a:p/>
          <a:p>
            <a:r>
              <a:t>Ask me about: who pays for the lost value under CfDs (the grid moves the exposure onto investors, from 18.5 to 33 per cent of hours); whether congestion rent of 4 to 12 billion euros a year can fund a 2.7 billion a year grid; why the dispatch model overshoots in DK2 while the regression does not.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ack"/>
          <p:cNvSpPr txBox="1"/>
          <p:nvPr/>
        </p:nvSpPr>
        <p:spPr>
          <a:xfrm>
            <a:off x="457200" y="164592"/>
            <a:ext cx="9144000" cy="274320"/>
          </a:xfrm>
          <a:prstGeom prst="rect">
            <a:avLst/>
          </a:prstGeom>
          <a:noFill/>
        </p:spPr>
        <p:txBody>
          <a:bodyPr wrap="square" lIns="0" rIns="0" tIns="0" bIns="0" anchor="t">
            <a:spAutoFit/>
          </a:bodyPr>
          <a:lstStyle/>
          <a:p>
            <a:pPr algn="l">
              <a:spcAft>
                <a:spcPts val="0"/>
              </a:spcAft>
            </a:pPr>
            <a:r>
              <a:rPr sz="1200" b="1" i="0">
                <a:solidFill>
                  <a:srgbClr val="0000CD"/>
                </a:solidFill>
                <a:latin typeface="Arial"/>
              </a:rPr>
              <a:t>Background</a:t>
            </a:r>
            <a:r>
              <a:rPr sz="1200" b="0" i="0">
                <a:solidFill>
                  <a:srgbClr val="BFBFBF"/>
                </a:solidFill>
                <a:latin typeface="Arial"/>
              </a:rPr>
              <a:t>   ›   </a:t>
            </a:r>
            <a:r>
              <a:rPr sz="1200" b="0" i="0">
                <a:solidFill>
                  <a:srgbClr val="595959"/>
                </a:solidFill>
                <a:latin typeface="Arial"/>
              </a:rPr>
              <a:t>Question and method</a:t>
            </a:r>
            <a:r>
              <a:rPr sz="1200" b="0" i="0">
                <a:solidFill>
                  <a:srgbClr val="BFBFBF"/>
                </a:solidFill>
                <a:latin typeface="Arial"/>
              </a:rPr>
              <a:t>   ›   </a:t>
            </a:r>
            <a:r>
              <a:rPr sz="1200" b="0" i="0">
                <a:solidFill>
                  <a:srgbClr val="595959"/>
                </a:solidFill>
                <a:latin typeface="Arial"/>
              </a:rPr>
              <a:t>Results</a:t>
            </a:r>
            <a:r>
              <a:rPr sz="1200" b="0" i="0">
                <a:solidFill>
                  <a:srgbClr val="BFBFBF"/>
                </a:solidFill>
                <a:latin typeface="Arial"/>
              </a:rPr>
              <a:t>   ›   </a:t>
            </a:r>
            <a:r>
              <a:rPr sz="1200" b="0" i="0">
                <a:solidFill>
                  <a:srgbClr val="595959"/>
                </a:solidFill>
                <a:latin typeface="Arial"/>
              </a:rPr>
              <a:t>Conclusion</a:t>
            </a:r>
          </a:p>
        </p:txBody>
      </p:sp>
      <p:sp>
        <p:nvSpPr>
          <p:cNvPr id="3" name="!!title"/>
          <p:cNvSpPr txBox="1"/>
          <p:nvPr/>
        </p:nvSpPr>
        <p:spPr>
          <a:xfrm>
            <a:off x="457200" y="384048"/>
            <a:ext cx="10424160" cy="914400"/>
          </a:xfrm>
          <a:prstGeom prst="rect">
            <a:avLst/>
          </a:prstGeom>
          <a:noFill/>
        </p:spPr>
        <p:txBody>
          <a:bodyPr wrap="square" lIns="0" rIns="0" tIns="0" bIns="0" anchor="t">
            <a:spAutoFit/>
          </a:bodyPr>
          <a:lstStyle/>
          <a:p>
            <a:pPr algn="l">
              <a:spcAft>
                <a:spcPts val="0"/>
              </a:spcAft>
            </a:pPr>
            <a:r>
              <a:rPr sz="2800" b="1" i="0">
                <a:solidFill>
                  <a:srgbClr val="0000CD"/>
                </a:solidFill>
                <a:latin typeface="Arial"/>
              </a:rPr>
              <a:t>Europe's offshore wind sits in a crowded North Sea and an almost empty Baltic</a:t>
            </a:r>
          </a:p>
        </p:txBody>
      </p:sp>
      <p:pic>
        <p:nvPicPr>
          <p:cNvPr id="4" name="!!crest" descr="Imperial_College_London_crest.png"/>
          <p:cNvPicPr>
            <a:picLocks noChangeAspect="1"/>
          </p:cNvPicPr>
          <p:nvPr/>
        </p:nvPicPr>
        <p:blipFill>
          <a:blip r:embed="rId2"/>
          <a:stretch>
            <a:fillRect/>
          </a:stretch>
        </p:blipFill>
        <p:spPr>
          <a:xfrm>
            <a:off x="11155680" y="274320"/>
            <a:ext cx="566928" cy="607280"/>
          </a:xfrm>
          <a:prstGeom prst="rect">
            <a:avLst/>
          </a:prstGeom>
          <a:ln>
            <a:noFill/>
          </a:ln>
        </p:spPr>
      </p:pic>
      <p:sp>
        <p:nvSpPr>
          <p:cNvPr id="5" name="!!source"/>
          <p:cNvSpPr txBox="1"/>
          <p:nvPr/>
        </p:nvSpPr>
        <p:spPr>
          <a:xfrm>
            <a:off x="457200" y="6053328"/>
            <a:ext cx="8686800" cy="256032"/>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Source: EMODnet wind-farm dataset, 2026 update. ENTSO-E. Own analysis.</a:t>
            </a:r>
          </a:p>
        </p:txBody>
      </p:sp>
      <p:cxnSp>
        <p:nvCxnSpPr>
          <p:cNvPr id="6" name="!!footrule"/>
          <p:cNvCxnSpPr/>
          <p:nvPr/>
        </p:nvCxnSpPr>
        <p:spPr>
          <a:xfrm>
            <a:off x="457200" y="6336792"/>
            <a:ext cx="11274552"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footer"/>
          <p:cNvSpPr txBox="1"/>
          <p:nvPr/>
        </p:nvSpPr>
        <p:spPr>
          <a:xfrm>
            <a:off x="457200" y="6400800"/>
            <a:ext cx="82296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Faisal Bindakhil  |  MSc Thesis  |  Offshore wind cannibalisation in the Baltic and North Sea</a:t>
            </a:r>
          </a:p>
        </p:txBody>
      </p:sp>
      <p:sp>
        <p:nvSpPr>
          <p:cNvPr id="8" name="!!pageno"/>
          <p:cNvSpPr txBox="1"/>
          <p:nvPr/>
        </p:nvSpPr>
        <p:spPr>
          <a:xfrm>
            <a:off x="10332720" y="6400800"/>
            <a:ext cx="1399032" cy="274320"/>
          </a:xfrm>
          <a:prstGeom prst="rect">
            <a:avLst/>
          </a:prstGeom>
          <a:noFill/>
        </p:spPr>
        <p:txBody>
          <a:bodyPr wrap="square" lIns="0" rIns="0" tIns="0" bIns="0" anchor="t">
            <a:spAutoFit/>
          </a:bodyPr>
          <a:lstStyle/>
          <a:p>
            <a:pPr algn="r">
              <a:spcAft>
                <a:spcPts val="0"/>
              </a:spcAft>
            </a:pPr>
            <a:r>
              <a:rPr sz="1200" b="0" i="0">
                <a:solidFill>
                  <a:srgbClr val="595959"/>
                </a:solidFill>
                <a:latin typeface="Arial"/>
              </a:rPr>
              <a:t>1 / 8</a:t>
            </a:r>
          </a:p>
        </p:txBody>
      </p:sp>
      <p:pic>
        <p:nvPicPr>
          <p:cNvPr id="9" name="!!seamap" descr="europe_map_rgb.png"/>
          <p:cNvPicPr>
            <a:picLocks noChangeAspect="1"/>
          </p:cNvPicPr>
          <p:nvPr/>
        </p:nvPicPr>
        <p:blipFill>
          <a:blip r:embed="rId3"/>
          <a:srcRect l="2174" t="17323" b="14221"/>
          <a:stretch>
            <a:fillRect/>
          </a:stretch>
        </p:blipFill>
        <p:spPr>
          <a:xfrm>
            <a:off x="875103" y="1325880"/>
            <a:ext cx="10441487" cy="4617720"/>
          </a:xfrm>
          <a:prstGeom prst="rect">
            <a:avLst/>
          </a:prstGeom>
          <a:ln w="6350">
            <a:solidFill>
              <a:srgbClr val="BFBFBF"/>
            </a:solidFill>
          </a:ln>
        </p:spPr>
      </p:pic>
      <p:sp>
        <p:nvSpPr>
          <p:cNvPr id="10" name="!!lgback"/>
          <p:cNvSpPr/>
          <p:nvPr/>
        </p:nvSpPr>
        <p:spPr>
          <a:xfrm>
            <a:off x="922196" y="1453411"/>
            <a:ext cx="2971800" cy="1600200"/>
          </a:xfrm>
          <a:prstGeom prst="rect">
            <a:avLst/>
          </a:prstGeom>
          <a:solidFill>
            <a:srgbClr val="FFFF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g1"/>
          <p:cNvSpPr/>
          <p:nvPr/>
        </p:nvSpPr>
        <p:spPr>
          <a:xfrm>
            <a:off x="1059356" y="1599715"/>
            <a:ext cx="219456" cy="219456"/>
          </a:xfrm>
          <a:prstGeom prst="rect">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g1t"/>
          <p:cNvSpPr txBox="1"/>
          <p:nvPr/>
        </p:nvSpPr>
        <p:spPr>
          <a:xfrm>
            <a:off x="1370252" y="1563139"/>
            <a:ext cx="1828800" cy="320040"/>
          </a:xfrm>
          <a:prstGeom prst="rect">
            <a:avLst/>
          </a:prstGeom>
          <a:noFill/>
        </p:spPr>
        <p:txBody>
          <a:bodyPr wrap="square" lIns="0" rIns="0" tIns="0" bIns="0" anchor="t">
            <a:spAutoFit/>
          </a:bodyPr>
          <a:lstStyle/>
          <a:p>
            <a:pPr algn="l">
              <a:spcAft>
                <a:spcPts val="0"/>
              </a:spcAft>
            </a:pPr>
            <a:r>
              <a:rPr sz="1600" b="0" i="0">
                <a:solidFill>
                  <a:srgbClr val="1A1A1A"/>
                </a:solidFill>
                <a:latin typeface="Arial"/>
              </a:rPr>
              <a:t>operating</a:t>
            </a:r>
          </a:p>
        </p:txBody>
      </p:sp>
      <p:sp>
        <p:nvSpPr>
          <p:cNvPr id="13" name="!!lg2"/>
          <p:cNvSpPr/>
          <p:nvPr/>
        </p:nvSpPr>
        <p:spPr>
          <a:xfrm>
            <a:off x="1059356" y="1965475"/>
            <a:ext cx="219456" cy="219456"/>
          </a:xfrm>
          <a:prstGeom prst="rect">
            <a:avLst/>
          </a:prstGeom>
          <a:solidFill>
            <a:srgbClr val="808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lg2t"/>
          <p:cNvSpPr txBox="1"/>
          <p:nvPr/>
        </p:nvSpPr>
        <p:spPr>
          <a:xfrm>
            <a:off x="1370252" y="1928899"/>
            <a:ext cx="2377440" cy="320040"/>
          </a:xfrm>
          <a:prstGeom prst="rect">
            <a:avLst/>
          </a:prstGeom>
          <a:noFill/>
        </p:spPr>
        <p:txBody>
          <a:bodyPr wrap="square" lIns="0" rIns="0" tIns="0" bIns="0" anchor="t">
            <a:spAutoFit/>
          </a:bodyPr>
          <a:lstStyle/>
          <a:p>
            <a:pPr algn="l">
              <a:spcAft>
                <a:spcPts val="0"/>
              </a:spcAft>
            </a:pPr>
            <a:r>
              <a:rPr sz="1600" b="0" i="0">
                <a:solidFill>
                  <a:srgbClr val="1A1A1A"/>
                </a:solidFill>
                <a:latin typeface="Arial"/>
              </a:rPr>
              <a:t>approved or building</a:t>
            </a:r>
          </a:p>
        </p:txBody>
      </p:sp>
      <p:sp>
        <p:nvSpPr>
          <p:cNvPr id="15" name="!!lg3"/>
          <p:cNvSpPr/>
          <p:nvPr/>
        </p:nvSpPr>
        <p:spPr>
          <a:xfrm>
            <a:off x="1059356" y="2331235"/>
            <a:ext cx="219456" cy="219456"/>
          </a:xfrm>
          <a:prstGeom prst="rect">
            <a:avLst/>
          </a:prstGeom>
          <a:noFill/>
          <a:ln w="9525">
            <a:solidFill>
              <a:srgbClr val="0000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g3t"/>
          <p:cNvSpPr txBox="1"/>
          <p:nvPr/>
        </p:nvSpPr>
        <p:spPr>
          <a:xfrm>
            <a:off x="1370252" y="2294659"/>
            <a:ext cx="1828800" cy="320040"/>
          </a:xfrm>
          <a:prstGeom prst="rect">
            <a:avLst/>
          </a:prstGeom>
          <a:noFill/>
        </p:spPr>
        <p:txBody>
          <a:bodyPr wrap="square" lIns="0" rIns="0" tIns="0" bIns="0" anchor="t">
            <a:spAutoFit/>
          </a:bodyPr>
          <a:lstStyle/>
          <a:p>
            <a:pPr algn="l">
              <a:spcAft>
                <a:spcPts val="0"/>
              </a:spcAft>
            </a:pPr>
            <a:r>
              <a:rPr sz="1600" b="0" i="0">
                <a:solidFill>
                  <a:srgbClr val="1A1A1A"/>
                </a:solidFill>
                <a:latin typeface="Arial"/>
              </a:rPr>
              <a:t>planned</a:t>
            </a:r>
          </a:p>
        </p:txBody>
      </p:sp>
      <p:sp>
        <p:nvSpPr>
          <p:cNvPr id="17" name="!!lg4"/>
          <p:cNvSpPr/>
          <p:nvPr/>
        </p:nvSpPr>
        <p:spPr>
          <a:xfrm>
            <a:off x="1059356" y="2696995"/>
            <a:ext cx="219456" cy="219456"/>
          </a:xfrm>
          <a:prstGeom prst="ellipse">
            <a:avLst/>
          </a:prstGeom>
          <a:solidFill>
            <a:srgbClr val="FFFFFF"/>
          </a:solidFill>
          <a:ln w="19050">
            <a:solidFill>
              <a:srgbClr val="FF45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lg4t"/>
          <p:cNvSpPr txBox="1"/>
          <p:nvPr/>
        </p:nvSpPr>
        <p:spPr>
          <a:xfrm>
            <a:off x="1370252" y="2660419"/>
            <a:ext cx="2377440" cy="320040"/>
          </a:xfrm>
          <a:prstGeom prst="rect">
            <a:avLst/>
          </a:prstGeom>
          <a:noFill/>
        </p:spPr>
        <p:txBody>
          <a:bodyPr wrap="square" lIns="0" rIns="0" tIns="0" bIns="0" anchor="t">
            <a:spAutoFit/>
          </a:bodyPr>
          <a:lstStyle/>
          <a:p>
            <a:pPr algn="l">
              <a:spcAft>
                <a:spcPts val="0"/>
              </a:spcAft>
            </a:pPr>
            <a:r>
              <a:rPr sz="1600" b="0" i="0">
                <a:solidFill>
                  <a:srgbClr val="1A1A1A"/>
                </a:solidFill>
                <a:latin typeface="Arial"/>
              </a:rPr>
              <a:t>one of the 31 study farms</a:t>
            </a:r>
          </a:p>
        </p:txBody>
      </p:sp>
      <p:sp>
        <p:nvSpPr>
          <p:cNvPr id="19" name="TextBox 18"/>
          <p:cNvSpPr txBox="1"/>
          <p:nvPr/>
        </p:nvSpPr>
        <p:spPr>
          <a:xfrm>
            <a:off x="3026286" y="3324287"/>
            <a:ext cx="2194560" cy="365760"/>
          </a:xfrm>
          <a:prstGeom prst="rect">
            <a:avLst/>
          </a:prstGeom>
          <a:noFill/>
        </p:spPr>
        <p:txBody>
          <a:bodyPr wrap="square" lIns="0" rIns="0" tIns="0" bIns="0" anchor="t">
            <a:spAutoFit/>
          </a:bodyPr>
          <a:lstStyle/>
          <a:p>
            <a:pPr algn="ctr">
              <a:spcAft>
                <a:spcPts val="0"/>
              </a:spcAft>
            </a:pPr>
            <a:r>
              <a:rPr sz="2000" b="1" i="0">
                <a:solidFill>
                  <a:srgbClr val="000080"/>
                </a:solidFill>
                <a:latin typeface="Arial"/>
              </a:rPr>
              <a:t>NORTH SEA</a:t>
            </a:r>
          </a:p>
        </p:txBody>
      </p:sp>
      <p:sp>
        <p:nvSpPr>
          <p:cNvPr id="20" name="TextBox 19"/>
          <p:cNvSpPr txBox="1"/>
          <p:nvPr/>
        </p:nvSpPr>
        <p:spPr>
          <a:xfrm>
            <a:off x="7110068" y="3110845"/>
            <a:ext cx="2194560" cy="365760"/>
          </a:xfrm>
          <a:prstGeom prst="rect">
            <a:avLst/>
          </a:prstGeom>
          <a:noFill/>
        </p:spPr>
        <p:txBody>
          <a:bodyPr wrap="square" lIns="0" rIns="0" tIns="0" bIns="0" anchor="t">
            <a:spAutoFit/>
          </a:bodyPr>
          <a:lstStyle/>
          <a:p>
            <a:pPr algn="ctr">
              <a:spcAft>
                <a:spcPts val="0"/>
              </a:spcAft>
            </a:pPr>
            <a:r>
              <a:rPr sz="2000" b="1" i="0">
                <a:solidFill>
                  <a:srgbClr val="FF4500"/>
                </a:solidFill>
                <a:latin typeface="Arial"/>
              </a:rPr>
              <a:t>BALTIC SEA</a:t>
            </a:r>
          </a:p>
        </p:txBody>
      </p:sp>
      <p:sp>
        <p:nvSpPr>
          <p:cNvPr id="21" name="TextBox 20"/>
          <p:cNvSpPr txBox="1"/>
          <p:nvPr/>
        </p:nvSpPr>
        <p:spPr>
          <a:xfrm>
            <a:off x="6513507" y="4731233"/>
            <a:ext cx="4937760" cy="1188720"/>
          </a:xfrm>
          <a:prstGeom prst="rect">
            <a:avLst/>
          </a:prstGeom>
          <a:noFill/>
        </p:spPr>
        <p:txBody>
          <a:bodyPr wrap="square" lIns="0" rIns="0" tIns="0" bIns="0" anchor="t">
            <a:spAutoFit/>
          </a:bodyPr>
          <a:lstStyle/>
          <a:p>
            <a:pPr algn="l">
              <a:spcAft>
                <a:spcPts val="600"/>
              </a:spcAft>
            </a:pPr>
            <a:r>
              <a:rPr sz="2000" b="0" i="0">
                <a:solidFill>
                  <a:srgbClr val="1A1A1A"/>
                </a:solidFill>
                <a:latin typeface="Arial"/>
              </a:rPr>
              <a:t>Farms in one sea generate in the same hours, so the price falls for all of them. Capture value is the share of the average market price a farm receives.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ack"/>
          <p:cNvSpPr txBox="1"/>
          <p:nvPr/>
        </p:nvSpPr>
        <p:spPr>
          <a:xfrm>
            <a:off x="457200" y="164592"/>
            <a:ext cx="9144000" cy="274320"/>
          </a:xfrm>
          <a:prstGeom prst="rect">
            <a:avLst/>
          </a:prstGeom>
          <a:noFill/>
        </p:spPr>
        <p:txBody>
          <a:bodyPr wrap="square" lIns="0" rIns="0" tIns="0" bIns="0" anchor="t">
            <a:spAutoFit/>
          </a:bodyPr>
          <a:lstStyle/>
          <a:p>
            <a:pPr algn="l">
              <a:spcAft>
                <a:spcPts val="0"/>
              </a:spcAft>
            </a:pPr>
            <a:r>
              <a:rPr sz="1200" b="1" i="0">
                <a:solidFill>
                  <a:srgbClr val="0000CD"/>
                </a:solidFill>
                <a:latin typeface="Arial"/>
              </a:rPr>
              <a:t>Background</a:t>
            </a:r>
            <a:r>
              <a:rPr sz="1200" b="0" i="0">
                <a:solidFill>
                  <a:srgbClr val="BFBFBF"/>
                </a:solidFill>
                <a:latin typeface="Arial"/>
              </a:rPr>
              <a:t>   ›   </a:t>
            </a:r>
            <a:r>
              <a:rPr sz="1200" b="0" i="0">
                <a:solidFill>
                  <a:srgbClr val="595959"/>
                </a:solidFill>
                <a:latin typeface="Arial"/>
              </a:rPr>
              <a:t>Question and method</a:t>
            </a:r>
            <a:r>
              <a:rPr sz="1200" b="0" i="0">
                <a:solidFill>
                  <a:srgbClr val="BFBFBF"/>
                </a:solidFill>
                <a:latin typeface="Arial"/>
              </a:rPr>
              <a:t>   ›   </a:t>
            </a:r>
            <a:r>
              <a:rPr sz="1200" b="0" i="0">
                <a:solidFill>
                  <a:srgbClr val="595959"/>
                </a:solidFill>
                <a:latin typeface="Arial"/>
              </a:rPr>
              <a:t>Results</a:t>
            </a:r>
            <a:r>
              <a:rPr sz="1200" b="0" i="0">
                <a:solidFill>
                  <a:srgbClr val="BFBFBF"/>
                </a:solidFill>
                <a:latin typeface="Arial"/>
              </a:rPr>
              <a:t>   ›   </a:t>
            </a:r>
            <a:r>
              <a:rPr sz="1200" b="0" i="0">
                <a:solidFill>
                  <a:srgbClr val="595959"/>
                </a:solidFill>
                <a:latin typeface="Arial"/>
              </a:rPr>
              <a:t>Conclusion</a:t>
            </a:r>
          </a:p>
        </p:txBody>
      </p:sp>
      <p:sp>
        <p:nvSpPr>
          <p:cNvPr id="3" name="!!title"/>
          <p:cNvSpPr txBox="1"/>
          <p:nvPr/>
        </p:nvSpPr>
        <p:spPr>
          <a:xfrm>
            <a:off x="457200" y="384048"/>
            <a:ext cx="10424160" cy="914400"/>
          </a:xfrm>
          <a:prstGeom prst="rect">
            <a:avLst/>
          </a:prstGeom>
          <a:noFill/>
        </p:spPr>
        <p:txBody>
          <a:bodyPr wrap="square" lIns="0" rIns="0" tIns="0" bIns="0" anchor="t">
            <a:spAutoFit/>
          </a:bodyPr>
          <a:lstStyle/>
          <a:p>
            <a:pPr algn="l">
              <a:spcAft>
                <a:spcPts val="0"/>
              </a:spcAft>
            </a:pPr>
            <a:r>
              <a:rPr sz="2800" b="1" i="0">
                <a:solidFill>
                  <a:srgbClr val="0000CD"/>
                </a:solidFill>
                <a:latin typeface="Arial"/>
              </a:rPr>
              <a:t>North Sea farms are being pushed offshore and capture a falling share of the price</a:t>
            </a:r>
          </a:p>
        </p:txBody>
      </p:sp>
      <p:pic>
        <p:nvPicPr>
          <p:cNvPr id="4" name="!!crest" descr="Imperial_College_London_crest.png"/>
          <p:cNvPicPr>
            <a:picLocks noChangeAspect="1"/>
          </p:cNvPicPr>
          <p:nvPr/>
        </p:nvPicPr>
        <p:blipFill>
          <a:blip r:embed="rId2"/>
          <a:stretch>
            <a:fillRect/>
          </a:stretch>
        </p:blipFill>
        <p:spPr>
          <a:xfrm>
            <a:off x="11155680" y="274320"/>
            <a:ext cx="566928" cy="607280"/>
          </a:xfrm>
          <a:prstGeom prst="rect">
            <a:avLst/>
          </a:prstGeom>
          <a:ln>
            <a:noFill/>
          </a:ln>
        </p:spPr>
      </p:pic>
      <p:sp>
        <p:nvSpPr>
          <p:cNvPr id="5" name="!!source"/>
          <p:cNvSpPr txBox="1"/>
          <p:nvPr/>
        </p:nvSpPr>
        <p:spPr>
          <a:xfrm>
            <a:off x="457200" y="6053328"/>
            <a:ext cx="8686800" cy="256032"/>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Source: EMODnet wind-farm dataset, 2026 update, operating farms with a known commissioning year. ENTSO-E. Own analysis.</a:t>
            </a:r>
          </a:p>
        </p:txBody>
      </p:sp>
      <p:cxnSp>
        <p:nvCxnSpPr>
          <p:cNvPr id="6" name="!!footrule"/>
          <p:cNvCxnSpPr/>
          <p:nvPr/>
        </p:nvCxnSpPr>
        <p:spPr>
          <a:xfrm>
            <a:off x="457200" y="6336792"/>
            <a:ext cx="11274552"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footer"/>
          <p:cNvSpPr txBox="1"/>
          <p:nvPr/>
        </p:nvSpPr>
        <p:spPr>
          <a:xfrm>
            <a:off x="457200" y="6400800"/>
            <a:ext cx="82296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Faisal Bindakhil  |  MSc Thesis  |  Offshore wind cannibalisation in the Baltic and North Sea</a:t>
            </a:r>
          </a:p>
        </p:txBody>
      </p:sp>
      <p:sp>
        <p:nvSpPr>
          <p:cNvPr id="8" name="!!pageno"/>
          <p:cNvSpPr txBox="1"/>
          <p:nvPr/>
        </p:nvSpPr>
        <p:spPr>
          <a:xfrm>
            <a:off x="10332720" y="6400800"/>
            <a:ext cx="1399032" cy="274320"/>
          </a:xfrm>
          <a:prstGeom prst="rect">
            <a:avLst/>
          </a:prstGeom>
          <a:noFill/>
        </p:spPr>
        <p:txBody>
          <a:bodyPr wrap="square" lIns="0" rIns="0" tIns="0" bIns="0" anchor="t">
            <a:spAutoFit/>
          </a:bodyPr>
          <a:lstStyle/>
          <a:p>
            <a:pPr algn="r">
              <a:spcAft>
                <a:spcPts val="0"/>
              </a:spcAft>
            </a:pPr>
            <a:r>
              <a:rPr sz="1200" b="0" i="0">
                <a:solidFill>
                  <a:srgbClr val="595959"/>
                </a:solidFill>
                <a:latin typeface="Arial"/>
              </a:rPr>
              <a:t>2 / 8</a:t>
            </a:r>
          </a:p>
        </p:txBody>
      </p:sp>
      <p:pic>
        <p:nvPicPr>
          <p:cNvPr id="9" name="!!seamap" descr="europe_map_rgb.png"/>
          <p:cNvPicPr>
            <a:picLocks noChangeAspect="1"/>
          </p:cNvPicPr>
          <p:nvPr/>
        </p:nvPicPr>
        <p:blipFill>
          <a:blip r:embed="rId3"/>
          <a:srcRect l="13043" r="39130" t="50924" b="15851"/>
          <a:stretch>
            <a:fillRect/>
          </a:stretch>
        </p:blipFill>
        <p:spPr>
          <a:xfrm>
            <a:off x="837042" y="1325880"/>
            <a:ext cx="10517610" cy="4617720"/>
          </a:xfrm>
          <a:prstGeom prst="rect">
            <a:avLst/>
          </a:prstGeom>
          <a:ln w="6350">
            <a:solidFill>
              <a:srgbClr val="BFBFBF"/>
            </a:solidFill>
          </a:ln>
        </p:spPr>
      </p:pic>
      <p:sp>
        <p:nvSpPr>
          <p:cNvPr id="10" name="TextBox 9"/>
          <p:cNvSpPr txBox="1"/>
          <p:nvPr/>
        </p:nvSpPr>
        <p:spPr>
          <a:xfrm>
            <a:off x="2319069" y="4670118"/>
            <a:ext cx="2834640" cy="822960"/>
          </a:xfrm>
          <a:prstGeom prst="rect">
            <a:avLst/>
          </a:prstGeom>
          <a:noFill/>
        </p:spPr>
        <p:txBody>
          <a:bodyPr wrap="square" lIns="0" rIns="0" tIns="0" bIns="0" anchor="t">
            <a:spAutoFit/>
          </a:bodyPr>
          <a:lstStyle/>
          <a:p>
            <a:pPr algn="l">
              <a:spcAft>
                <a:spcPts val="0"/>
              </a:spcAft>
            </a:pPr>
            <a:r>
              <a:rPr sz="2000" b="1" i="0">
                <a:solidFill>
                  <a:srgbClr val="000080"/>
                </a:solidFill>
                <a:latin typeface="Arial"/>
              </a:rPr>
              <a:t>130 farms and 36 GW</a:t>
            </a:r>
          </a:p>
          <a:p>
            <a:pPr algn="l">
              <a:spcAft>
                <a:spcPts val="0"/>
              </a:spcAft>
            </a:pPr>
            <a:r>
              <a:rPr sz="2000" b="1" i="0">
                <a:solidFill>
                  <a:srgbClr val="000080"/>
                </a:solidFill>
                <a:latin typeface="Arial"/>
              </a:rPr>
              <a:t>operate here today.</a:t>
            </a:r>
          </a:p>
        </p:txBody>
      </p:sp>
      <p:sp>
        <p:nvSpPr>
          <p:cNvPr id="11" name="TextBox 10"/>
          <p:cNvSpPr txBox="1"/>
          <p:nvPr/>
        </p:nvSpPr>
        <p:spPr>
          <a:xfrm>
            <a:off x="7625681" y="4155258"/>
            <a:ext cx="4206240" cy="1737360"/>
          </a:xfrm>
          <a:prstGeom prst="rect">
            <a:avLst/>
          </a:prstGeom>
          <a:noFill/>
        </p:spPr>
        <p:txBody>
          <a:bodyPr wrap="square" lIns="0" rIns="0" tIns="0" bIns="0" anchor="t">
            <a:spAutoFit/>
          </a:bodyPr>
          <a:lstStyle/>
          <a:p>
            <a:pPr algn="l">
              <a:spcAft>
                <a:spcPts val="600"/>
              </a:spcAft>
            </a:pPr>
            <a:r>
              <a:rPr sz="2000" b="0" i="0">
                <a:solidFill>
                  <a:srgbClr val="1A1A1A"/>
                </a:solidFill>
                <a:latin typeface="Arial"/>
              </a:rPr>
              <a:t>New farms sit 45 km offshore on average. Farms from before 2012 sat 13 km out. Farms captured 0.87 of the average price in 2024, down from 0.95 in 2017.</a:t>
            </a:r>
          </a:p>
        </p:txBody>
      </p:sp>
    </p:spTree>
  </p:cSld>
  <p:clrMapOvr>
    <a:masterClrMapping/>
  </p:clrMapOvr>
  <mc:AlternateContent xmlns:mc="http://schemas.openxmlformats.org/markup-compatibility/2006">
    <mc:Choice xmlns:p14="http://schemas.microsoft.com/office/powerpoint/2010/main" Requires="p14">
      <p:transition spd="slow" p14:dur="2000">
        <p159:morph xmlns:p159="http://schemas.microsoft.com/office/powerpoint/2015/09/main"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ack"/>
          <p:cNvSpPr txBox="1"/>
          <p:nvPr/>
        </p:nvSpPr>
        <p:spPr>
          <a:xfrm>
            <a:off x="457200" y="164592"/>
            <a:ext cx="9144000" cy="274320"/>
          </a:xfrm>
          <a:prstGeom prst="rect">
            <a:avLst/>
          </a:prstGeom>
          <a:noFill/>
        </p:spPr>
        <p:txBody>
          <a:bodyPr wrap="square" lIns="0" rIns="0" tIns="0" bIns="0" anchor="t">
            <a:spAutoFit/>
          </a:bodyPr>
          <a:lstStyle/>
          <a:p>
            <a:pPr algn="l">
              <a:spcAft>
                <a:spcPts val="0"/>
              </a:spcAft>
            </a:pPr>
            <a:r>
              <a:rPr sz="1200" b="1" i="0">
                <a:solidFill>
                  <a:srgbClr val="0000CD"/>
                </a:solidFill>
                <a:latin typeface="Arial"/>
              </a:rPr>
              <a:t>Background</a:t>
            </a:r>
            <a:r>
              <a:rPr sz="1200" b="0" i="0">
                <a:solidFill>
                  <a:srgbClr val="BFBFBF"/>
                </a:solidFill>
                <a:latin typeface="Arial"/>
              </a:rPr>
              <a:t>   ›   </a:t>
            </a:r>
            <a:r>
              <a:rPr sz="1200" b="0" i="0">
                <a:solidFill>
                  <a:srgbClr val="595959"/>
                </a:solidFill>
                <a:latin typeface="Arial"/>
              </a:rPr>
              <a:t>Question and method</a:t>
            </a:r>
            <a:r>
              <a:rPr sz="1200" b="0" i="0">
                <a:solidFill>
                  <a:srgbClr val="BFBFBF"/>
                </a:solidFill>
                <a:latin typeface="Arial"/>
              </a:rPr>
              <a:t>   ›   </a:t>
            </a:r>
            <a:r>
              <a:rPr sz="1200" b="0" i="0">
                <a:solidFill>
                  <a:srgbClr val="595959"/>
                </a:solidFill>
                <a:latin typeface="Arial"/>
              </a:rPr>
              <a:t>Results</a:t>
            </a:r>
            <a:r>
              <a:rPr sz="1200" b="0" i="0">
                <a:solidFill>
                  <a:srgbClr val="BFBFBF"/>
                </a:solidFill>
                <a:latin typeface="Arial"/>
              </a:rPr>
              <a:t>   ›   </a:t>
            </a:r>
            <a:r>
              <a:rPr sz="1200" b="0" i="0">
                <a:solidFill>
                  <a:srgbClr val="595959"/>
                </a:solidFill>
                <a:latin typeface="Arial"/>
              </a:rPr>
              <a:t>Conclusion</a:t>
            </a:r>
          </a:p>
        </p:txBody>
      </p:sp>
      <p:sp>
        <p:nvSpPr>
          <p:cNvPr id="3" name="!!title"/>
          <p:cNvSpPr txBox="1"/>
          <p:nvPr/>
        </p:nvSpPr>
        <p:spPr>
          <a:xfrm>
            <a:off x="457200" y="384048"/>
            <a:ext cx="10424160" cy="914400"/>
          </a:xfrm>
          <a:prstGeom prst="rect">
            <a:avLst/>
          </a:prstGeom>
          <a:noFill/>
        </p:spPr>
        <p:txBody>
          <a:bodyPr wrap="square" lIns="0" rIns="0" tIns="0" bIns="0" anchor="t">
            <a:spAutoFit/>
          </a:bodyPr>
          <a:lstStyle/>
          <a:p>
            <a:pPr algn="l">
              <a:spcAft>
                <a:spcPts val="0"/>
              </a:spcAft>
            </a:pPr>
            <a:r>
              <a:rPr sz="2800" b="1" i="0">
                <a:solidFill>
                  <a:srgbClr val="0000CD"/>
                </a:solidFill>
                <a:latin typeface="Arial"/>
              </a:rPr>
              <a:t>The Baltic has the space, the shallow water and a market where cannibalisation has barely begun</a:t>
            </a:r>
          </a:p>
        </p:txBody>
      </p:sp>
      <p:pic>
        <p:nvPicPr>
          <p:cNvPr id="4" name="!!crest" descr="Imperial_College_London_crest.png"/>
          <p:cNvPicPr>
            <a:picLocks noChangeAspect="1"/>
          </p:cNvPicPr>
          <p:nvPr/>
        </p:nvPicPr>
        <p:blipFill>
          <a:blip r:embed="rId2"/>
          <a:stretch>
            <a:fillRect/>
          </a:stretch>
        </p:blipFill>
        <p:spPr>
          <a:xfrm>
            <a:off x="11155680" y="274320"/>
            <a:ext cx="566928" cy="607280"/>
          </a:xfrm>
          <a:prstGeom prst="rect">
            <a:avLst/>
          </a:prstGeom>
          <a:ln>
            <a:noFill/>
          </a:ln>
        </p:spPr>
      </p:pic>
      <p:sp>
        <p:nvSpPr>
          <p:cNvPr id="5" name="!!source"/>
          <p:cNvSpPr txBox="1"/>
          <p:nvPr/>
        </p:nvSpPr>
        <p:spPr>
          <a:xfrm>
            <a:off x="457200" y="6053328"/>
            <a:ext cx="8686800" cy="256032"/>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Source: EMODnet wind-farm dataset, 2026 update. BEMIP 2024 for technical potential. ENTSO-E. Own analysis.</a:t>
            </a:r>
          </a:p>
        </p:txBody>
      </p:sp>
      <p:cxnSp>
        <p:nvCxnSpPr>
          <p:cNvPr id="6" name="!!footrule"/>
          <p:cNvCxnSpPr/>
          <p:nvPr/>
        </p:nvCxnSpPr>
        <p:spPr>
          <a:xfrm>
            <a:off x="457200" y="6336792"/>
            <a:ext cx="11274552"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footer"/>
          <p:cNvSpPr txBox="1"/>
          <p:nvPr/>
        </p:nvSpPr>
        <p:spPr>
          <a:xfrm>
            <a:off x="457200" y="6400800"/>
            <a:ext cx="82296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Faisal Bindakhil  |  MSc Thesis  |  Offshore wind cannibalisation in the Baltic and North Sea</a:t>
            </a:r>
          </a:p>
        </p:txBody>
      </p:sp>
      <p:sp>
        <p:nvSpPr>
          <p:cNvPr id="8" name="!!pageno"/>
          <p:cNvSpPr txBox="1"/>
          <p:nvPr/>
        </p:nvSpPr>
        <p:spPr>
          <a:xfrm>
            <a:off x="10332720" y="6400800"/>
            <a:ext cx="1399032" cy="274320"/>
          </a:xfrm>
          <a:prstGeom prst="rect">
            <a:avLst/>
          </a:prstGeom>
          <a:noFill/>
        </p:spPr>
        <p:txBody>
          <a:bodyPr wrap="square" lIns="0" rIns="0" tIns="0" bIns="0" anchor="t">
            <a:spAutoFit/>
          </a:bodyPr>
          <a:lstStyle/>
          <a:p>
            <a:pPr algn="r">
              <a:spcAft>
                <a:spcPts val="0"/>
              </a:spcAft>
            </a:pPr>
            <a:r>
              <a:rPr sz="1200" b="0" i="0">
                <a:solidFill>
                  <a:srgbClr val="595959"/>
                </a:solidFill>
                <a:latin typeface="Arial"/>
              </a:rPr>
              <a:t>3 / 8</a:t>
            </a:r>
          </a:p>
        </p:txBody>
      </p:sp>
      <p:pic>
        <p:nvPicPr>
          <p:cNvPr id="9" name="!!seamap" descr="europe_map_rgb.png"/>
          <p:cNvPicPr>
            <a:picLocks noChangeAspect="1"/>
          </p:cNvPicPr>
          <p:nvPr/>
        </p:nvPicPr>
        <p:blipFill>
          <a:blip r:embed="rId3"/>
          <a:srcRect l="47826" r="4348" t="36744" b="29867"/>
          <a:stretch>
            <a:fillRect/>
          </a:stretch>
        </p:blipFill>
        <p:spPr>
          <a:xfrm>
            <a:off x="862804" y="1325880"/>
            <a:ext cx="10466085" cy="4617720"/>
          </a:xfrm>
          <a:prstGeom prst="rect">
            <a:avLst/>
          </a:prstGeom>
          <a:ln w="6350">
            <a:solidFill>
              <a:srgbClr val="BFBFBF"/>
            </a:solidFill>
          </a:ln>
        </p:spPr>
      </p:pic>
      <p:sp>
        <p:nvSpPr>
          <p:cNvPr id="10" name="TextBox 9"/>
          <p:cNvSpPr txBox="1"/>
          <p:nvPr/>
        </p:nvSpPr>
        <p:spPr>
          <a:xfrm>
            <a:off x="2575436" y="1782141"/>
            <a:ext cx="2377440" cy="914400"/>
          </a:xfrm>
          <a:prstGeom prst="rect">
            <a:avLst/>
          </a:prstGeom>
          <a:noFill/>
        </p:spPr>
        <p:txBody>
          <a:bodyPr wrap="square" lIns="0" rIns="0" tIns="0" bIns="0" anchor="t">
            <a:spAutoFit/>
          </a:bodyPr>
          <a:lstStyle/>
          <a:p>
            <a:pPr algn="l">
              <a:spcAft>
                <a:spcPts val="0"/>
              </a:spcAft>
            </a:pPr>
            <a:r>
              <a:rPr sz="2000" b="1" i="0">
                <a:solidFill>
                  <a:srgbClr val="FF4500"/>
                </a:solidFill>
                <a:latin typeface="Arial"/>
              </a:rPr>
              <a:t>18 farms and 6 GW</a:t>
            </a:r>
          </a:p>
          <a:p>
            <a:pPr algn="l">
              <a:spcAft>
                <a:spcPts val="0"/>
              </a:spcAft>
            </a:pPr>
            <a:r>
              <a:rPr sz="2000" b="1" i="0">
                <a:solidFill>
                  <a:srgbClr val="FF4500"/>
                </a:solidFill>
                <a:latin typeface="Arial"/>
              </a:rPr>
              <a:t>operate here today.</a:t>
            </a:r>
          </a:p>
        </p:txBody>
      </p:sp>
      <p:sp>
        <p:nvSpPr>
          <p:cNvPr id="11" name="TextBox 10"/>
          <p:cNvSpPr txBox="1"/>
          <p:nvPr/>
        </p:nvSpPr>
        <p:spPr>
          <a:xfrm>
            <a:off x="7713333" y="3026151"/>
            <a:ext cx="3657600" cy="2377440"/>
          </a:xfrm>
          <a:prstGeom prst="rect">
            <a:avLst/>
          </a:prstGeom>
          <a:noFill/>
        </p:spPr>
        <p:txBody>
          <a:bodyPr wrap="square" lIns="0" rIns="0" tIns="0" bIns="0" anchor="t">
            <a:spAutoFit/>
          </a:bodyPr>
          <a:lstStyle/>
          <a:p>
            <a:pPr algn="l">
              <a:spcAft>
                <a:spcPts val="600"/>
              </a:spcAft>
            </a:pPr>
            <a:r>
              <a:rPr sz="2000" b="0" i="0">
                <a:solidFill>
                  <a:srgbClr val="1A1A1A"/>
                </a:solidFill>
                <a:latin typeface="Arial"/>
              </a:rPr>
              <a:t>Another 99 GW is approved or planned. The technical potential is 93 GW, in shallow water with strong winds. Baltic farms capture 0.88 of the average price today, the same share as North Sea farms.</a:t>
            </a:r>
          </a:p>
        </p:txBody>
      </p:sp>
    </p:spTree>
  </p:cSld>
  <p:clrMapOvr>
    <a:masterClrMapping/>
  </p:clrMapOvr>
  <mc:AlternateContent xmlns:mc="http://schemas.openxmlformats.org/markup-compatibility/2006">
    <mc:Choice xmlns:p14="http://schemas.microsoft.com/office/powerpoint/2010/main" Requires="p14">
      <p:transition spd="slow" p14:dur="2000">
        <p159:morph xmlns:p159="http://schemas.microsoft.com/office/powerpoint/2015/09/main"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ack"/>
          <p:cNvSpPr txBox="1"/>
          <p:nvPr/>
        </p:nvSpPr>
        <p:spPr>
          <a:xfrm>
            <a:off x="457200" y="164592"/>
            <a:ext cx="91440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Background</a:t>
            </a:r>
            <a:r>
              <a:rPr sz="1200" b="0" i="0">
                <a:solidFill>
                  <a:srgbClr val="BFBFBF"/>
                </a:solidFill>
                <a:latin typeface="Arial"/>
              </a:rPr>
              <a:t>   ›   </a:t>
            </a:r>
            <a:r>
              <a:rPr sz="1200" b="1" i="0">
                <a:solidFill>
                  <a:srgbClr val="0000CD"/>
                </a:solidFill>
                <a:latin typeface="Arial"/>
              </a:rPr>
              <a:t>Question and method</a:t>
            </a:r>
            <a:r>
              <a:rPr sz="1200" b="0" i="0">
                <a:solidFill>
                  <a:srgbClr val="BFBFBF"/>
                </a:solidFill>
                <a:latin typeface="Arial"/>
              </a:rPr>
              <a:t>   ›   </a:t>
            </a:r>
            <a:r>
              <a:rPr sz="1200" b="0" i="0">
                <a:solidFill>
                  <a:srgbClr val="595959"/>
                </a:solidFill>
                <a:latin typeface="Arial"/>
              </a:rPr>
              <a:t>Results</a:t>
            </a:r>
            <a:r>
              <a:rPr sz="1200" b="0" i="0">
                <a:solidFill>
                  <a:srgbClr val="BFBFBF"/>
                </a:solidFill>
                <a:latin typeface="Arial"/>
              </a:rPr>
              <a:t>   ›   </a:t>
            </a:r>
            <a:r>
              <a:rPr sz="1200" b="0" i="0">
                <a:solidFill>
                  <a:srgbClr val="595959"/>
                </a:solidFill>
                <a:latin typeface="Arial"/>
              </a:rPr>
              <a:t>Conclusion</a:t>
            </a:r>
          </a:p>
        </p:txBody>
      </p:sp>
      <p:sp>
        <p:nvSpPr>
          <p:cNvPr id="3" name="!!title"/>
          <p:cNvSpPr txBox="1"/>
          <p:nvPr/>
        </p:nvSpPr>
        <p:spPr>
          <a:xfrm>
            <a:off x="457200" y="384048"/>
            <a:ext cx="10424160" cy="914400"/>
          </a:xfrm>
          <a:prstGeom prst="rect">
            <a:avLst/>
          </a:prstGeom>
          <a:noFill/>
        </p:spPr>
        <p:txBody>
          <a:bodyPr wrap="square" lIns="0" rIns="0" tIns="0" bIns="0" anchor="t">
            <a:spAutoFit/>
          </a:bodyPr>
          <a:lstStyle/>
          <a:p>
            <a:pPr algn="l">
              <a:spcAft>
                <a:spcPts val="0"/>
              </a:spcAft>
            </a:pPr>
            <a:r>
              <a:rPr sz="2800" b="1" i="0">
                <a:solidFill>
                  <a:srgbClr val="0000CD"/>
                </a:solidFill>
                <a:latin typeface="Arial"/>
              </a:rPr>
              <a:t>The question needs a record of the past and a model of a grid that does not yet exist</a:t>
            </a:r>
          </a:p>
        </p:txBody>
      </p:sp>
      <p:pic>
        <p:nvPicPr>
          <p:cNvPr id="4" name="!!crest" descr="Imperial_College_London_crest.png"/>
          <p:cNvPicPr>
            <a:picLocks noChangeAspect="1"/>
          </p:cNvPicPr>
          <p:nvPr/>
        </p:nvPicPr>
        <p:blipFill>
          <a:blip r:embed="rId2"/>
          <a:stretch>
            <a:fillRect/>
          </a:stretch>
        </p:blipFill>
        <p:spPr>
          <a:xfrm>
            <a:off x="11155680" y="274320"/>
            <a:ext cx="566928" cy="607280"/>
          </a:xfrm>
          <a:prstGeom prst="rect">
            <a:avLst/>
          </a:prstGeom>
          <a:ln>
            <a:noFill/>
          </a:ln>
        </p:spPr>
      </p:pic>
      <p:sp>
        <p:nvSpPr>
          <p:cNvPr id="5" name="!!source"/>
          <p:cNvSpPr txBox="1"/>
          <p:nvPr/>
        </p:nvSpPr>
        <p:spPr>
          <a:xfrm>
            <a:off x="457200" y="6053328"/>
            <a:ext cx="8686800" cy="256032"/>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Source: ENTSO-E Transparency Platform. ERA5 reanalysis. PyPSA-Eur. ENTSO-E TYNDP 2030 and 2040 scenarios.</a:t>
            </a:r>
          </a:p>
        </p:txBody>
      </p:sp>
      <p:cxnSp>
        <p:nvCxnSpPr>
          <p:cNvPr id="6" name="!!footrule"/>
          <p:cNvCxnSpPr/>
          <p:nvPr/>
        </p:nvCxnSpPr>
        <p:spPr>
          <a:xfrm>
            <a:off x="457200" y="6336792"/>
            <a:ext cx="11274552"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footer"/>
          <p:cNvSpPr txBox="1"/>
          <p:nvPr/>
        </p:nvSpPr>
        <p:spPr>
          <a:xfrm>
            <a:off x="457200" y="6400800"/>
            <a:ext cx="82296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Faisal Bindakhil  |  MSc Thesis  |  Offshore wind cannibalisation in the Baltic and North Sea</a:t>
            </a:r>
          </a:p>
        </p:txBody>
      </p:sp>
      <p:sp>
        <p:nvSpPr>
          <p:cNvPr id="8" name="!!pageno"/>
          <p:cNvSpPr txBox="1"/>
          <p:nvPr/>
        </p:nvSpPr>
        <p:spPr>
          <a:xfrm>
            <a:off x="10332720" y="6400800"/>
            <a:ext cx="1399032" cy="274320"/>
          </a:xfrm>
          <a:prstGeom prst="rect">
            <a:avLst/>
          </a:prstGeom>
          <a:noFill/>
        </p:spPr>
        <p:txBody>
          <a:bodyPr wrap="square" lIns="0" rIns="0" tIns="0" bIns="0" anchor="t">
            <a:spAutoFit/>
          </a:bodyPr>
          <a:lstStyle/>
          <a:p>
            <a:pPr algn="r">
              <a:spcAft>
                <a:spcPts val="0"/>
              </a:spcAft>
            </a:pPr>
            <a:r>
              <a:rPr sz="1200" b="0" i="0">
                <a:solidFill>
                  <a:srgbClr val="595959"/>
                </a:solidFill>
                <a:latin typeface="Arial"/>
              </a:rPr>
              <a:t>4 / 8</a:t>
            </a:r>
          </a:p>
        </p:txBody>
      </p:sp>
      <p:sp>
        <p:nvSpPr>
          <p:cNvPr id="9" name="TextBox 8"/>
          <p:cNvSpPr txBox="1"/>
          <p:nvPr/>
        </p:nvSpPr>
        <p:spPr>
          <a:xfrm>
            <a:off x="457200" y="1325880"/>
            <a:ext cx="11247120" cy="731520"/>
          </a:xfrm>
          <a:prstGeom prst="rect">
            <a:avLst/>
          </a:prstGeom>
          <a:noFill/>
        </p:spPr>
        <p:txBody>
          <a:bodyPr wrap="square" lIns="0" rIns="0" tIns="0" bIns="0" anchor="t">
            <a:spAutoFit/>
          </a:bodyPr>
          <a:lstStyle/>
          <a:p>
            <a:pPr algn="l">
              <a:spcAft>
                <a:spcPts val="600"/>
              </a:spcAft>
            </a:pPr>
            <a:r>
              <a:rPr sz="2000" b="0" i="1">
                <a:solidFill>
                  <a:srgbClr val="0000CD"/>
                </a:solidFill>
                <a:latin typeface="Arial"/>
              </a:rPr>
              <a:t>Will the Baltic lose value the way the North Sea did once its planned fleet is built, and how much of that loss can be avoided by building the surrounding system differently?</a:t>
            </a:r>
          </a:p>
        </p:txBody>
      </p:sp>
      <p:sp>
        <p:nvSpPr>
          <p:cNvPr id="10" name="Rounded Rectangle 9"/>
          <p:cNvSpPr/>
          <p:nvPr/>
        </p:nvSpPr>
        <p:spPr>
          <a:xfrm>
            <a:off x="457200" y="2331720"/>
            <a:ext cx="3593592" cy="868680"/>
          </a:xfrm>
          <a:prstGeom prst="roundRect">
            <a:avLst>
              <a:gd name="adj" fmla="val 12000"/>
            </a:avLst>
          </a:prstGeom>
          <a:solidFill>
            <a:srgbClr val="E6E6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800" b="0" i="0">
                <a:solidFill>
                  <a:srgbClr val="1A1A1A"/>
                </a:solidFill>
                <a:latin typeface="Arial"/>
              </a:rPr>
              <a:t>ENTSO-E hourly prices, 31 farms, 2017 to 2024</a:t>
            </a:r>
          </a:p>
        </p:txBody>
      </p:sp>
      <p:sp>
        <p:nvSpPr>
          <p:cNvPr id="11" name="Rounded Rectangle 10"/>
          <p:cNvSpPr/>
          <p:nvPr/>
        </p:nvSpPr>
        <p:spPr>
          <a:xfrm>
            <a:off x="4297680" y="2331720"/>
            <a:ext cx="3593592" cy="868680"/>
          </a:xfrm>
          <a:prstGeom prst="roundRect">
            <a:avLst>
              <a:gd name="adj" fmla="val 12000"/>
            </a:avLst>
          </a:prstGeom>
          <a:solidFill>
            <a:srgbClr val="E6E6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800" b="0" i="0">
                <a:solidFill>
                  <a:srgbClr val="1A1A1A"/>
                </a:solidFill>
                <a:latin typeface="Arial"/>
              </a:rPr>
              <a:t>ERA5 hourly weather</a:t>
            </a:r>
          </a:p>
        </p:txBody>
      </p:sp>
      <p:sp>
        <p:nvSpPr>
          <p:cNvPr id="12" name="Rounded Rectangle 11"/>
          <p:cNvSpPr/>
          <p:nvPr/>
        </p:nvSpPr>
        <p:spPr>
          <a:xfrm>
            <a:off x="8138160" y="2331720"/>
            <a:ext cx="3593592" cy="868680"/>
          </a:xfrm>
          <a:prstGeom prst="roundRect">
            <a:avLst>
              <a:gd name="adj" fmla="val 12000"/>
            </a:avLst>
          </a:prstGeom>
          <a:solidFill>
            <a:srgbClr val="E6E6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800" b="0" i="0">
                <a:solidFill>
                  <a:srgbClr val="1A1A1A"/>
                </a:solidFill>
                <a:latin typeface="Arial"/>
              </a:rPr>
              <a:t>Plants, grid, demand and 2040 scenarios</a:t>
            </a:r>
          </a:p>
        </p:txBody>
      </p:sp>
      <p:sp>
        <p:nvSpPr>
          <p:cNvPr id="13" name="Rounded Rectangle 12"/>
          <p:cNvSpPr/>
          <p:nvPr/>
        </p:nvSpPr>
        <p:spPr>
          <a:xfrm>
            <a:off x="457200" y="3703320"/>
            <a:ext cx="3593592" cy="868680"/>
          </a:xfrm>
          <a:prstGeom prst="roundRect">
            <a:avLst>
              <a:gd name="adj" fmla="val 12000"/>
            </a:avLst>
          </a:prstGeom>
          <a:solidFill>
            <a:srgbClr val="E6E6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2000" b="1" i="0">
                <a:solidFill>
                  <a:srgbClr val="000080"/>
                </a:solidFill>
                <a:latin typeface="Arial"/>
              </a:rPr>
              <a:t>Statistical model</a:t>
            </a:r>
          </a:p>
          <a:p>
            <a:pPr algn="ctr"/>
            <a:r>
              <a:rPr sz="1600" b="0" i="0">
                <a:solidFill>
                  <a:srgbClr val="000080"/>
                </a:solidFill>
                <a:latin typeface="Arial"/>
              </a:rPr>
              <a:t>for today</a:t>
            </a:r>
          </a:p>
        </p:txBody>
      </p:sp>
      <p:sp>
        <p:nvSpPr>
          <p:cNvPr id="14" name="Rounded Rectangle 13"/>
          <p:cNvSpPr/>
          <p:nvPr/>
        </p:nvSpPr>
        <p:spPr>
          <a:xfrm>
            <a:off x="8138160" y="3703320"/>
            <a:ext cx="3593592" cy="868680"/>
          </a:xfrm>
          <a:prstGeom prst="roundRect">
            <a:avLst>
              <a:gd name="adj" fmla="val 12000"/>
            </a:avLst>
          </a:prstGeom>
          <a:solidFill>
            <a:srgbClr val="E6E6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2000" b="1" i="0">
                <a:solidFill>
                  <a:srgbClr val="006400"/>
                </a:solidFill>
                <a:latin typeface="Arial"/>
              </a:rPr>
              <a:t>Power-system model, PyPSA-Eur</a:t>
            </a:r>
          </a:p>
          <a:p>
            <a:pPr algn="ctr"/>
            <a:r>
              <a:rPr sz="1600" b="0" i="0">
                <a:solidFill>
                  <a:srgbClr val="006400"/>
                </a:solidFill>
                <a:latin typeface="Arial"/>
              </a:rPr>
              <a:t>for 2040 under two grids</a:t>
            </a:r>
          </a:p>
        </p:txBody>
      </p:sp>
      <p:sp>
        <p:nvSpPr>
          <p:cNvPr id="15" name="Rounded Rectangle 14"/>
          <p:cNvSpPr/>
          <p:nvPr/>
        </p:nvSpPr>
        <p:spPr>
          <a:xfrm>
            <a:off x="4297680" y="5074920"/>
            <a:ext cx="3593592" cy="868680"/>
          </a:xfrm>
          <a:prstGeom prst="roundRect">
            <a:avLst>
              <a:gd name="adj" fmla="val 12000"/>
            </a:avLst>
          </a:prstGeom>
          <a:solidFill>
            <a:srgbClr val="E6E6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800" b="0" i="0">
                <a:solidFill>
                  <a:srgbClr val="1A1A1A"/>
                </a:solidFill>
                <a:latin typeface="Arial"/>
              </a:rPr>
              <a:t>Capture value, both seas, today and 2040</a:t>
            </a:r>
          </a:p>
        </p:txBody>
      </p:sp>
      <p:cxnSp>
        <p:nvCxnSpPr>
          <p:cNvPr id="16" name="Connector 15"/>
          <p:cNvCxnSpPr/>
          <p:nvPr/>
        </p:nvCxnSpPr>
        <p:spPr>
          <a:xfrm>
            <a:off x="2253996" y="3200400"/>
            <a:ext cx="0" cy="50292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934956" y="3200400"/>
            <a:ext cx="0" cy="50292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3076956" y="3200400"/>
            <a:ext cx="2743200" cy="50292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368796" y="3200400"/>
            <a:ext cx="2743200" cy="50292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076956" y="4572000"/>
            <a:ext cx="2651760" cy="50292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6460236" y="4572000"/>
            <a:ext cx="2651760" cy="50292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297680" y="3813048"/>
            <a:ext cx="3593592" cy="685800"/>
          </a:xfrm>
          <a:prstGeom prst="rect">
            <a:avLst/>
          </a:prstGeom>
          <a:noFill/>
        </p:spPr>
        <p:txBody>
          <a:bodyPr wrap="square" lIns="0" rIns="0" tIns="0" bIns="0" anchor="t">
            <a:spAutoFit/>
          </a:bodyPr>
          <a:lstStyle/>
          <a:p>
            <a:pPr algn="ctr">
              <a:spcAft>
                <a:spcPts val="600"/>
              </a:spcAft>
            </a:pPr>
            <a:r>
              <a:rPr sz="1600" b="0" i="1">
                <a:solidFill>
                  <a:srgbClr val="595959"/>
                </a:solidFill>
                <a:latin typeface="Arial"/>
              </a:rPr>
              <a:t>Both reproduce 2023 within 0.5 percentage points.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ack"/>
          <p:cNvSpPr txBox="1"/>
          <p:nvPr/>
        </p:nvSpPr>
        <p:spPr>
          <a:xfrm>
            <a:off x="457200" y="164592"/>
            <a:ext cx="91440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Background</a:t>
            </a:r>
            <a:r>
              <a:rPr sz="1200" b="0" i="0">
                <a:solidFill>
                  <a:srgbClr val="BFBFBF"/>
                </a:solidFill>
                <a:latin typeface="Arial"/>
              </a:rPr>
              <a:t>   ›   </a:t>
            </a:r>
            <a:r>
              <a:rPr sz="1200" b="0" i="0">
                <a:solidFill>
                  <a:srgbClr val="595959"/>
                </a:solidFill>
                <a:latin typeface="Arial"/>
              </a:rPr>
              <a:t>Question and method</a:t>
            </a:r>
            <a:r>
              <a:rPr sz="1200" b="0" i="0">
                <a:solidFill>
                  <a:srgbClr val="BFBFBF"/>
                </a:solidFill>
                <a:latin typeface="Arial"/>
              </a:rPr>
              <a:t>   ›   </a:t>
            </a:r>
            <a:r>
              <a:rPr sz="1200" b="1" i="0">
                <a:solidFill>
                  <a:srgbClr val="0000CD"/>
                </a:solidFill>
                <a:latin typeface="Arial"/>
              </a:rPr>
              <a:t>Results</a:t>
            </a:r>
            <a:r>
              <a:rPr sz="1200" b="0" i="0">
                <a:solidFill>
                  <a:srgbClr val="BFBFBF"/>
                </a:solidFill>
                <a:latin typeface="Arial"/>
              </a:rPr>
              <a:t>   ›   </a:t>
            </a:r>
            <a:r>
              <a:rPr sz="1200" b="0" i="0">
                <a:solidFill>
                  <a:srgbClr val="595959"/>
                </a:solidFill>
                <a:latin typeface="Arial"/>
              </a:rPr>
              <a:t>Conclusion</a:t>
            </a:r>
          </a:p>
        </p:txBody>
      </p:sp>
      <p:sp>
        <p:nvSpPr>
          <p:cNvPr id="3" name="!!title"/>
          <p:cNvSpPr txBox="1"/>
          <p:nvPr/>
        </p:nvSpPr>
        <p:spPr>
          <a:xfrm>
            <a:off x="457200" y="384048"/>
            <a:ext cx="10424160" cy="914400"/>
          </a:xfrm>
          <a:prstGeom prst="rect">
            <a:avLst/>
          </a:prstGeom>
          <a:noFill/>
        </p:spPr>
        <p:txBody>
          <a:bodyPr wrap="square" lIns="0" rIns="0" tIns="0" bIns="0" anchor="t">
            <a:spAutoFit/>
          </a:bodyPr>
          <a:lstStyle/>
          <a:p>
            <a:pPr algn="l">
              <a:spcAft>
                <a:spcPts val="0"/>
              </a:spcAft>
            </a:pPr>
            <a:r>
              <a:rPr sz="2800" b="1" i="0">
                <a:solidFill>
                  <a:srgbClr val="0000CD"/>
                </a:solidFill>
                <a:latin typeface="Arial"/>
              </a:rPr>
              <a:t>The Baltic loses almost half its value by 2040 under today's grid and recovers it when the grid is expanded</a:t>
            </a:r>
          </a:p>
        </p:txBody>
      </p:sp>
      <p:pic>
        <p:nvPicPr>
          <p:cNvPr id="4" name="!!crest" descr="Imperial_College_London_crest.png"/>
          <p:cNvPicPr>
            <a:picLocks noChangeAspect="1"/>
          </p:cNvPicPr>
          <p:nvPr/>
        </p:nvPicPr>
        <p:blipFill>
          <a:blip r:embed="rId2"/>
          <a:stretch>
            <a:fillRect/>
          </a:stretch>
        </p:blipFill>
        <p:spPr>
          <a:xfrm>
            <a:off x="11155680" y="274320"/>
            <a:ext cx="566928" cy="607280"/>
          </a:xfrm>
          <a:prstGeom prst="rect">
            <a:avLst/>
          </a:prstGeom>
          <a:ln>
            <a:noFill/>
          </a:ln>
        </p:spPr>
      </p:pic>
      <p:sp>
        <p:nvSpPr>
          <p:cNvPr id="5" name="!!source"/>
          <p:cNvSpPr txBox="1"/>
          <p:nvPr/>
        </p:nvSpPr>
        <p:spPr>
          <a:xfrm>
            <a:off x="457200" y="6053328"/>
            <a:ext cx="8686800" cy="256032"/>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Source: PyPSA-Eur under ENTSO-E TYNDP scenarios. Observed 2023 to 2024 from ENTSO-E. Own analysis.</a:t>
            </a:r>
          </a:p>
        </p:txBody>
      </p:sp>
      <p:cxnSp>
        <p:nvCxnSpPr>
          <p:cNvPr id="6" name="!!footrule"/>
          <p:cNvCxnSpPr/>
          <p:nvPr/>
        </p:nvCxnSpPr>
        <p:spPr>
          <a:xfrm>
            <a:off x="457200" y="6336792"/>
            <a:ext cx="11274552"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footer"/>
          <p:cNvSpPr txBox="1"/>
          <p:nvPr/>
        </p:nvSpPr>
        <p:spPr>
          <a:xfrm>
            <a:off x="457200" y="6400800"/>
            <a:ext cx="82296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Faisal Bindakhil  |  MSc Thesis  |  Offshore wind cannibalisation in the Baltic and North Sea</a:t>
            </a:r>
          </a:p>
        </p:txBody>
      </p:sp>
      <p:sp>
        <p:nvSpPr>
          <p:cNvPr id="8" name="!!pageno"/>
          <p:cNvSpPr txBox="1"/>
          <p:nvPr/>
        </p:nvSpPr>
        <p:spPr>
          <a:xfrm>
            <a:off x="10332720" y="6400800"/>
            <a:ext cx="1399032" cy="274320"/>
          </a:xfrm>
          <a:prstGeom prst="rect">
            <a:avLst/>
          </a:prstGeom>
          <a:noFill/>
        </p:spPr>
        <p:txBody>
          <a:bodyPr wrap="square" lIns="0" rIns="0" tIns="0" bIns="0" anchor="t">
            <a:spAutoFit/>
          </a:bodyPr>
          <a:lstStyle/>
          <a:p>
            <a:pPr algn="r">
              <a:spcAft>
                <a:spcPts val="0"/>
              </a:spcAft>
            </a:pPr>
            <a:r>
              <a:rPr sz="1200" b="0" i="0">
                <a:solidFill>
                  <a:srgbClr val="595959"/>
                </a:solidFill>
                <a:latin typeface="Arial"/>
              </a:rPr>
              <a:t>5 / 8</a:t>
            </a:r>
          </a:p>
        </p:txBody>
      </p:sp>
      <p:cxnSp>
        <p:nvCxnSpPr>
          <p:cNvPr id="9" name="Connector 8"/>
          <p:cNvCxnSpPr/>
          <p:nvPr/>
        </p:nvCxnSpPr>
        <p:spPr>
          <a:xfrm>
            <a:off x="914400" y="4892040"/>
            <a:ext cx="10332720" cy="0"/>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14400" y="2156155"/>
            <a:ext cx="10332720" cy="0"/>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595360" y="1863547"/>
            <a:ext cx="2651760" cy="274320"/>
          </a:xfrm>
          <a:prstGeom prst="rect">
            <a:avLst/>
          </a:prstGeom>
          <a:noFill/>
        </p:spPr>
        <p:txBody>
          <a:bodyPr wrap="square" lIns="0" rIns="0" tIns="0" bIns="0" anchor="t">
            <a:spAutoFit/>
          </a:bodyPr>
          <a:lstStyle/>
          <a:p>
            <a:pPr algn="r">
              <a:spcAft>
                <a:spcPts val="0"/>
              </a:spcAft>
            </a:pPr>
            <a:r>
              <a:rPr sz="1600" b="0" i="1">
                <a:solidFill>
                  <a:srgbClr val="595959"/>
                </a:solidFill>
                <a:latin typeface="Arial"/>
              </a:rPr>
              <a:t>today's share, 0.88</a:t>
            </a:r>
          </a:p>
        </p:txBody>
      </p:sp>
      <p:sp>
        <p:nvSpPr>
          <p:cNvPr id="12" name="Rectangle 11"/>
          <p:cNvSpPr/>
          <p:nvPr/>
        </p:nvSpPr>
        <p:spPr>
          <a:xfrm>
            <a:off x="1804415" y="2156155"/>
            <a:ext cx="960120" cy="2735884"/>
          </a:xfrm>
          <a:prstGeom prst="rect">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621536" y="1808683"/>
            <a:ext cx="1325880" cy="320040"/>
          </a:xfrm>
          <a:prstGeom prst="rect">
            <a:avLst/>
          </a:prstGeom>
          <a:noFill/>
        </p:spPr>
        <p:txBody>
          <a:bodyPr wrap="square" lIns="0" rIns="0" tIns="0" bIns="0" anchor="t">
            <a:spAutoFit/>
          </a:bodyPr>
          <a:lstStyle/>
          <a:p>
            <a:pPr algn="ctr">
              <a:spcAft>
                <a:spcPts val="0"/>
              </a:spcAft>
            </a:pPr>
            <a:r>
              <a:rPr sz="2000" b="1" i="0">
                <a:solidFill>
                  <a:srgbClr val="000080"/>
                </a:solidFill>
                <a:latin typeface="Arial"/>
              </a:rPr>
              <a:t>0.88</a:t>
            </a:r>
          </a:p>
        </p:txBody>
      </p:sp>
      <p:sp>
        <p:nvSpPr>
          <p:cNvPr id="14" name="Rectangle 13"/>
          <p:cNvSpPr/>
          <p:nvPr/>
        </p:nvSpPr>
        <p:spPr>
          <a:xfrm>
            <a:off x="2874264" y="2156155"/>
            <a:ext cx="960120" cy="2735884"/>
          </a:xfrm>
          <a:prstGeom prst="rect">
            <a:avLst/>
          </a:prstGeom>
          <a:solidFill>
            <a:srgbClr val="FF4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691383" y="1808683"/>
            <a:ext cx="1325880" cy="320040"/>
          </a:xfrm>
          <a:prstGeom prst="rect">
            <a:avLst/>
          </a:prstGeom>
          <a:noFill/>
        </p:spPr>
        <p:txBody>
          <a:bodyPr wrap="square" lIns="0" rIns="0" tIns="0" bIns="0" anchor="t">
            <a:spAutoFit/>
          </a:bodyPr>
          <a:lstStyle/>
          <a:p>
            <a:pPr algn="ctr">
              <a:spcAft>
                <a:spcPts val="0"/>
              </a:spcAft>
            </a:pPr>
            <a:r>
              <a:rPr sz="2000" b="1" i="0">
                <a:solidFill>
                  <a:srgbClr val="FF4500"/>
                </a:solidFill>
                <a:latin typeface="Arial"/>
              </a:rPr>
              <a:t>0.88</a:t>
            </a:r>
          </a:p>
        </p:txBody>
      </p:sp>
      <p:sp>
        <p:nvSpPr>
          <p:cNvPr id="16" name="TextBox 15"/>
          <p:cNvSpPr txBox="1"/>
          <p:nvPr/>
        </p:nvSpPr>
        <p:spPr>
          <a:xfrm>
            <a:off x="1356359" y="4965192"/>
            <a:ext cx="2926080" cy="320040"/>
          </a:xfrm>
          <a:prstGeom prst="rect">
            <a:avLst/>
          </a:prstGeom>
          <a:noFill/>
        </p:spPr>
        <p:txBody>
          <a:bodyPr wrap="square" lIns="0" rIns="0" tIns="0" bIns="0" anchor="t">
            <a:spAutoFit/>
          </a:bodyPr>
          <a:lstStyle/>
          <a:p>
            <a:pPr algn="ctr">
              <a:spcAft>
                <a:spcPts val="0"/>
              </a:spcAft>
            </a:pPr>
            <a:r>
              <a:rPr sz="2000" b="0" i="0">
                <a:solidFill>
                  <a:srgbClr val="1A1A1A"/>
                </a:solidFill>
                <a:latin typeface="Arial"/>
              </a:rPr>
              <a:t>Today, observed</a:t>
            </a:r>
          </a:p>
        </p:txBody>
      </p:sp>
      <p:sp>
        <p:nvSpPr>
          <p:cNvPr id="17" name="Rectangle 16"/>
          <p:cNvSpPr/>
          <p:nvPr/>
        </p:nvSpPr>
        <p:spPr>
          <a:xfrm>
            <a:off x="5065775" y="3119932"/>
            <a:ext cx="960120" cy="1772107"/>
          </a:xfrm>
          <a:prstGeom prst="rect">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82895" y="2772460"/>
            <a:ext cx="1325880" cy="320040"/>
          </a:xfrm>
          <a:prstGeom prst="rect">
            <a:avLst/>
          </a:prstGeom>
          <a:noFill/>
        </p:spPr>
        <p:txBody>
          <a:bodyPr wrap="square" lIns="0" rIns="0" tIns="0" bIns="0" anchor="t">
            <a:spAutoFit/>
          </a:bodyPr>
          <a:lstStyle/>
          <a:p>
            <a:pPr algn="ctr">
              <a:spcAft>
                <a:spcPts val="0"/>
              </a:spcAft>
            </a:pPr>
            <a:r>
              <a:rPr sz="2000" b="1" i="0">
                <a:solidFill>
                  <a:srgbClr val="000080"/>
                </a:solidFill>
                <a:latin typeface="Arial"/>
              </a:rPr>
              <a:t>0.57</a:t>
            </a:r>
          </a:p>
        </p:txBody>
      </p:sp>
      <p:sp>
        <p:nvSpPr>
          <p:cNvPr id="19" name="Rectangle 18"/>
          <p:cNvSpPr/>
          <p:nvPr/>
        </p:nvSpPr>
        <p:spPr>
          <a:xfrm>
            <a:off x="6135623" y="3430828"/>
            <a:ext cx="960120" cy="1461211"/>
          </a:xfrm>
          <a:prstGeom prst="rect">
            <a:avLst/>
          </a:prstGeom>
          <a:solidFill>
            <a:srgbClr val="FF4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952743" y="3083356"/>
            <a:ext cx="1325880" cy="320040"/>
          </a:xfrm>
          <a:prstGeom prst="rect">
            <a:avLst/>
          </a:prstGeom>
          <a:noFill/>
        </p:spPr>
        <p:txBody>
          <a:bodyPr wrap="square" lIns="0" rIns="0" tIns="0" bIns="0" anchor="t">
            <a:spAutoFit/>
          </a:bodyPr>
          <a:lstStyle/>
          <a:p>
            <a:pPr algn="ctr">
              <a:spcAft>
                <a:spcPts val="0"/>
              </a:spcAft>
            </a:pPr>
            <a:r>
              <a:rPr sz="2000" b="1" i="0">
                <a:solidFill>
                  <a:srgbClr val="FF4500"/>
                </a:solidFill>
                <a:latin typeface="Arial"/>
              </a:rPr>
              <a:t>0.47</a:t>
            </a:r>
          </a:p>
        </p:txBody>
      </p:sp>
      <p:sp>
        <p:nvSpPr>
          <p:cNvPr id="21" name="TextBox 20"/>
          <p:cNvSpPr txBox="1"/>
          <p:nvPr/>
        </p:nvSpPr>
        <p:spPr>
          <a:xfrm>
            <a:off x="4617719" y="4965192"/>
            <a:ext cx="2926080" cy="320040"/>
          </a:xfrm>
          <a:prstGeom prst="rect">
            <a:avLst/>
          </a:prstGeom>
          <a:noFill/>
        </p:spPr>
        <p:txBody>
          <a:bodyPr wrap="square" lIns="0" rIns="0" tIns="0" bIns="0" anchor="t">
            <a:spAutoFit/>
          </a:bodyPr>
          <a:lstStyle/>
          <a:p>
            <a:pPr algn="ctr">
              <a:spcAft>
                <a:spcPts val="0"/>
              </a:spcAft>
            </a:pPr>
            <a:r>
              <a:rPr sz="2000" b="0" i="0">
                <a:solidFill>
                  <a:srgbClr val="1A1A1A"/>
                </a:solidFill>
                <a:latin typeface="Arial"/>
              </a:rPr>
              <a:t>2040, today's grid</a:t>
            </a:r>
          </a:p>
        </p:txBody>
      </p:sp>
      <p:sp>
        <p:nvSpPr>
          <p:cNvPr id="22" name="Rectangle 21"/>
          <p:cNvSpPr/>
          <p:nvPr/>
        </p:nvSpPr>
        <p:spPr>
          <a:xfrm>
            <a:off x="8327135" y="2902305"/>
            <a:ext cx="960120" cy="1989734"/>
          </a:xfrm>
          <a:prstGeom prst="rect">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144256" y="2554833"/>
            <a:ext cx="1325880" cy="320040"/>
          </a:xfrm>
          <a:prstGeom prst="rect">
            <a:avLst/>
          </a:prstGeom>
          <a:noFill/>
        </p:spPr>
        <p:txBody>
          <a:bodyPr wrap="square" lIns="0" rIns="0" tIns="0" bIns="0" anchor="t">
            <a:spAutoFit/>
          </a:bodyPr>
          <a:lstStyle/>
          <a:p>
            <a:pPr algn="ctr">
              <a:spcAft>
                <a:spcPts val="0"/>
              </a:spcAft>
            </a:pPr>
            <a:r>
              <a:rPr sz="2000" b="1" i="0">
                <a:solidFill>
                  <a:srgbClr val="000080"/>
                </a:solidFill>
                <a:latin typeface="Arial"/>
              </a:rPr>
              <a:t>0.64</a:t>
            </a:r>
          </a:p>
        </p:txBody>
      </p:sp>
      <p:sp>
        <p:nvSpPr>
          <p:cNvPr id="24" name="Rectangle 23"/>
          <p:cNvSpPr/>
          <p:nvPr/>
        </p:nvSpPr>
        <p:spPr>
          <a:xfrm>
            <a:off x="9396983" y="2840126"/>
            <a:ext cx="960120" cy="2051913"/>
          </a:xfrm>
          <a:prstGeom prst="rect">
            <a:avLst/>
          </a:prstGeom>
          <a:solidFill>
            <a:srgbClr val="FF4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214104" y="2492654"/>
            <a:ext cx="1325880" cy="320040"/>
          </a:xfrm>
          <a:prstGeom prst="rect">
            <a:avLst/>
          </a:prstGeom>
          <a:noFill/>
        </p:spPr>
        <p:txBody>
          <a:bodyPr wrap="square" lIns="0" rIns="0" tIns="0" bIns="0" anchor="t">
            <a:spAutoFit/>
          </a:bodyPr>
          <a:lstStyle/>
          <a:p>
            <a:pPr algn="ctr">
              <a:spcAft>
                <a:spcPts val="0"/>
              </a:spcAft>
            </a:pPr>
            <a:r>
              <a:rPr sz="2000" b="1" i="0">
                <a:solidFill>
                  <a:srgbClr val="FF4500"/>
                </a:solidFill>
                <a:latin typeface="Arial"/>
              </a:rPr>
              <a:t>0.66</a:t>
            </a:r>
          </a:p>
        </p:txBody>
      </p:sp>
      <p:sp>
        <p:nvSpPr>
          <p:cNvPr id="26" name="TextBox 25"/>
          <p:cNvSpPr txBox="1"/>
          <p:nvPr/>
        </p:nvSpPr>
        <p:spPr>
          <a:xfrm>
            <a:off x="7879080" y="4965192"/>
            <a:ext cx="2926080" cy="320040"/>
          </a:xfrm>
          <a:prstGeom prst="rect">
            <a:avLst/>
          </a:prstGeom>
          <a:noFill/>
        </p:spPr>
        <p:txBody>
          <a:bodyPr wrap="square" lIns="0" rIns="0" tIns="0" bIns="0" anchor="t">
            <a:spAutoFit/>
          </a:bodyPr>
          <a:lstStyle/>
          <a:p>
            <a:pPr algn="ctr">
              <a:spcAft>
                <a:spcPts val="0"/>
              </a:spcAft>
            </a:pPr>
            <a:r>
              <a:rPr sz="2000" b="0" i="0">
                <a:solidFill>
                  <a:srgbClr val="1A1A1A"/>
                </a:solidFill>
                <a:latin typeface="Arial"/>
              </a:rPr>
              <a:t>2040, grid expanded</a:t>
            </a:r>
          </a:p>
        </p:txBody>
      </p:sp>
      <p:sp>
        <p:nvSpPr>
          <p:cNvPr id="27" name="Rectangle 26"/>
          <p:cNvSpPr/>
          <p:nvPr/>
        </p:nvSpPr>
        <p:spPr>
          <a:xfrm>
            <a:off x="914400" y="1417320"/>
            <a:ext cx="219456" cy="219456"/>
          </a:xfrm>
          <a:prstGeom prst="rect">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25296" y="1371600"/>
            <a:ext cx="1463040" cy="320040"/>
          </a:xfrm>
          <a:prstGeom prst="rect">
            <a:avLst/>
          </a:prstGeom>
          <a:noFill/>
        </p:spPr>
        <p:txBody>
          <a:bodyPr wrap="square" lIns="0" rIns="0" tIns="0" bIns="0" anchor="t">
            <a:spAutoFit/>
          </a:bodyPr>
          <a:lstStyle/>
          <a:p>
            <a:pPr algn="l">
              <a:spcAft>
                <a:spcPts val="0"/>
              </a:spcAft>
            </a:pPr>
            <a:r>
              <a:rPr sz="1600" b="0" i="0">
                <a:solidFill>
                  <a:srgbClr val="1A1A1A"/>
                </a:solidFill>
                <a:latin typeface="Arial"/>
              </a:rPr>
              <a:t>North Sea</a:t>
            </a:r>
          </a:p>
        </p:txBody>
      </p:sp>
      <p:sp>
        <p:nvSpPr>
          <p:cNvPr id="29" name="Rectangle 28"/>
          <p:cNvSpPr/>
          <p:nvPr/>
        </p:nvSpPr>
        <p:spPr>
          <a:xfrm>
            <a:off x="2560320" y="1417320"/>
            <a:ext cx="219456" cy="219456"/>
          </a:xfrm>
          <a:prstGeom prst="rect">
            <a:avLst/>
          </a:prstGeom>
          <a:solidFill>
            <a:srgbClr val="FF4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871216" y="1371600"/>
            <a:ext cx="1097280" cy="320040"/>
          </a:xfrm>
          <a:prstGeom prst="rect">
            <a:avLst/>
          </a:prstGeom>
          <a:noFill/>
        </p:spPr>
        <p:txBody>
          <a:bodyPr wrap="square" lIns="0" rIns="0" tIns="0" bIns="0" anchor="t">
            <a:spAutoFit/>
          </a:bodyPr>
          <a:lstStyle/>
          <a:p>
            <a:pPr algn="l">
              <a:spcAft>
                <a:spcPts val="0"/>
              </a:spcAft>
            </a:pPr>
            <a:r>
              <a:rPr sz="1600" b="0" i="0">
                <a:solidFill>
                  <a:srgbClr val="1A1A1A"/>
                </a:solidFill>
                <a:latin typeface="Arial"/>
              </a:rPr>
              <a:t>Baltic</a:t>
            </a:r>
          </a:p>
        </p:txBody>
      </p:sp>
      <p:cxnSp>
        <p:nvCxnSpPr>
          <p:cNvPr id="31" name="Connector 30"/>
          <p:cNvCxnSpPr/>
          <p:nvPr/>
        </p:nvCxnSpPr>
        <p:spPr>
          <a:xfrm>
            <a:off x="5545836" y="2201875"/>
            <a:ext cx="0" cy="534009"/>
          </a:xfrm>
          <a:prstGeom prst="line">
            <a:avLst/>
          </a:prstGeom>
          <a:ln w="19050">
            <a:solidFill>
              <a:srgbClr val="0000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631436" y="2281427"/>
            <a:ext cx="822960" cy="320040"/>
          </a:xfrm>
          <a:prstGeom prst="rect">
            <a:avLst/>
          </a:prstGeom>
          <a:noFill/>
        </p:spPr>
        <p:txBody>
          <a:bodyPr wrap="square" lIns="0" rIns="0" tIns="0" bIns="0" anchor="t">
            <a:spAutoFit/>
          </a:bodyPr>
          <a:lstStyle/>
          <a:p>
            <a:pPr algn="r">
              <a:spcAft>
                <a:spcPts val="0"/>
              </a:spcAft>
            </a:pPr>
            <a:r>
              <a:rPr sz="1800" b="1" i="0">
                <a:solidFill>
                  <a:srgbClr val="000080"/>
                </a:solidFill>
                <a:latin typeface="Arial"/>
              </a:rPr>
              <a:t>−35%</a:t>
            </a:r>
          </a:p>
        </p:txBody>
      </p:sp>
      <p:cxnSp>
        <p:nvCxnSpPr>
          <p:cNvPr id="33" name="Connector 32"/>
          <p:cNvCxnSpPr/>
          <p:nvPr/>
        </p:nvCxnSpPr>
        <p:spPr>
          <a:xfrm>
            <a:off x="6615683" y="2201875"/>
            <a:ext cx="0" cy="844905"/>
          </a:xfrm>
          <a:prstGeom prst="line">
            <a:avLst/>
          </a:prstGeom>
          <a:ln w="19050">
            <a:solidFill>
              <a:srgbClr val="FF4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707123" y="2436875"/>
            <a:ext cx="822960" cy="320040"/>
          </a:xfrm>
          <a:prstGeom prst="rect">
            <a:avLst/>
          </a:prstGeom>
          <a:noFill/>
        </p:spPr>
        <p:txBody>
          <a:bodyPr wrap="square" lIns="0" rIns="0" tIns="0" bIns="0" anchor="t">
            <a:spAutoFit/>
          </a:bodyPr>
          <a:lstStyle/>
          <a:p>
            <a:pPr algn="l">
              <a:spcAft>
                <a:spcPts val="0"/>
              </a:spcAft>
            </a:pPr>
            <a:r>
              <a:rPr sz="1800" b="1" i="0">
                <a:solidFill>
                  <a:srgbClr val="FF4500"/>
                </a:solidFill>
                <a:latin typeface="Arial"/>
              </a:rPr>
              <a:t>−47%</a:t>
            </a:r>
          </a:p>
        </p:txBody>
      </p:sp>
      <p:cxnSp>
        <p:nvCxnSpPr>
          <p:cNvPr id="35" name="Connector 34"/>
          <p:cNvCxnSpPr/>
          <p:nvPr/>
        </p:nvCxnSpPr>
        <p:spPr>
          <a:xfrm>
            <a:off x="7141463" y="3430828"/>
            <a:ext cx="3627120" cy="0"/>
          </a:xfrm>
          <a:prstGeom prst="line">
            <a:avLst/>
          </a:prstGeom>
          <a:ln w="12700">
            <a:solidFill>
              <a:srgbClr val="006400"/>
            </a:solidFill>
            <a:prstDash val="sys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0631424" y="2858414"/>
            <a:ext cx="0" cy="572414"/>
          </a:xfrm>
          <a:prstGeom prst="line">
            <a:avLst/>
          </a:prstGeom>
          <a:ln w="19050">
            <a:solidFill>
              <a:srgbClr val="006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741152" y="2970885"/>
            <a:ext cx="914400" cy="320040"/>
          </a:xfrm>
          <a:prstGeom prst="rect">
            <a:avLst/>
          </a:prstGeom>
          <a:noFill/>
        </p:spPr>
        <p:txBody>
          <a:bodyPr wrap="square" lIns="0" rIns="0" tIns="0" bIns="0" anchor="t">
            <a:spAutoFit/>
          </a:bodyPr>
          <a:lstStyle/>
          <a:p>
            <a:pPr algn="l">
              <a:spcAft>
                <a:spcPts val="0"/>
              </a:spcAft>
            </a:pPr>
            <a:r>
              <a:rPr sz="1800" b="1" i="0">
                <a:solidFill>
                  <a:srgbClr val="006400"/>
                </a:solidFill>
                <a:latin typeface="Arial"/>
              </a:rPr>
              <a:t>+0.19</a:t>
            </a:r>
          </a:p>
        </p:txBody>
      </p:sp>
      <p:sp>
        <p:nvSpPr>
          <p:cNvPr id="38" name="TextBox 37"/>
          <p:cNvSpPr txBox="1"/>
          <p:nvPr/>
        </p:nvSpPr>
        <p:spPr>
          <a:xfrm>
            <a:off x="457200" y="5349240"/>
            <a:ext cx="11247120" cy="640080"/>
          </a:xfrm>
          <a:prstGeom prst="rect">
            <a:avLst/>
          </a:prstGeom>
          <a:noFill/>
        </p:spPr>
        <p:txBody>
          <a:bodyPr wrap="square" lIns="0" rIns="0" tIns="0" bIns="0" anchor="t">
            <a:spAutoFit/>
          </a:bodyPr>
          <a:lstStyle/>
          <a:p>
            <a:pPr algn="l">
              <a:spcAft>
                <a:spcPts val="600"/>
              </a:spcAft>
            </a:pPr>
            <a:r>
              <a:rPr sz="2000" b="0" i="0">
                <a:solidFill>
                  <a:srgbClr val="1A1A1A"/>
                </a:solidFill>
                <a:latin typeface="Arial"/>
              </a:rPr>
              <a:t>About half of the Baltic loss under today's grid comes from congestion in the grid. With the grid expanded the Baltic share recovers to 0.66, level with the North Sea.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ack"/>
          <p:cNvSpPr txBox="1"/>
          <p:nvPr/>
        </p:nvSpPr>
        <p:spPr>
          <a:xfrm>
            <a:off x="457200" y="164592"/>
            <a:ext cx="91440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Background</a:t>
            </a:r>
            <a:r>
              <a:rPr sz="1200" b="0" i="0">
                <a:solidFill>
                  <a:srgbClr val="BFBFBF"/>
                </a:solidFill>
                <a:latin typeface="Arial"/>
              </a:rPr>
              <a:t>   ›   </a:t>
            </a:r>
            <a:r>
              <a:rPr sz="1200" b="0" i="0">
                <a:solidFill>
                  <a:srgbClr val="595959"/>
                </a:solidFill>
                <a:latin typeface="Arial"/>
              </a:rPr>
              <a:t>Question and method</a:t>
            </a:r>
            <a:r>
              <a:rPr sz="1200" b="0" i="0">
                <a:solidFill>
                  <a:srgbClr val="BFBFBF"/>
                </a:solidFill>
                <a:latin typeface="Arial"/>
              </a:rPr>
              <a:t>   ›   </a:t>
            </a:r>
            <a:r>
              <a:rPr sz="1200" b="1" i="0">
                <a:solidFill>
                  <a:srgbClr val="0000CD"/>
                </a:solidFill>
                <a:latin typeface="Arial"/>
              </a:rPr>
              <a:t>Results</a:t>
            </a:r>
            <a:r>
              <a:rPr sz="1200" b="0" i="0">
                <a:solidFill>
                  <a:srgbClr val="BFBFBF"/>
                </a:solidFill>
                <a:latin typeface="Arial"/>
              </a:rPr>
              <a:t>   ›   </a:t>
            </a:r>
            <a:r>
              <a:rPr sz="1200" b="0" i="0">
                <a:solidFill>
                  <a:srgbClr val="595959"/>
                </a:solidFill>
                <a:latin typeface="Arial"/>
              </a:rPr>
              <a:t>Conclusion</a:t>
            </a:r>
          </a:p>
        </p:txBody>
      </p:sp>
      <p:sp>
        <p:nvSpPr>
          <p:cNvPr id="3" name="!!title"/>
          <p:cNvSpPr txBox="1"/>
          <p:nvPr/>
        </p:nvSpPr>
        <p:spPr>
          <a:xfrm>
            <a:off x="457200" y="384048"/>
            <a:ext cx="10424160" cy="914400"/>
          </a:xfrm>
          <a:prstGeom prst="rect">
            <a:avLst/>
          </a:prstGeom>
          <a:noFill/>
        </p:spPr>
        <p:txBody>
          <a:bodyPr wrap="square" lIns="0" rIns="0" tIns="0" bIns="0" anchor="t">
            <a:spAutoFit/>
          </a:bodyPr>
          <a:lstStyle/>
          <a:p>
            <a:pPr algn="l">
              <a:spcAft>
                <a:spcPts val="0"/>
              </a:spcAft>
            </a:pPr>
            <a:r>
              <a:rPr sz="2800" b="1" i="0">
                <a:solidFill>
                  <a:srgbClr val="0000CD"/>
                </a:solidFill>
                <a:latin typeface="Arial"/>
              </a:rPr>
              <a:t>Dividing LCOE by capture value gives the market price a farm needs to break even</a:t>
            </a:r>
          </a:p>
        </p:txBody>
      </p:sp>
      <p:pic>
        <p:nvPicPr>
          <p:cNvPr id="4" name="!!crest" descr="Imperial_College_London_crest.png"/>
          <p:cNvPicPr>
            <a:picLocks noChangeAspect="1"/>
          </p:cNvPicPr>
          <p:nvPr/>
        </p:nvPicPr>
        <p:blipFill>
          <a:blip r:embed="rId2"/>
          <a:stretch>
            <a:fillRect/>
          </a:stretch>
        </p:blipFill>
        <p:spPr>
          <a:xfrm>
            <a:off x="11155680" y="274320"/>
            <a:ext cx="566928" cy="607280"/>
          </a:xfrm>
          <a:prstGeom prst="rect">
            <a:avLst/>
          </a:prstGeom>
          <a:ln>
            <a:noFill/>
          </a:ln>
        </p:spPr>
      </p:pic>
      <p:sp>
        <p:nvSpPr>
          <p:cNvPr id="5" name="!!source"/>
          <p:cNvSpPr txBox="1"/>
          <p:nvPr/>
        </p:nvSpPr>
        <p:spPr>
          <a:xfrm>
            <a:off x="457200" y="6053328"/>
            <a:ext cx="8686800" cy="256032"/>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Source: PyPSA-Eur 2040, grid frozen at today's network. Medians across the seabed studied.</a:t>
            </a:r>
          </a:p>
        </p:txBody>
      </p:sp>
      <p:cxnSp>
        <p:nvCxnSpPr>
          <p:cNvPr id="6" name="!!footrule"/>
          <p:cNvCxnSpPr/>
          <p:nvPr/>
        </p:nvCxnSpPr>
        <p:spPr>
          <a:xfrm>
            <a:off x="457200" y="6336792"/>
            <a:ext cx="11274552"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footer"/>
          <p:cNvSpPr txBox="1"/>
          <p:nvPr/>
        </p:nvSpPr>
        <p:spPr>
          <a:xfrm>
            <a:off x="457200" y="6400800"/>
            <a:ext cx="82296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Faisal Bindakhil  |  MSc Thesis  |  Offshore wind cannibalisation in the Baltic and North Sea</a:t>
            </a:r>
          </a:p>
        </p:txBody>
      </p:sp>
      <p:sp>
        <p:nvSpPr>
          <p:cNvPr id="8" name="!!pageno"/>
          <p:cNvSpPr txBox="1"/>
          <p:nvPr/>
        </p:nvSpPr>
        <p:spPr>
          <a:xfrm>
            <a:off x="10332720" y="6400800"/>
            <a:ext cx="1399032" cy="274320"/>
          </a:xfrm>
          <a:prstGeom prst="rect">
            <a:avLst/>
          </a:prstGeom>
          <a:noFill/>
        </p:spPr>
        <p:txBody>
          <a:bodyPr wrap="square" lIns="0" rIns="0" tIns="0" bIns="0" anchor="t">
            <a:spAutoFit/>
          </a:bodyPr>
          <a:lstStyle/>
          <a:p>
            <a:pPr algn="r">
              <a:spcAft>
                <a:spcPts val="0"/>
              </a:spcAft>
            </a:pPr>
            <a:r>
              <a:rPr sz="1200" b="0" i="0">
                <a:solidFill>
                  <a:srgbClr val="595959"/>
                </a:solidFill>
                <a:latin typeface="Arial"/>
              </a:rPr>
              <a:t>6 / 8</a:t>
            </a:r>
          </a:p>
        </p:txBody>
      </p:sp>
      <p:sp>
        <p:nvSpPr>
          <p:cNvPr id="9" name="TextBox 8"/>
          <p:cNvSpPr txBox="1"/>
          <p:nvPr/>
        </p:nvSpPr>
        <p:spPr>
          <a:xfrm>
            <a:off x="457200" y="2514600"/>
            <a:ext cx="2651760" cy="640080"/>
          </a:xfrm>
          <a:prstGeom prst="rect">
            <a:avLst/>
          </a:prstGeom>
          <a:noFill/>
        </p:spPr>
        <p:txBody>
          <a:bodyPr wrap="square" lIns="0" rIns="0" tIns="0" bIns="0" anchor="t">
            <a:spAutoFit/>
          </a:bodyPr>
          <a:lstStyle/>
          <a:p>
            <a:pPr algn="l">
              <a:spcAft>
                <a:spcPts val="0"/>
              </a:spcAft>
            </a:pPr>
            <a:r>
              <a:rPr sz="3000" b="0" i="0">
                <a:solidFill>
                  <a:srgbClr val="0000CD"/>
                </a:solidFill>
                <a:latin typeface="Arial"/>
              </a:rPr>
              <a:t>LCOE</a:t>
            </a:r>
          </a:p>
        </p:txBody>
      </p:sp>
      <p:sp>
        <p:nvSpPr>
          <p:cNvPr id="10" name="TextBox 9"/>
          <p:cNvSpPr txBox="1"/>
          <p:nvPr/>
        </p:nvSpPr>
        <p:spPr>
          <a:xfrm>
            <a:off x="457200" y="3291840"/>
            <a:ext cx="2651760" cy="914400"/>
          </a:xfrm>
          <a:prstGeom prst="rect">
            <a:avLst/>
          </a:prstGeom>
          <a:noFill/>
        </p:spPr>
        <p:txBody>
          <a:bodyPr wrap="square" lIns="0" rIns="0" tIns="0" bIns="0" anchor="t">
            <a:spAutoFit/>
          </a:bodyPr>
          <a:lstStyle/>
          <a:p>
            <a:pPr algn="l">
              <a:spcAft>
                <a:spcPts val="600"/>
              </a:spcAft>
            </a:pPr>
            <a:r>
              <a:rPr sz="2000" b="0" i="0">
                <a:solidFill>
                  <a:srgbClr val="595959"/>
                </a:solidFill>
                <a:latin typeface="Arial"/>
              </a:rPr>
              <a:t>what it costs to produce one MWh</a:t>
            </a:r>
          </a:p>
        </p:txBody>
      </p:sp>
      <p:sp>
        <p:nvSpPr>
          <p:cNvPr id="11" name="TextBox 10"/>
          <p:cNvSpPr txBox="1"/>
          <p:nvPr/>
        </p:nvSpPr>
        <p:spPr>
          <a:xfrm>
            <a:off x="3886200" y="2514600"/>
            <a:ext cx="3108960" cy="640080"/>
          </a:xfrm>
          <a:prstGeom prst="rect">
            <a:avLst/>
          </a:prstGeom>
          <a:noFill/>
        </p:spPr>
        <p:txBody>
          <a:bodyPr wrap="square" lIns="0" rIns="0" tIns="0" bIns="0" anchor="t">
            <a:spAutoFit/>
          </a:bodyPr>
          <a:lstStyle/>
          <a:p>
            <a:pPr algn="l">
              <a:spcAft>
                <a:spcPts val="0"/>
              </a:spcAft>
            </a:pPr>
            <a:r>
              <a:rPr sz="3000" b="0" i="0">
                <a:solidFill>
                  <a:srgbClr val="0000CD"/>
                </a:solidFill>
                <a:latin typeface="Arial"/>
              </a:rPr>
              <a:t>capture value</a:t>
            </a:r>
          </a:p>
        </p:txBody>
      </p:sp>
      <p:sp>
        <p:nvSpPr>
          <p:cNvPr id="12" name="TextBox 11"/>
          <p:cNvSpPr txBox="1"/>
          <p:nvPr/>
        </p:nvSpPr>
        <p:spPr>
          <a:xfrm>
            <a:off x="3886200" y="3291840"/>
            <a:ext cx="3108960" cy="914400"/>
          </a:xfrm>
          <a:prstGeom prst="rect">
            <a:avLst/>
          </a:prstGeom>
          <a:noFill/>
        </p:spPr>
        <p:txBody>
          <a:bodyPr wrap="square" lIns="0" rIns="0" tIns="0" bIns="0" anchor="t">
            <a:spAutoFit/>
          </a:bodyPr>
          <a:lstStyle/>
          <a:p>
            <a:pPr algn="l">
              <a:spcAft>
                <a:spcPts val="600"/>
              </a:spcAft>
            </a:pPr>
            <a:r>
              <a:rPr sz="2000" b="0" i="0">
                <a:solidFill>
                  <a:srgbClr val="595959"/>
                </a:solidFill>
                <a:latin typeface="Arial"/>
              </a:rPr>
              <a:t>the share of the market price a farm receives</a:t>
            </a:r>
          </a:p>
        </p:txBody>
      </p:sp>
      <p:sp>
        <p:nvSpPr>
          <p:cNvPr id="13" name="TextBox 12"/>
          <p:cNvSpPr txBox="1"/>
          <p:nvPr/>
        </p:nvSpPr>
        <p:spPr>
          <a:xfrm>
            <a:off x="7726679" y="2514600"/>
            <a:ext cx="4023360" cy="640080"/>
          </a:xfrm>
          <a:prstGeom prst="rect">
            <a:avLst/>
          </a:prstGeom>
          <a:noFill/>
        </p:spPr>
        <p:txBody>
          <a:bodyPr wrap="square" lIns="0" rIns="0" tIns="0" bIns="0" anchor="t">
            <a:spAutoFit/>
          </a:bodyPr>
          <a:lstStyle/>
          <a:p>
            <a:pPr algn="l">
              <a:spcAft>
                <a:spcPts val="0"/>
              </a:spcAft>
            </a:pPr>
            <a:r>
              <a:rPr sz="3000" b="0" i="0">
                <a:solidFill>
                  <a:srgbClr val="0000CD"/>
                </a:solidFill>
                <a:latin typeface="Arial"/>
              </a:rPr>
              <a:t>value-adjusted LCOE</a:t>
            </a:r>
          </a:p>
        </p:txBody>
      </p:sp>
      <p:sp>
        <p:nvSpPr>
          <p:cNvPr id="14" name="TextBox 13"/>
          <p:cNvSpPr txBox="1"/>
          <p:nvPr/>
        </p:nvSpPr>
        <p:spPr>
          <a:xfrm>
            <a:off x="7726679" y="3291840"/>
            <a:ext cx="4023360" cy="914400"/>
          </a:xfrm>
          <a:prstGeom prst="rect">
            <a:avLst/>
          </a:prstGeom>
          <a:noFill/>
        </p:spPr>
        <p:txBody>
          <a:bodyPr wrap="square" lIns="0" rIns="0" tIns="0" bIns="0" anchor="t">
            <a:spAutoFit/>
          </a:bodyPr>
          <a:lstStyle/>
          <a:p>
            <a:pPr algn="l">
              <a:spcAft>
                <a:spcPts val="600"/>
              </a:spcAft>
            </a:pPr>
            <a:r>
              <a:rPr sz="2000" b="0" i="0">
                <a:solidFill>
                  <a:srgbClr val="595959"/>
                </a:solidFill>
                <a:latin typeface="Arial"/>
              </a:rPr>
              <a:t>the market price a farm needs to break even</a:t>
            </a:r>
          </a:p>
        </p:txBody>
      </p:sp>
      <p:sp>
        <p:nvSpPr>
          <p:cNvPr id="15" name="TextBox 14"/>
          <p:cNvSpPr txBox="1"/>
          <p:nvPr/>
        </p:nvSpPr>
        <p:spPr>
          <a:xfrm>
            <a:off x="3154680" y="2423160"/>
            <a:ext cx="731520" cy="822960"/>
          </a:xfrm>
          <a:prstGeom prst="rect">
            <a:avLst/>
          </a:prstGeom>
          <a:noFill/>
        </p:spPr>
        <p:txBody>
          <a:bodyPr wrap="square" lIns="0" rIns="0" tIns="0" bIns="0" anchor="t">
            <a:spAutoFit/>
          </a:bodyPr>
          <a:lstStyle/>
          <a:p>
            <a:pPr algn="ctr">
              <a:spcAft>
                <a:spcPts val="0"/>
              </a:spcAft>
            </a:pPr>
            <a:r>
              <a:rPr sz="4000" b="0" i="0">
                <a:solidFill>
                  <a:srgbClr val="595959"/>
                </a:solidFill>
                <a:latin typeface="Arial"/>
              </a:rPr>
              <a:t>÷</a:t>
            </a:r>
          </a:p>
        </p:txBody>
      </p:sp>
      <p:sp>
        <p:nvSpPr>
          <p:cNvPr id="16" name="TextBox 15"/>
          <p:cNvSpPr txBox="1"/>
          <p:nvPr/>
        </p:nvSpPr>
        <p:spPr>
          <a:xfrm>
            <a:off x="7040880" y="2423160"/>
            <a:ext cx="685800" cy="822960"/>
          </a:xfrm>
          <a:prstGeom prst="rect">
            <a:avLst/>
          </a:prstGeom>
          <a:noFill/>
        </p:spPr>
        <p:txBody>
          <a:bodyPr wrap="square" lIns="0" rIns="0" tIns="0" bIns="0" anchor="t">
            <a:spAutoFit/>
          </a:bodyPr>
          <a:lstStyle/>
          <a:p>
            <a:pPr algn="ctr">
              <a:spcAft>
                <a:spcPts val="0"/>
              </a:spcAft>
            </a:pPr>
            <a:r>
              <a:rPr sz="4000" b="0" i="0">
                <a:solidFill>
                  <a:srgbClr val="595959"/>
                </a:solidFill>
                <a:latin typeface="Arial"/>
              </a:rPr>
              <a:t>=</a:t>
            </a:r>
          </a:p>
        </p:txBody>
      </p:sp>
      <p:sp>
        <p:nvSpPr>
          <p:cNvPr id="17" name="TextBox 16"/>
          <p:cNvSpPr txBox="1"/>
          <p:nvPr/>
        </p:nvSpPr>
        <p:spPr>
          <a:xfrm>
            <a:off x="457200" y="4572000"/>
            <a:ext cx="11247120" cy="1097280"/>
          </a:xfrm>
          <a:prstGeom prst="rect">
            <a:avLst/>
          </a:prstGeom>
          <a:noFill/>
        </p:spPr>
        <p:txBody>
          <a:bodyPr wrap="square" lIns="0" rIns="0" tIns="0" bIns="0" anchor="t">
            <a:spAutoFit/>
          </a:bodyPr>
          <a:lstStyle/>
          <a:p>
            <a:pPr algn="l">
              <a:spcAft>
                <a:spcPts val="600"/>
              </a:spcAft>
            </a:pPr>
            <a:r>
              <a:rPr sz="2000" b="0" i="0">
                <a:solidFill>
                  <a:srgbClr val="0000CD"/>
                </a:solidFill>
                <a:latin typeface="Arial"/>
              </a:rPr>
              <a:t>By 2040 the median site costs 66 EUR/MWh to build, less than in 2025. Its break-even price rises to 121 EUR/MWh, because capture value falls faster than cost.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ack"/>
          <p:cNvSpPr txBox="1"/>
          <p:nvPr/>
        </p:nvSpPr>
        <p:spPr>
          <a:xfrm>
            <a:off x="457200" y="164592"/>
            <a:ext cx="91440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Background</a:t>
            </a:r>
            <a:r>
              <a:rPr sz="1200" b="0" i="0">
                <a:solidFill>
                  <a:srgbClr val="BFBFBF"/>
                </a:solidFill>
                <a:latin typeface="Arial"/>
              </a:rPr>
              <a:t>   ›   </a:t>
            </a:r>
            <a:r>
              <a:rPr sz="1200" b="0" i="0">
                <a:solidFill>
                  <a:srgbClr val="595959"/>
                </a:solidFill>
                <a:latin typeface="Arial"/>
              </a:rPr>
              <a:t>Question and method</a:t>
            </a:r>
            <a:r>
              <a:rPr sz="1200" b="0" i="0">
                <a:solidFill>
                  <a:srgbClr val="BFBFBF"/>
                </a:solidFill>
                <a:latin typeface="Arial"/>
              </a:rPr>
              <a:t>   ›   </a:t>
            </a:r>
            <a:r>
              <a:rPr sz="1200" b="1" i="0">
                <a:solidFill>
                  <a:srgbClr val="0000CD"/>
                </a:solidFill>
                <a:latin typeface="Arial"/>
              </a:rPr>
              <a:t>Results</a:t>
            </a:r>
            <a:r>
              <a:rPr sz="1200" b="0" i="0">
                <a:solidFill>
                  <a:srgbClr val="BFBFBF"/>
                </a:solidFill>
                <a:latin typeface="Arial"/>
              </a:rPr>
              <a:t>   ›   </a:t>
            </a:r>
            <a:r>
              <a:rPr sz="1200" b="0" i="0">
                <a:solidFill>
                  <a:srgbClr val="595959"/>
                </a:solidFill>
                <a:latin typeface="Arial"/>
              </a:rPr>
              <a:t>Conclusion</a:t>
            </a:r>
          </a:p>
        </p:txBody>
      </p:sp>
      <p:sp>
        <p:nvSpPr>
          <p:cNvPr id="3" name="!!title"/>
          <p:cNvSpPr txBox="1"/>
          <p:nvPr/>
        </p:nvSpPr>
        <p:spPr>
          <a:xfrm>
            <a:off x="457200" y="384048"/>
            <a:ext cx="10424160" cy="914400"/>
          </a:xfrm>
          <a:prstGeom prst="rect">
            <a:avLst/>
          </a:prstGeom>
          <a:noFill/>
        </p:spPr>
        <p:txBody>
          <a:bodyPr wrap="square" lIns="0" rIns="0" tIns="0" bIns="0" anchor="t">
            <a:spAutoFit/>
          </a:bodyPr>
          <a:lstStyle/>
          <a:p>
            <a:pPr algn="l">
              <a:spcAft>
                <a:spcPts val="0"/>
              </a:spcAft>
            </a:pPr>
            <a:r>
              <a:rPr sz="2800" b="1" i="0">
                <a:solidFill>
                  <a:srgbClr val="0000CD"/>
                </a:solidFill>
                <a:latin typeface="Arial"/>
              </a:rPr>
              <a:t>Under today's grid most of the seabed studied cannot pay back by 2040</a:t>
            </a:r>
          </a:p>
        </p:txBody>
      </p:sp>
      <p:pic>
        <p:nvPicPr>
          <p:cNvPr id="4" name="!!crest" descr="Imperial_College_London_crest.png"/>
          <p:cNvPicPr>
            <a:picLocks noChangeAspect="1"/>
          </p:cNvPicPr>
          <p:nvPr/>
        </p:nvPicPr>
        <p:blipFill>
          <a:blip r:embed="rId2"/>
          <a:stretch>
            <a:fillRect/>
          </a:stretch>
        </p:blipFill>
        <p:spPr>
          <a:xfrm>
            <a:off x="11155680" y="274320"/>
            <a:ext cx="566928" cy="607280"/>
          </a:xfrm>
          <a:prstGeom prst="rect">
            <a:avLst/>
          </a:prstGeom>
          <a:ln>
            <a:noFill/>
          </a:ln>
        </p:spPr>
      </p:pic>
      <p:sp>
        <p:nvSpPr>
          <p:cNvPr id="5" name="!!source"/>
          <p:cNvSpPr txBox="1"/>
          <p:nvPr/>
        </p:nvSpPr>
        <p:spPr>
          <a:xfrm>
            <a:off x="457200" y="6053328"/>
            <a:ext cx="8686800" cy="256032"/>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Source: PyPSA-Eur 2040, grid frozen at today's network. LCOE from the model's cost assumptions. Own analysis.</a:t>
            </a:r>
          </a:p>
        </p:txBody>
      </p:sp>
      <p:cxnSp>
        <p:nvCxnSpPr>
          <p:cNvPr id="6" name="!!footrule"/>
          <p:cNvCxnSpPr/>
          <p:nvPr/>
        </p:nvCxnSpPr>
        <p:spPr>
          <a:xfrm>
            <a:off x="457200" y="6336792"/>
            <a:ext cx="11274552"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footer"/>
          <p:cNvSpPr txBox="1"/>
          <p:nvPr/>
        </p:nvSpPr>
        <p:spPr>
          <a:xfrm>
            <a:off x="457200" y="6400800"/>
            <a:ext cx="82296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Faisal Bindakhil  |  MSc Thesis  |  Offshore wind cannibalisation in the Baltic and North Sea</a:t>
            </a:r>
          </a:p>
        </p:txBody>
      </p:sp>
      <p:sp>
        <p:nvSpPr>
          <p:cNvPr id="8" name="!!pageno"/>
          <p:cNvSpPr txBox="1"/>
          <p:nvPr/>
        </p:nvSpPr>
        <p:spPr>
          <a:xfrm>
            <a:off x="10332720" y="6400800"/>
            <a:ext cx="1399032" cy="274320"/>
          </a:xfrm>
          <a:prstGeom prst="rect">
            <a:avLst/>
          </a:prstGeom>
          <a:noFill/>
        </p:spPr>
        <p:txBody>
          <a:bodyPr wrap="square" lIns="0" rIns="0" tIns="0" bIns="0" anchor="t">
            <a:spAutoFit/>
          </a:bodyPr>
          <a:lstStyle/>
          <a:p>
            <a:pPr algn="r">
              <a:spcAft>
                <a:spcPts val="0"/>
              </a:spcAft>
            </a:pPr>
            <a:r>
              <a:rPr sz="1200" b="0" i="0">
                <a:solidFill>
                  <a:srgbClr val="595959"/>
                </a:solidFill>
                <a:latin typeface="Arial"/>
              </a:rPr>
              <a:t>7 / 8</a:t>
            </a:r>
          </a:p>
        </p:txBody>
      </p:sp>
      <p:pic>
        <p:nvPicPr>
          <p:cNvPr id="9" name="!!map" descr="vlcoe_frozen.png"/>
          <p:cNvPicPr>
            <a:picLocks noChangeAspect="1"/>
          </p:cNvPicPr>
          <p:nvPr/>
        </p:nvPicPr>
        <p:blipFill>
          <a:blip r:embed="rId3"/>
          <a:stretch>
            <a:fillRect/>
          </a:stretch>
        </p:blipFill>
        <p:spPr>
          <a:xfrm>
            <a:off x="1889607" y="1325880"/>
            <a:ext cx="8412480" cy="3965293"/>
          </a:xfrm>
          <a:prstGeom prst="rect">
            <a:avLst/>
          </a:prstGeom>
          <a:ln w="6350">
            <a:solidFill>
              <a:srgbClr val="BFBFBF"/>
            </a:solidFill>
          </a:ln>
        </p:spPr>
      </p:pic>
      <p:sp>
        <p:nvSpPr>
          <p:cNvPr id="10" name="!!cb_0"/>
          <p:cNvSpPr/>
          <p:nvPr/>
        </p:nvSpPr>
        <p:spPr>
          <a:xfrm>
            <a:off x="2209647" y="4148173"/>
            <a:ext cx="146304" cy="256032"/>
          </a:xfrm>
          <a:prstGeom prst="rect">
            <a:avLst/>
          </a:prstGeom>
          <a:solidFill>
            <a:srgbClr val="057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b_1"/>
          <p:cNvSpPr/>
          <p:nvPr/>
        </p:nvSpPr>
        <p:spPr>
          <a:xfrm>
            <a:off x="2346807" y="4148173"/>
            <a:ext cx="146304" cy="256032"/>
          </a:xfrm>
          <a:prstGeom prst="rect">
            <a:avLst/>
          </a:prstGeom>
          <a:solidFill>
            <a:srgbClr val="108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b_2"/>
          <p:cNvSpPr/>
          <p:nvPr/>
        </p:nvSpPr>
        <p:spPr>
          <a:xfrm>
            <a:off x="2483967" y="4148173"/>
            <a:ext cx="146304" cy="256032"/>
          </a:xfrm>
          <a:prstGeom prst="rect">
            <a:avLst/>
          </a:prstGeom>
          <a:solidFill>
            <a:srgbClr val="1B9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b_3"/>
          <p:cNvSpPr/>
          <p:nvPr/>
        </p:nvSpPr>
        <p:spPr>
          <a:xfrm>
            <a:off x="2621127" y="4148173"/>
            <a:ext cx="146304" cy="256032"/>
          </a:xfrm>
          <a:prstGeom prst="rect">
            <a:avLst/>
          </a:prstGeom>
          <a:solidFill>
            <a:srgbClr val="3CA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b_4"/>
          <p:cNvSpPr/>
          <p:nvPr/>
        </p:nvSpPr>
        <p:spPr>
          <a:xfrm>
            <a:off x="2758287" y="4148173"/>
            <a:ext cx="146304" cy="256032"/>
          </a:xfrm>
          <a:prstGeom prst="rect">
            <a:avLst/>
          </a:prstGeom>
          <a:solidFill>
            <a:srgbClr val="5DB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b_5"/>
          <p:cNvSpPr/>
          <p:nvPr/>
        </p:nvSpPr>
        <p:spPr>
          <a:xfrm>
            <a:off x="2895447" y="4148173"/>
            <a:ext cx="146304" cy="256032"/>
          </a:xfrm>
          <a:prstGeom prst="rect">
            <a:avLst/>
          </a:prstGeom>
          <a:solidFill>
            <a:srgbClr val="77C4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b_6"/>
          <p:cNvSpPr/>
          <p:nvPr/>
        </p:nvSpPr>
        <p:spPr>
          <a:xfrm>
            <a:off x="3032607" y="4148173"/>
            <a:ext cx="146304" cy="256032"/>
          </a:xfrm>
          <a:prstGeom prst="rect">
            <a:avLst/>
          </a:prstGeom>
          <a:solidFill>
            <a:srgbClr val="93D0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b_7"/>
          <p:cNvSpPr/>
          <p:nvPr/>
        </p:nvSpPr>
        <p:spPr>
          <a:xfrm>
            <a:off x="3169767" y="4148173"/>
            <a:ext cx="146304" cy="256032"/>
          </a:xfrm>
          <a:prstGeom prst="rect">
            <a:avLst/>
          </a:prstGeom>
          <a:solidFill>
            <a:srgbClr val="ADD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b_8"/>
          <p:cNvSpPr/>
          <p:nvPr/>
        </p:nvSpPr>
        <p:spPr>
          <a:xfrm>
            <a:off x="3306927" y="4148173"/>
            <a:ext cx="146304" cy="256032"/>
          </a:xfrm>
          <a:prstGeom prst="rect">
            <a:avLst/>
          </a:prstGeom>
          <a:solidFill>
            <a:srgbClr val="C1E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b_9"/>
          <p:cNvSpPr/>
          <p:nvPr/>
        </p:nvSpPr>
        <p:spPr>
          <a:xfrm>
            <a:off x="3444087" y="4148173"/>
            <a:ext cx="146304" cy="256032"/>
          </a:xfrm>
          <a:prstGeom prst="rect">
            <a:avLst/>
          </a:prstGeom>
          <a:solidFill>
            <a:srgbClr val="D7E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b_10"/>
          <p:cNvSpPr/>
          <p:nvPr/>
        </p:nvSpPr>
        <p:spPr>
          <a:xfrm>
            <a:off x="3581247" y="4148173"/>
            <a:ext cx="146304" cy="256032"/>
          </a:xfrm>
          <a:prstGeom prst="rect">
            <a:avLst/>
          </a:prstGeom>
          <a:solidFill>
            <a:srgbClr val="E7F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b_11"/>
          <p:cNvSpPr/>
          <p:nvPr/>
        </p:nvSpPr>
        <p:spPr>
          <a:xfrm>
            <a:off x="3718407" y="4148173"/>
            <a:ext cx="146304" cy="256032"/>
          </a:xfrm>
          <a:prstGeom prst="rect">
            <a:avLst/>
          </a:prstGeom>
          <a:solidFill>
            <a:srgbClr val="F6F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b_12"/>
          <p:cNvSpPr/>
          <p:nvPr/>
        </p:nvSpPr>
        <p:spPr>
          <a:xfrm>
            <a:off x="3855567" y="4148173"/>
            <a:ext cx="146304" cy="256032"/>
          </a:xfrm>
          <a:prstGeom prst="rect">
            <a:avLst/>
          </a:prstGeom>
          <a:solidFill>
            <a:srgbClr val="FEF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b_13"/>
          <p:cNvSpPr/>
          <p:nvPr/>
        </p:nvSpPr>
        <p:spPr>
          <a:xfrm>
            <a:off x="3992727" y="4148173"/>
            <a:ext cx="146304" cy="256032"/>
          </a:xfrm>
          <a:prstGeom prst="rect">
            <a:avLst/>
          </a:prstGeom>
          <a:solidFill>
            <a:srgbClr val="FEEA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b_14"/>
          <p:cNvSpPr/>
          <p:nvPr/>
        </p:nvSpPr>
        <p:spPr>
          <a:xfrm>
            <a:off x="4129887" y="4148173"/>
            <a:ext cx="146304" cy="256032"/>
          </a:xfrm>
          <a:prstGeom prst="rect">
            <a:avLst/>
          </a:prstGeom>
          <a:solidFill>
            <a:srgbClr val="FDD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b_15"/>
          <p:cNvSpPr/>
          <p:nvPr/>
        </p:nvSpPr>
        <p:spPr>
          <a:xfrm>
            <a:off x="4267047" y="4148173"/>
            <a:ext cx="146304" cy="256032"/>
          </a:xfrm>
          <a:prstGeom prst="rect">
            <a:avLst/>
          </a:prstGeom>
          <a:solidFill>
            <a:srgbClr val="FDC8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b_16"/>
          <p:cNvSpPr/>
          <p:nvPr/>
        </p:nvSpPr>
        <p:spPr>
          <a:xfrm>
            <a:off x="4404207" y="4148173"/>
            <a:ext cx="146304" cy="256032"/>
          </a:xfrm>
          <a:prstGeom prst="rect">
            <a:avLst/>
          </a:prstGeom>
          <a:solidFill>
            <a:srgbClr val="FDB2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b_17"/>
          <p:cNvSpPr/>
          <p:nvPr/>
        </p:nvSpPr>
        <p:spPr>
          <a:xfrm>
            <a:off x="4541367" y="4148173"/>
            <a:ext cx="146304" cy="256032"/>
          </a:xfrm>
          <a:prstGeom prst="rect">
            <a:avLst/>
          </a:prstGeom>
          <a:solidFill>
            <a:srgbClr val="FA9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b_18"/>
          <p:cNvSpPr/>
          <p:nvPr/>
        </p:nvSpPr>
        <p:spPr>
          <a:xfrm>
            <a:off x="4678527" y="4148173"/>
            <a:ext cx="146304" cy="256032"/>
          </a:xfrm>
          <a:prstGeom prst="rect">
            <a:avLst/>
          </a:prstGeom>
          <a:solidFill>
            <a:srgbClr val="F67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b_19"/>
          <p:cNvSpPr/>
          <p:nvPr/>
        </p:nvSpPr>
        <p:spPr>
          <a:xfrm>
            <a:off x="4815687" y="4148173"/>
            <a:ext cx="146304" cy="256032"/>
          </a:xfrm>
          <a:prstGeom prst="rect">
            <a:avLst/>
          </a:prstGeom>
          <a:solidFill>
            <a:srgbClr val="EF6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b_20"/>
          <p:cNvSpPr/>
          <p:nvPr/>
        </p:nvSpPr>
        <p:spPr>
          <a:xfrm>
            <a:off x="4952847" y="4148173"/>
            <a:ext cx="146304" cy="256032"/>
          </a:xfrm>
          <a:prstGeom prst="rect">
            <a:avLst/>
          </a:prstGeom>
          <a:solidFill>
            <a:srgbClr val="E44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b_21"/>
          <p:cNvSpPr/>
          <p:nvPr/>
        </p:nvSpPr>
        <p:spPr>
          <a:xfrm>
            <a:off x="5090007" y="4148173"/>
            <a:ext cx="146304" cy="256032"/>
          </a:xfrm>
          <a:prstGeom prst="rect">
            <a:avLst/>
          </a:prstGeom>
          <a:solidFill>
            <a:srgbClr val="D73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b_22"/>
          <p:cNvSpPr/>
          <p:nvPr/>
        </p:nvSpPr>
        <p:spPr>
          <a:xfrm>
            <a:off x="5227167" y="4148173"/>
            <a:ext cx="146304" cy="256032"/>
          </a:xfrm>
          <a:prstGeom prst="rect">
            <a:avLst/>
          </a:prstGeom>
          <a:solidFill>
            <a:srgbClr val="C2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b_23"/>
          <p:cNvSpPr/>
          <p:nvPr/>
        </p:nvSpPr>
        <p:spPr>
          <a:xfrm>
            <a:off x="5364327" y="4148173"/>
            <a:ext cx="146304" cy="256032"/>
          </a:xfrm>
          <a:prstGeom prst="rect">
            <a:avLst/>
          </a:prstGeom>
          <a:solidFill>
            <a:srgbClr val="AE09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4" name="Connector 33"/>
          <p:cNvCxnSpPr/>
          <p:nvPr/>
        </p:nvCxnSpPr>
        <p:spPr>
          <a:xfrm>
            <a:off x="262112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25536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60</a:t>
            </a:r>
          </a:p>
        </p:txBody>
      </p:sp>
      <p:cxnSp>
        <p:nvCxnSpPr>
          <p:cNvPr id="36" name="Connector 35"/>
          <p:cNvCxnSpPr/>
          <p:nvPr/>
        </p:nvCxnSpPr>
        <p:spPr>
          <a:xfrm>
            <a:off x="316976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80400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80</a:t>
            </a:r>
          </a:p>
        </p:txBody>
      </p:sp>
      <p:cxnSp>
        <p:nvCxnSpPr>
          <p:cNvPr id="38" name="Connector 37"/>
          <p:cNvCxnSpPr/>
          <p:nvPr/>
        </p:nvCxnSpPr>
        <p:spPr>
          <a:xfrm>
            <a:off x="371840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5264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100</a:t>
            </a:r>
          </a:p>
        </p:txBody>
      </p:sp>
      <p:cxnSp>
        <p:nvCxnSpPr>
          <p:cNvPr id="40" name="Connector 39"/>
          <p:cNvCxnSpPr/>
          <p:nvPr/>
        </p:nvCxnSpPr>
        <p:spPr>
          <a:xfrm>
            <a:off x="426704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390128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120</a:t>
            </a:r>
          </a:p>
        </p:txBody>
      </p:sp>
      <p:cxnSp>
        <p:nvCxnSpPr>
          <p:cNvPr id="42" name="Connector 41"/>
          <p:cNvCxnSpPr/>
          <p:nvPr/>
        </p:nvCxnSpPr>
        <p:spPr>
          <a:xfrm>
            <a:off x="481568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44992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140</a:t>
            </a:r>
          </a:p>
        </p:txBody>
      </p:sp>
      <p:cxnSp>
        <p:nvCxnSpPr>
          <p:cNvPr id="44" name="Connector 43"/>
          <p:cNvCxnSpPr/>
          <p:nvPr/>
        </p:nvCxnSpPr>
        <p:spPr>
          <a:xfrm>
            <a:off x="536432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99856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160</a:t>
            </a:r>
          </a:p>
        </p:txBody>
      </p:sp>
      <p:sp>
        <p:nvSpPr>
          <p:cNvPr id="46" name="TextBox 45"/>
          <p:cNvSpPr txBox="1"/>
          <p:nvPr/>
        </p:nvSpPr>
        <p:spPr>
          <a:xfrm>
            <a:off x="2209647" y="4806541"/>
            <a:ext cx="4663440" cy="274320"/>
          </a:xfrm>
          <a:prstGeom prst="rect">
            <a:avLst/>
          </a:prstGeom>
          <a:noFill/>
        </p:spPr>
        <p:txBody>
          <a:bodyPr wrap="square" lIns="0" rIns="0" tIns="0" bIns="0" anchor="t">
            <a:spAutoFit/>
          </a:bodyPr>
          <a:lstStyle/>
          <a:p>
            <a:pPr algn="l">
              <a:spcAft>
                <a:spcPts val="0"/>
              </a:spcAft>
            </a:pPr>
            <a:r>
              <a:rPr sz="1600" b="0" i="0">
                <a:solidFill>
                  <a:srgbClr val="1A1A1A"/>
                </a:solidFill>
                <a:latin typeface="Arial"/>
              </a:rPr>
              <a:t>value-adjusted LCOE, EUR per MWh</a:t>
            </a:r>
          </a:p>
        </p:txBody>
      </p:sp>
      <p:sp>
        <p:nvSpPr>
          <p:cNvPr id="47" name="TextBox 46"/>
          <p:cNvSpPr txBox="1"/>
          <p:nvPr/>
        </p:nvSpPr>
        <p:spPr>
          <a:xfrm>
            <a:off x="6768846" y="3705056"/>
            <a:ext cx="3449116" cy="1737360"/>
          </a:xfrm>
          <a:prstGeom prst="rect">
            <a:avLst/>
          </a:prstGeom>
          <a:noFill/>
        </p:spPr>
        <p:txBody>
          <a:bodyPr wrap="square" lIns="0" rIns="0" tIns="0" bIns="0" anchor="t">
            <a:spAutoFit/>
          </a:bodyPr>
          <a:lstStyle/>
          <a:p>
            <a:pPr algn="l">
              <a:spcAft>
                <a:spcPts val="600"/>
              </a:spcAft>
            </a:pPr>
            <a:r>
              <a:rPr sz="2000" b="0" i="0">
                <a:solidFill>
                  <a:srgbClr val="1A1A1A"/>
                </a:solidFill>
                <a:latin typeface="Arial"/>
              </a:rPr>
              <a:t>In 2040 the median site needs 121 EUR/MWh to break even under today's grid. Less than 1 per cent of the seabed clears 70 EUR/MWh.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ack"/>
          <p:cNvSpPr txBox="1"/>
          <p:nvPr/>
        </p:nvSpPr>
        <p:spPr>
          <a:xfrm>
            <a:off x="457200" y="164592"/>
            <a:ext cx="91440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Background</a:t>
            </a:r>
            <a:r>
              <a:rPr sz="1200" b="0" i="0">
                <a:solidFill>
                  <a:srgbClr val="BFBFBF"/>
                </a:solidFill>
                <a:latin typeface="Arial"/>
              </a:rPr>
              <a:t>   ›   </a:t>
            </a:r>
            <a:r>
              <a:rPr sz="1200" b="0" i="0">
                <a:solidFill>
                  <a:srgbClr val="595959"/>
                </a:solidFill>
                <a:latin typeface="Arial"/>
              </a:rPr>
              <a:t>Question and method</a:t>
            </a:r>
            <a:r>
              <a:rPr sz="1200" b="0" i="0">
                <a:solidFill>
                  <a:srgbClr val="BFBFBF"/>
                </a:solidFill>
                <a:latin typeface="Arial"/>
              </a:rPr>
              <a:t>   ›   </a:t>
            </a:r>
            <a:r>
              <a:rPr sz="1200" b="0" i="0">
                <a:solidFill>
                  <a:srgbClr val="595959"/>
                </a:solidFill>
                <a:latin typeface="Arial"/>
              </a:rPr>
              <a:t>Results</a:t>
            </a:r>
            <a:r>
              <a:rPr sz="1200" b="0" i="0">
                <a:solidFill>
                  <a:srgbClr val="BFBFBF"/>
                </a:solidFill>
                <a:latin typeface="Arial"/>
              </a:rPr>
              <a:t>   ›   </a:t>
            </a:r>
            <a:r>
              <a:rPr sz="1200" b="1" i="0">
                <a:solidFill>
                  <a:srgbClr val="0000CD"/>
                </a:solidFill>
                <a:latin typeface="Arial"/>
              </a:rPr>
              <a:t>Conclusion</a:t>
            </a:r>
          </a:p>
        </p:txBody>
      </p:sp>
      <p:sp>
        <p:nvSpPr>
          <p:cNvPr id="3" name="!!title"/>
          <p:cNvSpPr txBox="1"/>
          <p:nvPr/>
        </p:nvSpPr>
        <p:spPr>
          <a:xfrm>
            <a:off x="457200" y="384048"/>
            <a:ext cx="10424160" cy="914400"/>
          </a:xfrm>
          <a:prstGeom prst="rect">
            <a:avLst/>
          </a:prstGeom>
          <a:noFill/>
        </p:spPr>
        <p:txBody>
          <a:bodyPr wrap="square" lIns="0" rIns="0" tIns="0" bIns="0" anchor="t">
            <a:spAutoFit/>
          </a:bodyPr>
          <a:lstStyle/>
          <a:p>
            <a:pPr algn="l">
              <a:spcAft>
                <a:spcPts val="0"/>
              </a:spcAft>
            </a:pPr>
            <a:r>
              <a:rPr sz="2800" b="1" i="0">
                <a:solidFill>
                  <a:srgbClr val="0000CD"/>
                </a:solidFill>
                <a:latin typeface="Arial"/>
              </a:rPr>
              <a:t>Expanding the grid lets most of the Baltic seabed pay back by 2040</a:t>
            </a:r>
          </a:p>
        </p:txBody>
      </p:sp>
      <p:pic>
        <p:nvPicPr>
          <p:cNvPr id="4" name="!!crest" descr="Imperial_College_London_crest.png"/>
          <p:cNvPicPr>
            <a:picLocks noChangeAspect="1"/>
          </p:cNvPicPr>
          <p:nvPr/>
        </p:nvPicPr>
        <p:blipFill>
          <a:blip r:embed="rId2"/>
          <a:stretch>
            <a:fillRect/>
          </a:stretch>
        </p:blipFill>
        <p:spPr>
          <a:xfrm>
            <a:off x="11155680" y="274320"/>
            <a:ext cx="566928" cy="607280"/>
          </a:xfrm>
          <a:prstGeom prst="rect">
            <a:avLst/>
          </a:prstGeom>
          <a:ln>
            <a:noFill/>
          </a:ln>
        </p:spPr>
      </p:pic>
      <p:sp>
        <p:nvSpPr>
          <p:cNvPr id="5" name="!!source"/>
          <p:cNvSpPr txBox="1"/>
          <p:nvPr/>
        </p:nvSpPr>
        <p:spPr>
          <a:xfrm>
            <a:off x="457200" y="6053328"/>
            <a:ext cx="8686800" cy="256032"/>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Source: PyPSA-Eur 2040, transmission expanded at least cost. Own analysis.</a:t>
            </a:r>
          </a:p>
        </p:txBody>
      </p:sp>
      <p:cxnSp>
        <p:nvCxnSpPr>
          <p:cNvPr id="6" name="!!footrule"/>
          <p:cNvCxnSpPr/>
          <p:nvPr/>
        </p:nvCxnSpPr>
        <p:spPr>
          <a:xfrm>
            <a:off x="457200" y="6336792"/>
            <a:ext cx="11274552"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footer"/>
          <p:cNvSpPr txBox="1"/>
          <p:nvPr/>
        </p:nvSpPr>
        <p:spPr>
          <a:xfrm>
            <a:off x="457200" y="6400800"/>
            <a:ext cx="8229600" cy="274320"/>
          </a:xfrm>
          <a:prstGeom prst="rect">
            <a:avLst/>
          </a:prstGeom>
          <a:noFill/>
        </p:spPr>
        <p:txBody>
          <a:bodyPr wrap="square" lIns="0" rIns="0" tIns="0" bIns="0" anchor="t">
            <a:spAutoFit/>
          </a:bodyPr>
          <a:lstStyle/>
          <a:p>
            <a:pPr algn="l">
              <a:spcAft>
                <a:spcPts val="0"/>
              </a:spcAft>
            </a:pPr>
            <a:r>
              <a:rPr sz="1200" b="0" i="0">
                <a:solidFill>
                  <a:srgbClr val="595959"/>
                </a:solidFill>
                <a:latin typeface="Arial"/>
              </a:rPr>
              <a:t>Faisal Bindakhil  |  MSc Thesis  |  Offshore wind cannibalisation in the Baltic and North Sea</a:t>
            </a:r>
          </a:p>
        </p:txBody>
      </p:sp>
      <p:sp>
        <p:nvSpPr>
          <p:cNvPr id="8" name="!!pageno"/>
          <p:cNvSpPr txBox="1"/>
          <p:nvPr/>
        </p:nvSpPr>
        <p:spPr>
          <a:xfrm>
            <a:off x="10332720" y="6400800"/>
            <a:ext cx="1399032" cy="274320"/>
          </a:xfrm>
          <a:prstGeom prst="rect">
            <a:avLst/>
          </a:prstGeom>
          <a:noFill/>
        </p:spPr>
        <p:txBody>
          <a:bodyPr wrap="square" lIns="0" rIns="0" tIns="0" bIns="0" anchor="t">
            <a:spAutoFit/>
          </a:bodyPr>
          <a:lstStyle/>
          <a:p>
            <a:pPr algn="r">
              <a:spcAft>
                <a:spcPts val="0"/>
              </a:spcAft>
            </a:pPr>
            <a:r>
              <a:rPr sz="1200" b="0" i="0">
                <a:solidFill>
                  <a:srgbClr val="595959"/>
                </a:solidFill>
                <a:latin typeface="Arial"/>
              </a:rPr>
              <a:t>8 / 8</a:t>
            </a:r>
          </a:p>
        </p:txBody>
      </p:sp>
      <p:pic>
        <p:nvPicPr>
          <p:cNvPr id="9" name="!!map" descr="vlcoe_optimal.png"/>
          <p:cNvPicPr>
            <a:picLocks noChangeAspect="1"/>
          </p:cNvPicPr>
          <p:nvPr/>
        </p:nvPicPr>
        <p:blipFill>
          <a:blip r:embed="rId3"/>
          <a:stretch>
            <a:fillRect/>
          </a:stretch>
        </p:blipFill>
        <p:spPr>
          <a:xfrm>
            <a:off x="1889607" y="1325880"/>
            <a:ext cx="8412480" cy="3965293"/>
          </a:xfrm>
          <a:prstGeom prst="rect">
            <a:avLst/>
          </a:prstGeom>
          <a:ln w="6350">
            <a:solidFill>
              <a:srgbClr val="BFBFBF"/>
            </a:solidFill>
          </a:ln>
        </p:spPr>
      </p:pic>
      <p:sp>
        <p:nvSpPr>
          <p:cNvPr id="10" name="!!cb_0"/>
          <p:cNvSpPr/>
          <p:nvPr/>
        </p:nvSpPr>
        <p:spPr>
          <a:xfrm>
            <a:off x="2209647" y="4148173"/>
            <a:ext cx="146304" cy="256032"/>
          </a:xfrm>
          <a:prstGeom prst="rect">
            <a:avLst/>
          </a:prstGeom>
          <a:solidFill>
            <a:srgbClr val="057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b_1"/>
          <p:cNvSpPr/>
          <p:nvPr/>
        </p:nvSpPr>
        <p:spPr>
          <a:xfrm>
            <a:off x="2346807" y="4148173"/>
            <a:ext cx="146304" cy="256032"/>
          </a:xfrm>
          <a:prstGeom prst="rect">
            <a:avLst/>
          </a:prstGeom>
          <a:solidFill>
            <a:srgbClr val="108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b_2"/>
          <p:cNvSpPr/>
          <p:nvPr/>
        </p:nvSpPr>
        <p:spPr>
          <a:xfrm>
            <a:off x="2483967" y="4148173"/>
            <a:ext cx="146304" cy="256032"/>
          </a:xfrm>
          <a:prstGeom prst="rect">
            <a:avLst/>
          </a:prstGeom>
          <a:solidFill>
            <a:srgbClr val="1B9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b_3"/>
          <p:cNvSpPr/>
          <p:nvPr/>
        </p:nvSpPr>
        <p:spPr>
          <a:xfrm>
            <a:off x="2621127" y="4148173"/>
            <a:ext cx="146304" cy="256032"/>
          </a:xfrm>
          <a:prstGeom prst="rect">
            <a:avLst/>
          </a:prstGeom>
          <a:solidFill>
            <a:srgbClr val="3CA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b_4"/>
          <p:cNvSpPr/>
          <p:nvPr/>
        </p:nvSpPr>
        <p:spPr>
          <a:xfrm>
            <a:off x="2758287" y="4148173"/>
            <a:ext cx="146304" cy="256032"/>
          </a:xfrm>
          <a:prstGeom prst="rect">
            <a:avLst/>
          </a:prstGeom>
          <a:solidFill>
            <a:srgbClr val="5DB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b_5"/>
          <p:cNvSpPr/>
          <p:nvPr/>
        </p:nvSpPr>
        <p:spPr>
          <a:xfrm>
            <a:off x="2895447" y="4148173"/>
            <a:ext cx="146304" cy="256032"/>
          </a:xfrm>
          <a:prstGeom prst="rect">
            <a:avLst/>
          </a:prstGeom>
          <a:solidFill>
            <a:srgbClr val="77C4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b_6"/>
          <p:cNvSpPr/>
          <p:nvPr/>
        </p:nvSpPr>
        <p:spPr>
          <a:xfrm>
            <a:off x="3032607" y="4148173"/>
            <a:ext cx="146304" cy="256032"/>
          </a:xfrm>
          <a:prstGeom prst="rect">
            <a:avLst/>
          </a:prstGeom>
          <a:solidFill>
            <a:srgbClr val="93D0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b_7"/>
          <p:cNvSpPr/>
          <p:nvPr/>
        </p:nvSpPr>
        <p:spPr>
          <a:xfrm>
            <a:off x="3169767" y="4148173"/>
            <a:ext cx="146304" cy="256032"/>
          </a:xfrm>
          <a:prstGeom prst="rect">
            <a:avLst/>
          </a:prstGeom>
          <a:solidFill>
            <a:srgbClr val="ADD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b_8"/>
          <p:cNvSpPr/>
          <p:nvPr/>
        </p:nvSpPr>
        <p:spPr>
          <a:xfrm>
            <a:off x="3306927" y="4148173"/>
            <a:ext cx="146304" cy="256032"/>
          </a:xfrm>
          <a:prstGeom prst="rect">
            <a:avLst/>
          </a:prstGeom>
          <a:solidFill>
            <a:srgbClr val="C1E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b_9"/>
          <p:cNvSpPr/>
          <p:nvPr/>
        </p:nvSpPr>
        <p:spPr>
          <a:xfrm>
            <a:off x="3444087" y="4148173"/>
            <a:ext cx="146304" cy="256032"/>
          </a:xfrm>
          <a:prstGeom prst="rect">
            <a:avLst/>
          </a:prstGeom>
          <a:solidFill>
            <a:srgbClr val="D7E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b_10"/>
          <p:cNvSpPr/>
          <p:nvPr/>
        </p:nvSpPr>
        <p:spPr>
          <a:xfrm>
            <a:off x="3581247" y="4148173"/>
            <a:ext cx="146304" cy="256032"/>
          </a:xfrm>
          <a:prstGeom prst="rect">
            <a:avLst/>
          </a:prstGeom>
          <a:solidFill>
            <a:srgbClr val="E7F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b_11"/>
          <p:cNvSpPr/>
          <p:nvPr/>
        </p:nvSpPr>
        <p:spPr>
          <a:xfrm>
            <a:off x="3718407" y="4148173"/>
            <a:ext cx="146304" cy="256032"/>
          </a:xfrm>
          <a:prstGeom prst="rect">
            <a:avLst/>
          </a:prstGeom>
          <a:solidFill>
            <a:srgbClr val="F6F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b_12"/>
          <p:cNvSpPr/>
          <p:nvPr/>
        </p:nvSpPr>
        <p:spPr>
          <a:xfrm>
            <a:off x="3855567" y="4148173"/>
            <a:ext cx="146304" cy="256032"/>
          </a:xfrm>
          <a:prstGeom prst="rect">
            <a:avLst/>
          </a:prstGeom>
          <a:solidFill>
            <a:srgbClr val="FEF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b_13"/>
          <p:cNvSpPr/>
          <p:nvPr/>
        </p:nvSpPr>
        <p:spPr>
          <a:xfrm>
            <a:off x="3992727" y="4148173"/>
            <a:ext cx="146304" cy="256032"/>
          </a:xfrm>
          <a:prstGeom prst="rect">
            <a:avLst/>
          </a:prstGeom>
          <a:solidFill>
            <a:srgbClr val="FEEA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b_14"/>
          <p:cNvSpPr/>
          <p:nvPr/>
        </p:nvSpPr>
        <p:spPr>
          <a:xfrm>
            <a:off x="4129887" y="4148173"/>
            <a:ext cx="146304" cy="256032"/>
          </a:xfrm>
          <a:prstGeom prst="rect">
            <a:avLst/>
          </a:prstGeom>
          <a:solidFill>
            <a:srgbClr val="FDD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b_15"/>
          <p:cNvSpPr/>
          <p:nvPr/>
        </p:nvSpPr>
        <p:spPr>
          <a:xfrm>
            <a:off x="4267047" y="4148173"/>
            <a:ext cx="146304" cy="256032"/>
          </a:xfrm>
          <a:prstGeom prst="rect">
            <a:avLst/>
          </a:prstGeom>
          <a:solidFill>
            <a:srgbClr val="FDC8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b_16"/>
          <p:cNvSpPr/>
          <p:nvPr/>
        </p:nvSpPr>
        <p:spPr>
          <a:xfrm>
            <a:off x="4404207" y="4148173"/>
            <a:ext cx="146304" cy="256032"/>
          </a:xfrm>
          <a:prstGeom prst="rect">
            <a:avLst/>
          </a:prstGeom>
          <a:solidFill>
            <a:srgbClr val="FDB2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b_17"/>
          <p:cNvSpPr/>
          <p:nvPr/>
        </p:nvSpPr>
        <p:spPr>
          <a:xfrm>
            <a:off x="4541367" y="4148173"/>
            <a:ext cx="146304" cy="256032"/>
          </a:xfrm>
          <a:prstGeom prst="rect">
            <a:avLst/>
          </a:prstGeom>
          <a:solidFill>
            <a:srgbClr val="FA9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b_18"/>
          <p:cNvSpPr/>
          <p:nvPr/>
        </p:nvSpPr>
        <p:spPr>
          <a:xfrm>
            <a:off x="4678527" y="4148173"/>
            <a:ext cx="146304" cy="256032"/>
          </a:xfrm>
          <a:prstGeom prst="rect">
            <a:avLst/>
          </a:prstGeom>
          <a:solidFill>
            <a:srgbClr val="F67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b_19"/>
          <p:cNvSpPr/>
          <p:nvPr/>
        </p:nvSpPr>
        <p:spPr>
          <a:xfrm>
            <a:off x="4815687" y="4148173"/>
            <a:ext cx="146304" cy="256032"/>
          </a:xfrm>
          <a:prstGeom prst="rect">
            <a:avLst/>
          </a:prstGeom>
          <a:solidFill>
            <a:srgbClr val="EF6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b_20"/>
          <p:cNvSpPr/>
          <p:nvPr/>
        </p:nvSpPr>
        <p:spPr>
          <a:xfrm>
            <a:off x="4952847" y="4148173"/>
            <a:ext cx="146304" cy="256032"/>
          </a:xfrm>
          <a:prstGeom prst="rect">
            <a:avLst/>
          </a:prstGeom>
          <a:solidFill>
            <a:srgbClr val="E44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b_21"/>
          <p:cNvSpPr/>
          <p:nvPr/>
        </p:nvSpPr>
        <p:spPr>
          <a:xfrm>
            <a:off x="5090007" y="4148173"/>
            <a:ext cx="146304" cy="256032"/>
          </a:xfrm>
          <a:prstGeom prst="rect">
            <a:avLst/>
          </a:prstGeom>
          <a:solidFill>
            <a:srgbClr val="D73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b_22"/>
          <p:cNvSpPr/>
          <p:nvPr/>
        </p:nvSpPr>
        <p:spPr>
          <a:xfrm>
            <a:off x="5227167" y="4148173"/>
            <a:ext cx="146304" cy="256032"/>
          </a:xfrm>
          <a:prstGeom prst="rect">
            <a:avLst/>
          </a:prstGeom>
          <a:solidFill>
            <a:srgbClr val="C2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b_23"/>
          <p:cNvSpPr/>
          <p:nvPr/>
        </p:nvSpPr>
        <p:spPr>
          <a:xfrm>
            <a:off x="5364327" y="4148173"/>
            <a:ext cx="146304" cy="256032"/>
          </a:xfrm>
          <a:prstGeom prst="rect">
            <a:avLst/>
          </a:prstGeom>
          <a:solidFill>
            <a:srgbClr val="AE09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4" name="Connector 33"/>
          <p:cNvCxnSpPr/>
          <p:nvPr/>
        </p:nvCxnSpPr>
        <p:spPr>
          <a:xfrm>
            <a:off x="262112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25536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60</a:t>
            </a:r>
          </a:p>
        </p:txBody>
      </p:sp>
      <p:cxnSp>
        <p:nvCxnSpPr>
          <p:cNvPr id="36" name="Connector 35"/>
          <p:cNvCxnSpPr/>
          <p:nvPr/>
        </p:nvCxnSpPr>
        <p:spPr>
          <a:xfrm>
            <a:off x="316976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80400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80</a:t>
            </a:r>
          </a:p>
        </p:txBody>
      </p:sp>
      <p:cxnSp>
        <p:nvCxnSpPr>
          <p:cNvPr id="38" name="Connector 37"/>
          <p:cNvCxnSpPr/>
          <p:nvPr/>
        </p:nvCxnSpPr>
        <p:spPr>
          <a:xfrm>
            <a:off x="371840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5264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100</a:t>
            </a:r>
          </a:p>
        </p:txBody>
      </p:sp>
      <p:cxnSp>
        <p:nvCxnSpPr>
          <p:cNvPr id="40" name="Connector 39"/>
          <p:cNvCxnSpPr/>
          <p:nvPr/>
        </p:nvCxnSpPr>
        <p:spPr>
          <a:xfrm>
            <a:off x="426704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390128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120</a:t>
            </a:r>
          </a:p>
        </p:txBody>
      </p:sp>
      <p:cxnSp>
        <p:nvCxnSpPr>
          <p:cNvPr id="42" name="Connector 41"/>
          <p:cNvCxnSpPr/>
          <p:nvPr/>
        </p:nvCxnSpPr>
        <p:spPr>
          <a:xfrm>
            <a:off x="481568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44992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140</a:t>
            </a:r>
          </a:p>
        </p:txBody>
      </p:sp>
      <p:cxnSp>
        <p:nvCxnSpPr>
          <p:cNvPr id="44" name="Connector 43"/>
          <p:cNvCxnSpPr/>
          <p:nvPr/>
        </p:nvCxnSpPr>
        <p:spPr>
          <a:xfrm>
            <a:off x="5364327" y="4404205"/>
            <a:ext cx="0" cy="73152"/>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998567" y="4495645"/>
            <a:ext cx="731520" cy="274320"/>
          </a:xfrm>
          <a:prstGeom prst="rect">
            <a:avLst/>
          </a:prstGeom>
          <a:noFill/>
        </p:spPr>
        <p:txBody>
          <a:bodyPr wrap="square" lIns="0" rIns="0" tIns="0" bIns="0" anchor="t">
            <a:spAutoFit/>
          </a:bodyPr>
          <a:lstStyle/>
          <a:p>
            <a:pPr algn="ctr">
              <a:spcAft>
                <a:spcPts val="0"/>
              </a:spcAft>
            </a:pPr>
            <a:r>
              <a:rPr sz="1600" b="0" i="0">
                <a:solidFill>
                  <a:srgbClr val="1A1A1A"/>
                </a:solidFill>
                <a:latin typeface="Arial"/>
              </a:rPr>
              <a:t>160</a:t>
            </a:r>
          </a:p>
        </p:txBody>
      </p:sp>
      <p:sp>
        <p:nvSpPr>
          <p:cNvPr id="46" name="TextBox 45"/>
          <p:cNvSpPr txBox="1"/>
          <p:nvPr/>
        </p:nvSpPr>
        <p:spPr>
          <a:xfrm>
            <a:off x="2209647" y="4806541"/>
            <a:ext cx="4663440" cy="274320"/>
          </a:xfrm>
          <a:prstGeom prst="rect">
            <a:avLst/>
          </a:prstGeom>
          <a:noFill/>
        </p:spPr>
        <p:txBody>
          <a:bodyPr wrap="square" lIns="0" rIns="0" tIns="0" bIns="0" anchor="t">
            <a:spAutoFit/>
          </a:bodyPr>
          <a:lstStyle/>
          <a:p>
            <a:pPr algn="l">
              <a:spcAft>
                <a:spcPts val="0"/>
              </a:spcAft>
            </a:pPr>
            <a:r>
              <a:rPr sz="1600" b="0" i="0">
                <a:solidFill>
                  <a:srgbClr val="1A1A1A"/>
                </a:solidFill>
                <a:latin typeface="Arial"/>
              </a:rPr>
              <a:t>value-adjusted LCOE, EUR per MWh</a:t>
            </a:r>
          </a:p>
        </p:txBody>
      </p:sp>
      <p:sp>
        <p:nvSpPr>
          <p:cNvPr id="47" name="TextBox 46"/>
          <p:cNvSpPr txBox="1"/>
          <p:nvPr/>
        </p:nvSpPr>
        <p:spPr>
          <a:xfrm>
            <a:off x="6768846" y="3784361"/>
            <a:ext cx="3449116" cy="1463040"/>
          </a:xfrm>
          <a:prstGeom prst="rect">
            <a:avLst/>
          </a:prstGeom>
          <a:noFill/>
        </p:spPr>
        <p:txBody>
          <a:bodyPr wrap="square" lIns="0" rIns="0" tIns="0" bIns="0" anchor="t">
            <a:spAutoFit/>
          </a:bodyPr>
          <a:lstStyle/>
          <a:p>
            <a:pPr algn="l">
              <a:spcAft>
                <a:spcPts val="600"/>
              </a:spcAft>
            </a:pPr>
            <a:r>
              <a:rPr sz="2000" b="0" i="0">
                <a:solidFill>
                  <a:srgbClr val="1A1A1A"/>
                </a:solidFill>
                <a:latin typeface="Arial"/>
              </a:rPr>
              <a:t>With the grid expanded the Baltic break-even price falls by 33 EUR/MWh and Polish and Danish waters drop below 70.</a:t>
            </a:r>
          </a:p>
        </p:txBody>
      </p:sp>
      <p:sp>
        <p:nvSpPr>
          <p:cNvPr id="48" name="TextBox 47"/>
          <p:cNvSpPr txBox="1"/>
          <p:nvPr/>
        </p:nvSpPr>
        <p:spPr>
          <a:xfrm>
            <a:off x="457200" y="5382613"/>
            <a:ext cx="11247120" cy="548640"/>
          </a:xfrm>
          <a:prstGeom prst="rect">
            <a:avLst/>
          </a:prstGeom>
          <a:noFill/>
        </p:spPr>
        <p:txBody>
          <a:bodyPr wrap="square" lIns="0" rIns="0" tIns="0" bIns="0" anchor="t">
            <a:spAutoFit/>
          </a:bodyPr>
          <a:lstStyle/>
          <a:p>
            <a:pPr algn="l">
              <a:spcAft>
                <a:spcPts val="0"/>
              </a:spcAft>
            </a:pPr>
            <a:r>
              <a:rPr sz="1600" b="0" i="0">
                <a:solidFill>
                  <a:srgbClr val="1A1A1A"/>
                </a:solidFill>
                <a:latin typeface="Arial"/>
              </a:rPr>
              <a:t>The extra Baltic loss is congestion, and transmission removes it.  </a:t>
            </a:r>
            <a:r>
              <a:rPr sz="1600" b="1" i="0">
                <a:solidFill>
                  <a:srgbClr val="0000CD"/>
                </a:solidFill>
                <a:latin typeface="Arial"/>
              </a:rPr>
              <a:t>Next, Markos </a:t>
            </a:r>
            <a:r>
              <a:rPr sz="1600" b="0" i="0">
                <a:solidFill>
                  <a:srgbClr val="1A1A1A"/>
                </a:solidFill>
                <a:latin typeface="Arial"/>
              </a:rPr>
              <a:t>takes this price risk into the contracting decision.  </a:t>
            </a:r>
            <a:r>
              <a:rPr sz="1600" b="1" i="0">
                <a:solidFill>
                  <a:srgbClr val="0000CD"/>
                </a:solidFill>
                <a:latin typeface="Arial"/>
              </a:rPr>
              <a:t>Ask me about </a:t>
            </a:r>
            <a:r>
              <a:rPr sz="1600" b="0" i="0">
                <a:solidFill>
                  <a:srgbClr val="1A1A1A"/>
                </a:solidFill>
                <a:latin typeface="Arial"/>
              </a:rPr>
              <a:t>who pays under CfDs, congestion rent and the DK2 dispatch puzzle.</a:t>
            </a:r>
          </a:p>
        </p:txBody>
      </p:sp>
    </p:spTree>
  </p:cSld>
  <p:clrMapOvr>
    <a:masterClrMapping/>
  </p:clrMapOvr>
  <mc:AlternateContent xmlns:mc="http://schemas.openxmlformats.org/markup-compatibility/2006">
    <mc:Choice xmlns:p14="http://schemas.microsoft.com/office/powerpoint/2010/main" Requires="p14">
      <p:transition spd="slow" p14:dur="2000">
        <p159:morph xmlns:p159="http://schemas.microsoft.com/office/powerpoint/2015/09/main"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