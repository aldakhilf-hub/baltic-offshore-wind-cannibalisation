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21383625" cy="30275213"/>
  <p:notesSz cx="6858000" cy="9144000"/>
  <p:embeddedFontLst>
    <p:embeddedFont>
      <p:font typeface="Calibri" panose="020F0502020204030204" pitchFamily="34" charset="0"/>
      <p:regular r:id="rId4"/>
      <p:bold r:id="rId5"/>
      <p:italic r:id="rId6"/>
      <p:boldItalic r:id="rId7"/>
    </p:embeddedFont>
    <p:embeddedFont>
      <p:font typeface="Imperial Sans Text" panose="020B0503020202020204" pitchFamily="34" charset="77"/>
      <p:regular r:id="rId8"/>
      <p:bold r:id="rId9"/>
    </p:embeddedFont>
    <p:embeddedFont>
      <p:font typeface="Imperial Sans Text Extrabold" panose="020B0903020202020204" pitchFamily="34" charset="77"/>
      <p:bold r:id="rId10"/>
    </p:embeddedFont>
    <p:embeddedFont>
      <p:font typeface="Imperial Sans Text Semibold" panose="020B0703020202020204" pitchFamily="34" charset="77"/>
      <p:regular r:id="rId11"/>
      <p:bold r:id="rId12"/>
    </p:embeddedFont>
  </p:embeddedFontLst>
  <p:defaultTextStyle>
    <a:defPPr>
      <a:defRPr lang="en-US"/>
    </a:defPPr>
    <a:lvl1pPr marL="0" algn="l" defTabSz="2479451" rtl="0" eaLnBrk="1" latinLnBrk="0" hangingPunct="1">
      <a:defRPr sz="4881" kern="1200">
        <a:solidFill>
          <a:schemeClr val="tx1"/>
        </a:solidFill>
        <a:latin typeface="+mn-lt"/>
        <a:ea typeface="+mn-ea"/>
        <a:cs typeface="+mn-cs"/>
      </a:defRPr>
    </a:lvl1pPr>
    <a:lvl2pPr marL="1239727" algn="l" defTabSz="2479451" rtl="0" eaLnBrk="1" latinLnBrk="0" hangingPunct="1">
      <a:defRPr sz="4881" kern="1200">
        <a:solidFill>
          <a:schemeClr val="tx1"/>
        </a:solidFill>
        <a:latin typeface="+mn-lt"/>
        <a:ea typeface="+mn-ea"/>
        <a:cs typeface="+mn-cs"/>
      </a:defRPr>
    </a:lvl2pPr>
    <a:lvl3pPr marL="2479451" algn="l" defTabSz="2479451" rtl="0" eaLnBrk="1" latinLnBrk="0" hangingPunct="1">
      <a:defRPr sz="4881" kern="1200">
        <a:solidFill>
          <a:schemeClr val="tx1"/>
        </a:solidFill>
        <a:latin typeface="+mn-lt"/>
        <a:ea typeface="+mn-ea"/>
        <a:cs typeface="+mn-cs"/>
      </a:defRPr>
    </a:lvl3pPr>
    <a:lvl4pPr marL="3719178" algn="l" defTabSz="2479451" rtl="0" eaLnBrk="1" latinLnBrk="0" hangingPunct="1">
      <a:defRPr sz="4881" kern="1200">
        <a:solidFill>
          <a:schemeClr val="tx1"/>
        </a:solidFill>
        <a:latin typeface="+mn-lt"/>
        <a:ea typeface="+mn-ea"/>
        <a:cs typeface="+mn-cs"/>
      </a:defRPr>
    </a:lvl4pPr>
    <a:lvl5pPr marL="4958902" algn="l" defTabSz="2479451" rtl="0" eaLnBrk="1" latinLnBrk="0" hangingPunct="1">
      <a:defRPr sz="4881" kern="1200">
        <a:solidFill>
          <a:schemeClr val="tx1"/>
        </a:solidFill>
        <a:latin typeface="+mn-lt"/>
        <a:ea typeface="+mn-ea"/>
        <a:cs typeface="+mn-cs"/>
      </a:defRPr>
    </a:lvl5pPr>
    <a:lvl6pPr marL="6198629" algn="l" defTabSz="2479451" rtl="0" eaLnBrk="1" latinLnBrk="0" hangingPunct="1">
      <a:defRPr sz="4881" kern="1200">
        <a:solidFill>
          <a:schemeClr val="tx1"/>
        </a:solidFill>
        <a:latin typeface="+mn-lt"/>
        <a:ea typeface="+mn-ea"/>
        <a:cs typeface="+mn-cs"/>
      </a:defRPr>
    </a:lvl6pPr>
    <a:lvl7pPr marL="7438356" algn="l" defTabSz="2479451" rtl="0" eaLnBrk="1" latinLnBrk="0" hangingPunct="1">
      <a:defRPr sz="4881" kern="1200">
        <a:solidFill>
          <a:schemeClr val="tx1"/>
        </a:solidFill>
        <a:latin typeface="+mn-lt"/>
        <a:ea typeface="+mn-ea"/>
        <a:cs typeface="+mn-cs"/>
      </a:defRPr>
    </a:lvl7pPr>
    <a:lvl8pPr marL="8678080" algn="l" defTabSz="2479451" rtl="0" eaLnBrk="1" latinLnBrk="0" hangingPunct="1">
      <a:defRPr sz="4881" kern="1200">
        <a:solidFill>
          <a:schemeClr val="tx1"/>
        </a:solidFill>
        <a:latin typeface="+mn-lt"/>
        <a:ea typeface="+mn-ea"/>
        <a:cs typeface="+mn-cs"/>
      </a:defRPr>
    </a:lvl8pPr>
    <a:lvl9pPr marL="9917807" algn="l" defTabSz="2479451"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58" userDrawn="1">
          <p15:clr>
            <a:srgbClr val="A4A3A4"/>
          </p15:clr>
        </p15:guide>
        <p15:guide id="2" pos="6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showGuides="1">
      <p:cViewPr>
        <p:scale>
          <a:sx n="27" d="100"/>
          <a:sy n="27" d="100"/>
        </p:scale>
        <p:origin x="3088" y="264"/>
      </p:cViewPr>
      <p:guideLst>
        <p:guide orient="horz" pos="9558"/>
        <p:guide pos="6735"/>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font" Target="fonts/font9.fntdata"/><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0D2A8-8F95-47C2-ABE1-A779F5A43C98}" type="datetimeFigureOut">
              <a:rPr lang="en-US" smtClean="0"/>
              <a:t>9/6/26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7663E2-27CE-4C79-91D3-7F5C4262D57F}" type="slidenum">
              <a:rPr lang="en-US" smtClean="0"/>
              <a:t>‹#›</a:t>
            </a:fld>
            <a:endParaRPr lang="en-US"/>
          </a:p>
        </p:txBody>
      </p:sp>
    </p:spTree>
    <p:extLst>
      <p:ext uri="{BB962C8B-B14F-4D97-AF65-F5344CB8AC3E}">
        <p14:creationId xmlns:p14="http://schemas.microsoft.com/office/powerpoint/2010/main" val="1230559577"/>
      </p:ext>
    </p:extLst>
  </p:cSld>
  <p:clrMap bg1="lt1" tx1="dk1" bg2="lt2" tx2="dk2" accent1="accent1" accent2="accent2" accent3="accent3" accent4="accent4" accent5="accent5" accent6="accent6" hlink="hlink" folHlink="folHlink"/>
  <p:notesStyle>
    <a:lvl1pPr marL="0" algn="l" defTabSz="2479451" rtl="0" eaLnBrk="1" latinLnBrk="0" hangingPunct="1">
      <a:defRPr sz="3254" kern="1200">
        <a:solidFill>
          <a:schemeClr val="tx1"/>
        </a:solidFill>
        <a:latin typeface="+mn-lt"/>
        <a:ea typeface="+mn-ea"/>
        <a:cs typeface="+mn-cs"/>
      </a:defRPr>
    </a:lvl1pPr>
    <a:lvl2pPr marL="1239727" algn="l" defTabSz="2479451" rtl="0" eaLnBrk="1" latinLnBrk="0" hangingPunct="1">
      <a:defRPr sz="3254" kern="1200">
        <a:solidFill>
          <a:schemeClr val="tx1"/>
        </a:solidFill>
        <a:latin typeface="+mn-lt"/>
        <a:ea typeface="+mn-ea"/>
        <a:cs typeface="+mn-cs"/>
      </a:defRPr>
    </a:lvl2pPr>
    <a:lvl3pPr marL="2479451" algn="l" defTabSz="2479451" rtl="0" eaLnBrk="1" latinLnBrk="0" hangingPunct="1">
      <a:defRPr sz="3254" kern="1200">
        <a:solidFill>
          <a:schemeClr val="tx1"/>
        </a:solidFill>
        <a:latin typeface="+mn-lt"/>
        <a:ea typeface="+mn-ea"/>
        <a:cs typeface="+mn-cs"/>
      </a:defRPr>
    </a:lvl3pPr>
    <a:lvl4pPr marL="3719178" algn="l" defTabSz="2479451" rtl="0" eaLnBrk="1" latinLnBrk="0" hangingPunct="1">
      <a:defRPr sz="3254" kern="1200">
        <a:solidFill>
          <a:schemeClr val="tx1"/>
        </a:solidFill>
        <a:latin typeface="+mn-lt"/>
        <a:ea typeface="+mn-ea"/>
        <a:cs typeface="+mn-cs"/>
      </a:defRPr>
    </a:lvl4pPr>
    <a:lvl5pPr marL="4958902" algn="l" defTabSz="2479451" rtl="0" eaLnBrk="1" latinLnBrk="0" hangingPunct="1">
      <a:defRPr sz="3254" kern="1200">
        <a:solidFill>
          <a:schemeClr val="tx1"/>
        </a:solidFill>
        <a:latin typeface="+mn-lt"/>
        <a:ea typeface="+mn-ea"/>
        <a:cs typeface="+mn-cs"/>
      </a:defRPr>
    </a:lvl5pPr>
    <a:lvl6pPr marL="6198629" algn="l" defTabSz="2479451" rtl="0" eaLnBrk="1" latinLnBrk="0" hangingPunct="1">
      <a:defRPr sz="3254" kern="1200">
        <a:solidFill>
          <a:schemeClr val="tx1"/>
        </a:solidFill>
        <a:latin typeface="+mn-lt"/>
        <a:ea typeface="+mn-ea"/>
        <a:cs typeface="+mn-cs"/>
      </a:defRPr>
    </a:lvl6pPr>
    <a:lvl7pPr marL="7438356" algn="l" defTabSz="2479451" rtl="0" eaLnBrk="1" latinLnBrk="0" hangingPunct="1">
      <a:defRPr sz="3254" kern="1200">
        <a:solidFill>
          <a:schemeClr val="tx1"/>
        </a:solidFill>
        <a:latin typeface="+mn-lt"/>
        <a:ea typeface="+mn-ea"/>
        <a:cs typeface="+mn-cs"/>
      </a:defRPr>
    </a:lvl7pPr>
    <a:lvl8pPr marL="8678080" algn="l" defTabSz="2479451" rtl="0" eaLnBrk="1" latinLnBrk="0" hangingPunct="1">
      <a:defRPr sz="3254" kern="1200">
        <a:solidFill>
          <a:schemeClr val="tx1"/>
        </a:solidFill>
        <a:latin typeface="+mn-lt"/>
        <a:ea typeface="+mn-ea"/>
        <a:cs typeface="+mn-cs"/>
      </a:defRPr>
    </a:lvl8pPr>
    <a:lvl9pPr marL="9917807" algn="l" defTabSz="2479451" rtl="0" eaLnBrk="1" latinLnBrk="0" hangingPunct="1">
      <a:defRPr sz="325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tion One">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8C48B9CE-FD65-AE40-130C-DBE00526E69A}"/>
              </a:ext>
            </a:extLst>
          </p:cNvPr>
          <p:cNvSpPr>
            <a:spLocks noGrp="1"/>
          </p:cNvSpPr>
          <p:nvPr>
            <p:ph sz="quarter" idx="32" hasCustomPrompt="1"/>
          </p:nvPr>
        </p:nvSpPr>
        <p:spPr>
          <a:xfrm>
            <a:off x="7449512" y="10439326"/>
            <a:ext cx="13135602" cy="10220400"/>
          </a:xfrm>
        </p:spPr>
        <p:txBody>
          <a:bodyPr/>
          <a:lstStyle>
            <a:lvl1pPr>
              <a:defRPr/>
            </a:lvl1pPr>
          </a:lstStyle>
          <a:p>
            <a:pPr lvl="0"/>
            <a:r>
              <a:rPr lang="en-US" dirty="0"/>
              <a:t>Click an icon to add content</a:t>
            </a:r>
          </a:p>
        </p:txBody>
      </p:sp>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F18F015B-6C73-4A9C-BCFC-C5B1BB098CD2}" type="datetime1">
              <a:rPr lang="en-GB" noProof="0" smtClean="0"/>
              <a:t>06/09/2026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1045368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5"/>
            <a:ext cx="6427788" cy="5252265"/>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3" name="Content Placeholder 10">
            <a:extLst>
              <a:ext uri="{FF2B5EF4-FFF2-40B4-BE49-F238E27FC236}">
                <a16:creationId xmlns:a16="http://schemas.microsoft.com/office/drawing/2014/main" id="{D29EF359-10B1-D70F-910E-516113908950}"/>
              </a:ext>
            </a:extLst>
          </p:cNvPr>
          <p:cNvSpPr>
            <a:spLocks noGrp="1"/>
          </p:cNvSpPr>
          <p:nvPr>
            <p:ph sz="quarter" idx="33" hasCustomPrompt="1"/>
          </p:nvPr>
        </p:nvSpPr>
        <p:spPr>
          <a:xfrm>
            <a:off x="790576" y="15641421"/>
            <a:ext cx="6427788" cy="5018305"/>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71846212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tion Two">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3DD5FEA-0146-896B-ABD3-41CBD58D07FE}"/>
              </a:ext>
            </a:extLst>
          </p:cNvPr>
          <p:cNvSpPr>
            <a:spLocks noGrp="1"/>
          </p:cNvSpPr>
          <p:nvPr>
            <p:ph type="title"/>
          </p:nvPr>
        </p:nvSpPr>
        <p:spPr/>
        <p:txBody>
          <a:bodyPr/>
          <a:lstStyle/>
          <a:p>
            <a:r>
              <a:rPr lang="en-US" noProof="0"/>
              <a:t>Click to edit Master title style</a:t>
            </a:r>
            <a:endParaRPr lang="en-GB" noProof="0" dirty="0"/>
          </a:p>
        </p:txBody>
      </p:sp>
      <p:sp>
        <p:nvSpPr>
          <p:cNvPr id="7" name="Date Placeholder 6">
            <a:extLst>
              <a:ext uri="{FF2B5EF4-FFF2-40B4-BE49-F238E27FC236}">
                <a16:creationId xmlns:a16="http://schemas.microsoft.com/office/drawing/2014/main" id="{346B1F1E-F449-B29F-6C17-6D2E110AEBD8}"/>
              </a:ext>
            </a:extLst>
          </p:cNvPr>
          <p:cNvSpPr>
            <a:spLocks noGrp="1"/>
          </p:cNvSpPr>
          <p:nvPr>
            <p:ph type="dt" sz="half" idx="11"/>
          </p:nvPr>
        </p:nvSpPr>
        <p:spPr/>
        <p:txBody>
          <a:bodyPr/>
          <a:lstStyle/>
          <a:p>
            <a:fld id="{125B37B3-A951-41B0-803F-990AE8E98F3B}" type="datetime1">
              <a:rPr lang="en-GB" noProof="0" smtClean="0"/>
              <a:t>06/09/2026</a:t>
            </a:fld>
            <a:endParaRPr lang="en-GB" noProof="0" dirty="0"/>
          </a:p>
        </p:txBody>
      </p:sp>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Slide Number Placeholder 8">
            <a:extLst>
              <a:ext uri="{FF2B5EF4-FFF2-40B4-BE49-F238E27FC236}">
                <a16:creationId xmlns:a16="http://schemas.microsoft.com/office/drawing/2014/main" id="{F5C6A93B-F7C5-B8B9-F174-1D4991E5A0C5}"/>
              </a:ext>
            </a:extLst>
          </p:cNvPr>
          <p:cNvSpPr>
            <a:spLocks noGrp="1"/>
          </p:cNvSpPr>
          <p:nvPr>
            <p:ph type="sldNum" sz="quarter" idx="13"/>
          </p:nvPr>
        </p:nvSpPr>
        <p:spPr/>
        <p:txBody>
          <a:bodyPr/>
          <a:lstStyle/>
          <a:p>
            <a:fld id="{CBA53E11-492D-48B3-9F9B-09541CA2A39A}" type="slidenum">
              <a:rPr lang="en-GB" noProof="0" smtClean="0"/>
              <a:pPr/>
              <a:t>‹#›</a:t>
            </a:fld>
            <a:endParaRPr lang="en-GB" noProof="0" dirty="0"/>
          </a:p>
        </p:txBody>
      </p:sp>
      <p:sp>
        <p:nvSpPr>
          <p:cNvPr id="10"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14165262" y="2206800"/>
            <a:ext cx="6427787" cy="2076441"/>
          </a:xfrm>
          <a:prstGeom prst="rect">
            <a:avLst/>
          </a:prstGeom>
        </p:spPr>
        <p:txBody>
          <a:bodyPr/>
          <a:lstStyle>
            <a:lvl1pPr marL="0" indent="0" algn="l">
              <a:buNone/>
              <a:defRPr sz="2600" b="0">
                <a:solidFill>
                  <a:schemeClr val="accent1"/>
                </a:solidFill>
                <a:latin typeface="+mj-lt"/>
                <a:ea typeface="Inter Medium" panose="02000503000000020004" pitchFamily="2" charset="0"/>
              </a:defRPr>
            </a:lvl1pPr>
            <a:lvl2pPr marL="601381" indent="0" algn="ctr">
              <a:buNone/>
              <a:defRPr sz="2631"/>
            </a:lvl2pPr>
            <a:lvl3pPr marL="1202763" indent="0" algn="ctr">
              <a:buNone/>
              <a:defRPr sz="2368"/>
            </a:lvl3pPr>
            <a:lvl4pPr marL="1804144" indent="0" algn="ctr">
              <a:buNone/>
              <a:defRPr sz="2105"/>
            </a:lvl4pPr>
            <a:lvl5pPr marL="2405526" indent="0" algn="ctr">
              <a:buNone/>
              <a:defRPr sz="2105"/>
            </a:lvl5pPr>
            <a:lvl6pPr marL="3006907" indent="0" algn="ctr">
              <a:buNone/>
              <a:defRPr sz="2105"/>
            </a:lvl6pPr>
            <a:lvl7pPr marL="3608290" indent="0" algn="ctr">
              <a:buNone/>
              <a:defRPr sz="2105"/>
            </a:lvl7pPr>
            <a:lvl8pPr marL="4209670" indent="0" algn="ctr">
              <a:buNone/>
              <a:defRPr sz="2105"/>
            </a:lvl8pPr>
            <a:lvl9pPr marL="4811053" indent="0" algn="ctr">
              <a:buNone/>
              <a:defRPr sz="2105"/>
            </a:lvl9pPr>
          </a:lstStyle>
          <a:p>
            <a:r>
              <a:rPr lang="en-US" noProof="0"/>
              <a:t>Click to edit Master subtitle style</a:t>
            </a:r>
            <a:endParaRPr lang="en-GB" noProof="0" dirty="0"/>
          </a:p>
        </p:txBody>
      </p:sp>
      <p:sp>
        <p:nvSpPr>
          <p:cNvPr id="27" name="Text Placeholder 26">
            <a:extLst>
              <a:ext uri="{FF2B5EF4-FFF2-40B4-BE49-F238E27FC236}">
                <a16:creationId xmlns:a16="http://schemas.microsoft.com/office/drawing/2014/main" id="{F84EA4A9-8368-74EA-F27A-3450838EAA85}"/>
              </a:ext>
            </a:extLst>
          </p:cNvPr>
          <p:cNvSpPr>
            <a:spLocks noGrp="1"/>
          </p:cNvSpPr>
          <p:nvPr>
            <p:ph type="body" sz="quarter" idx="19"/>
          </p:nvPr>
        </p:nvSpPr>
        <p:spPr>
          <a:xfrm>
            <a:off x="790575" y="20815200"/>
            <a:ext cx="6427788"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28" name="Text Placeholder 26">
            <a:extLst>
              <a:ext uri="{FF2B5EF4-FFF2-40B4-BE49-F238E27FC236}">
                <a16:creationId xmlns:a16="http://schemas.microsoft.com/office/drawing/2014/main" id="{D437EA09-33CD-6FA8-4A6D-5CE7BFF619CC}"/>
              </a:ext>
            </a:extLst>
          </p:cNvPr>
          <p:cNvSpPr>
            <a:spLocks noGrp="1"/>
          </p:cNvSpPr>
          <p:nvPr>
            <p:ph type="body" sz="quarter" idx="20"/>
          </p:nvPr>
        </p:nvSpPr>
        <p:spPr>
          <a:xfrm>
            <a:off x="7475538" y="20815200"/>
            <a:ext cx="13117511" cy="605990"/>
          </a:xfrm>
          <a:prstGeom prst="rect">
            <a:avLst/>
          </a:prstGeom>
        </p:spPr>
        <p:txBody>
          <a:bodyPr/>
          <a:lstStyle>
            <a:lvl1pPr>
              <a:defRPr sz="1000"/>
            </a:lvl1pPr>
            <a:lvl2pPr>
              <a:defRPr sz="1000"/>
            </a:lvl2pPr>
            <a:lvl3pPr>
              <a:defRPr sz="1000"/>
            </a:lvl3pPr>
            <a:lvl4pPr>
              <a:defRPr sz="1000"/>
            </a:lvl4pPr>
            <a:lvl5pPr>
              <a:defRPr sz="1000"/>
            </a:lvl5pPr>
          </a:lstStyle>
          <a:p>
            <a:pPr lvl="0"/>
            <a:r>
              <a:rPr lang="en-US" noProof="0"/>
              <a:t>Click to edit Master text styles</a:t>
            </a:r>
          </a:p>
        </p:txBody>
      </p:sp>
      <p:sp>
        <p:nvSpPr>
          <p:cNvPr id="32" name="Picture Placeholder 14">
            <a:extLst>
              <a:ext uri="{FF2B5EF4-FFF2-40B4-BE49-F238E27FC236}">
                <a16:creationId xmlns:a16="http://schemas.microsoft.com/office/drawing/2014/main" id="{38BCB398-97B2-A11D-4F34-20FD1C3A57AF}"/>
              </a:ext>
            </a:extLst>
          </p:cNvPr>
          <p:cNvSpPr>
            <a:spLocks noGrp="1"/>
          </p:cNvSpPr>
          <p:nvPr>
            <p:ph type="pic" sz="quarter" idx="24" hasCustomPrompt="1"/>
          </p:nvPr>
        </p:nvSpPr>
        <p:spPr>
          <a:xfrm>
            <a:off x="14165261" y="26461750"/>
            <a:ext cx="3132000" cy="1764000"/>
          </a:xfrm>
          <a:prstGeom prst="rect">
            <a:avLst/>
          </a:prstGeom>
          <a:noFill/>
          <a:ln>
            <a:noFill/>
          </a:ln>
        </p:spPr>
        <p:txBody>
          <a:bodyPr/>
          <a:lstStyle>
            <a:lvl1pPr>
              <a:defRPr sz="1600"/>
            </a:lvl1pPr>
          </a:lstStyle>
          <a:p>
            <a:r>
              <a:rPr lang="en-GB" noProof="0" dirty="0"/>
              <a:t>Click icon to add a supporter or partner logo</a:t>
            </a:r>
          </a:p>
        </p:txBody>
      </p:sp>
      <p:sp>
        <p:nvSpPr>
          <p:cNvPr id="33" name="Picture Placeholder 14">
            <a:extLst>
              <a:ext uri="{FF2B5EF4-FFF2-40B4-BE49-F238E27FC236}">
                <a16:creationId xmlns:a16="http://schemas.microsoft.com/office/drawing/2014/main" id="{75C6CEFE-B735-0385-C658-4587C1DD75EB}"/>
              </a:ext>
            </a:extLst>
          </p:cNvPr>
          <p:cNvSpPr>
            <a:spLocks noGrp="1"/>
          </p:cNvSpPr>
          <p:nvPr>
            <p:ph type="pic" sz="quarter" idx="25" hasCustomPrompt="1"/>
          </p:nvPr>
        </p:nvSpPr>
        <p:spPr>
          <a:xfrm>
            <a:off x="17461049" y="26461750"/>
            <a:ext cx="3132000" cy="1764000"/>
          </a:xfrm>
          <a:prstGeom prst="rect">
            <a:avLst/>
          </a:prstGeom>
          <a:noFill/>
          <a:ln>
            <a:noFill/>
          </a:ln>
        </p:spPr>
        <p:txBody>
          <a:bodyPr/>
          <a:lstStyle>
            <a:lvl1pPr>
              <a:defRPr sz="1600"/>
            </a:lvl1pPr>
          </a:lstStyle>
          <a:p>
            <a:pPr marL="0" marR="0" lvl="0" indent="0" algn="l" defTabSz="1202763" rtl="0" eaLnBrk="1" fontAlgn="auto" latinLnBrk="0" hangingPunct="1">
              <a:lnSpc>
                <a:spcPct val="105000"/>
              </a:lnSpc>
              <a:spcBef>
                <a:spcPts val="0"/>
              </a:spcBef>
              <a:spcAft>
                <a:spcPts val="0"/>
              </a:spcAft>
              <a:buClrTx/>
              <a:buSzTx/>
              <a:buFont typeface="Arial" panose="020B0604020202020204" pitchFamily="34" charset="0"/>
              <a:buNone/>
              <a:tabLst/>
              <a:defRPr/>
            </a:pPr>
            <a:r>
              <a:rPr lang="en-GB" noProof="0" dirty="0"/>
              <a:t>Click icon to add a supporter or partner logo</a:t>
            </a:r>
          </a:p>
          <a:p>
            <a:endParaRPr lang="en-GB" noProof="0" dirty="0"/>
          </a:p>
        </p:txBody>
      </p:sp>
      <p:sp>
        <p:nvSpPr>
          <p:cNvPr id="3" name="Text Placeholder 2">
            <a:extLst>
              <a:ext uri="{FF2B5EF4-FFF2-40B4-BE49-F238E27FC236}">
                <a16:creationId xmlns:a16="http://schemas.microsoft.com/office/drawing/2014/main" id="{CB1CA73C-0476-5A07-BF41-8F4A73CC8D09}"/>
              </a:ext>
            </a:extLst>
          </p:cNvPr>
          <p:cNvSpPr>
            <a:spLocks noGrp="1"/>
          </p:cNvSpPr>
          <p:nvPr>
            <p:ph type="body" sz="quarter" idx="26"/>
          </p:nvPr>
        </p:nvSpPr>
        <p:spPr>
          <a:xfrm>
            <a:off x="790575" y="4911725"/>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Text Placeholder 2">
            <a:extLst>
              <a:ext uri="{FF2B5EF4-FFF2-40B4-BE49-F238E27FC236}">
                <a16:creationId xmlns:a16="http://schemas.microsoft.com/office/drawing/2014/main" id="{00C73574-5895-09F1-1C64-ACBD70013EBD}"/>
              </a:ext>
            </a:extLst>
          </p:cNvPr>
          <p:cNvSpPr>
            <a:spLocks noGrp="1"/>
          </p:cNvSpPr>
          <p:nvPr>
            <p:ph type="body" sz="quarter" idx="27"/>
          </p:nvPr>
        </p:nvSpPr>
        <p:spPr>
          <a:xfrm>
            <a:off x="744951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6" name="Text Placeholder 2">
            <a:extLst>
              <a:ext uri="{FF2B5EF4-FFF2-40B4-BE49-F238E27FC236}">
                <a16:creationId xmlns:a16="http://schemas.microsoft.com/office/drawing/2014/main" id="{214F4225-433B-2AB2-15E4-9E4230315932}"/>
              </a:ext>
            </a:extLst>
          </p:cNvPr>
          <p:cNvSpPr>
            <a:spLocks noGrp="1"/>
          </p:cNvSpPr>
          <p:nvPr>
            <p:ph type="body" sz="quarter" idx="28"/>
          </p:nvPr>
        </p:nvSpPr>
        <p:spPr>
          <a:xfrm>
            <a:off x="14165261" y="4911724"/>
            <a:ext cx="6427788" cy="7981068"/>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4" name="Text Placeholder 2">
            <a:extLst>
              <a:ext uri="{FF2B5EF4-FFF2-40B4-BE49-F238E27FC236}">
                <a16:creationId xmlns:a16="http://schemas.microsoft.com/office/drawing/2014/main" id="{FB76A963-6AEF-5BBE-8E48-EBD8B152A58E}"/>
              </a:ext>
            </a:extLst>
          </p:cNvPr>
          <p:cNvSpPr>
            <a:spLocks noGrp="1"/>
          </p:cNvSpPr>
          <p:nvPr>
            <p:ph type="body" sz="quarter" idx="29"/>
          </p:nvPr>
        </p:nvSpPr>
        <p:spPr>
          <a:xfrm>
            <a:off x="790575"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7" name="Text Placeholder 2">
            <a:extLst>
              <a:ext uri="{FF2B5EF4-FFF2-40B4-BE49-F238E27FC236}">
                <a16:creationId xmlns:a16="http://schemas.microsoft.com/office/drawing/2014/main" id="{4C56EE52-537E-793C-190B-CFC9F395ABDA}"/>
              </a:ext>
            </a:extLst>
          </p:cNvPr>
          <p:cNvSpPr>
            <a:spLocks noGrp="1"/>
          </p:cNvSpPr>
          <p:nvPr>
            <p:ph type="body" sz="quarter" idx="30"/>
          </p:nvPr>
        </p:nvSpPr>
        <p:spPr>
          <a:xfrm>
            <a:off x="7474250" y="21697198"/>
            <a:ext cx="6427788" cy="6528552"/>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8" name="Text Placeholder 2">
            <a:extLst>
              <a:ext uri="{FF2B5EF4-FFF2-40B4-BE49-F238E27FC236}">
                <a16:creationId xmlns:a16="http://schemas.microsoft.com/office/drawing/2014/main" id="{A839EC7A-2402-CED8-C771-BB6EF2E35BB8}"/>
              </a:ext>
            </a:extLst>
          </p:cNvPr>
          <p:cNvSpPr>
            <a:spLocks noGrp="1"/>
          </p:cNvSpPr>
          <p:nvPr>
            <p:ph type="body" sz="quarter" idx="31"/>
          </p:nvPr>
        </p:nvSpPr>
        <p:spPr>
          <a:xfrm>
            <a:off x="14157925" y="21697198"/>
            <a:ext cx="6427788" cy="4506503"/>
          </a:xfrm>
          <a:prstGeom prst="rect">
            <a:avLst/>
          </a:prstGeo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12" name="Content Placeholder 10">
            <a:extLst>
              <a:ext uri="{FF2B5EF4-FFF2-40B4-BE49-F238E27FC236}">
                <a16:creationId xmlns:a16="http://schemas.microsoft.com/office/drawing/2014/main" id="{2F7A2BD4-5D5C-FDA8-575A-EEF5BB46759C}"/>
              </a:ext>
            </a:extLst>
          </p:cNvPr>
          <p:cNvSpPr>
            <a:spLocks noGrp="1"/>
          </p:cNvSpPr>
          <p:nvPr>
            <p:ph sz="quarter" idx="32" hasCustomPrompt="1"/>
          </p:nvPr>
        </p:nvSpPr>
        <p:spPr>
          <a:xfrm>
            <a:off x="7449512" y="13164526"/>
            <a:ext cx="13135602" cy="7495200"/>
          </a:xfrm>
        </p:spPr>
        <p:txBody>
          <a:bodyPr/>
          <a:lstStyle>
            <a:lvl1pPr>
              <a:defRPr/>
            </a:lvl1pPr>
          </a:lstStyle>
          <a:p>
            <a:pPr lvl="0"/>
            <a:r>
              <a:rPr lang="en-US" dirty="0"/>
              <a:t>Click an icon to add content</a:t>
            </a:r>
          </a:p>
        </p:txBody>
      </p:sp>
      <p:sp>
        <p:nvSpPr>
          <p:cNvPr id="13" name="Content Placeholder 10">
            <a:extLst>
              <a:ext uri="{FF2B5EF4-FFF2-40B4-BE49-F238E27FC236}">
                <a16:creationId xmlns:a16="http://schemas.microsoft.com/office/drawing/2014/main" id="{B778B18A-FE56-EFD2-5AAF-6F7ED7CAC2D5}"/>
              </a:ext>
            </a:extLst>
          </p:cNvPr>
          <p:cNvSpPr>
            <a:spLocks noGrp="1"/>
          </p:cNvSpPr>
          <p:nvPr>
            <p:ph sz="quarter" idx="33" hasCustomPrompt="1"/>
          </p:nvPr>
        </p:nvSpPr>
        <p:spPr>
          <a:xfrm>
            <a:off x="790576" y="13164527"/>
            <a:ext cx="6427788" cy="7495200"/>
          </a:xfrm>
        </p:spPr>
        <p:txBody>
          <a:bodyPr/>
          <a:lstStyle>
            <a:lvl1pPr>
              <a:defRPr/>
            </a:lvl1pPr>
          </a:lstStyle>
          <a:p>
            <a:pPr lvl="0"/>
            <a:r>
              <a:rPr lang="en-US" dirty="0"/>
              <a:t>Click an icon to add content</a:t>
            </a:r>
          </a:p>
        </p:txBody>
      </p:sp>
    </p:spTree>
    <p:extLst>
      <p:ext uri="{BB962C8B-B14F-4D97-AF65-F5344CB8AC3E}">
        <p14:creationId xmlns:p14="http://schemas.microsoft.com/office/powerpoint/2010/main" val="99454171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790575" y="2206800"/>
            <a:ext cx="13117513" cy="2076441"/>
          </a:xfrm>
          <a:prstGeom prst="rect">
            <a:avLst/>
          </a:prstGeom>
        </p:spPr>
        <p:txBody>
          <a:bodyPr vert="horz" lIns="0" tIns="0" rIns="0" bIns="0" rtlCol="0" anchor="t">
            <a:noAutofit/>
          </a:bodyPr>
          <a:lstStyle/>
          <a:p>
            <a:r>
              <a:rPr lang="en-US" noProof="0"/>
              <a:t>Click to edit Master title style</a:t>
            </a:r>
            <a:endParaRPr lang="en-GB" noProof="0" dirty="0"/>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790575" y="4911725"/>
            <a:ext cx="19805088" cy="23333088"/>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6440564" y="28880553"/>
            <a:ext cx="3249940" cy="605990"/>
          </a:xfrm>
          <a:prstGeom prst="rect">
            <a:avLst/>
          </a:prstGeom>
        </p:spPr>
        <p:txBody>
          <a:bodyPr vert="horz" lIns="0" tIns="0" rIns="0" bIns="0" rtlCol="0" anchor="b">
            <a:noAutofit/>
          </a:bodyPr>
          <a:lstStyle>
            <a:lvl1pPr algn="r">
              <a:defRPr sz="3200">
                <a:solidFill>
                  <a:schemeClr val="accent1"/>
                </a:solidFill>
              </a:defRPr>
            </a:lvl1pPr>
          </a:lstStyle>
          <a:p>
            <a:fld id="{7591C2C3-B079-4145-9757-D0EBAE610834}" type="datetime1">
              <a:rPr lang="en-GB" noProof="0" smtClean="0"/>
              <a:t>06/09/2026</a:t>
            </a:fld>
            <a:endParaRPr lang="en-GB" noProof="0" dirty="0"/>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11474047" y="28880544"/>
            <a:ext cx="9119003" cy="605999"/>
          </a:xfrm>
          <a:prstGeom prst="rect">
            <a:avLst/>
          </a:prstGeom>
        </p:spPr>
        <p:txBody>
          <a:bodyPr vert="horz" lIns="0" tIns="0" rIns="0" bIns="0" rtlCol="0" anchor="b">
            <a:noAutofit/>
          </a:bodyPr>
          <a:lstStyle>
            <a:lvl1pPr algn="r">
              <a:defRPr sz="3200">
                <a:solidFill>
                  <a:schemeClr val="accent1"/>
                </a:solidFill>
              </a:defRPr>
            </a:lvl1pPr>
          </a:lstStyle>
          <a:p>
            <a:r>
              <a:rPr lang="en-GB" noProof="0"/>
              <a:t>imperial.ac.uk</a:t>
            </a:r>
            <a:endParaRPr lang="en-GB" noProof="0" dirty="0"/>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366376" y="28880544"/>
            <a:ext cx="650878" cy="605999"/>
          </a:xfrm>
          <a:prstGeom prst="rect">
            <a:avLst/>
          </a:prstGeom>
        </p:spPr>
        <p:txBody>
          <a:bodyPr vert="horz" lIns="0" tIns="0" rIns="0" bIns="0" rtlCol="0" anchor="b">
            <a:noAutofit/>
          </a:bodyPr>
          <a:lstStyle>
            <a:lvl1pPr algn="ctr">
              <a:defRPr sz="3200" b="1">
                <a:solidFill>
                  <a:schemeClr val="accent1"/>
                </a:solidFill>
              </a:defRPr>
            </a:lvl1pPr>
          </a:lstStyle>
          <a:p>
            <a:fld id="{CBA53E11-492D-48B3-9F9B-09541CA2A39A}" type="slidenum">
              <a:rPr lang="en-GB" noProof="0" smtClean="0"/>
              <a:pPr/>
              <a:t>‹#›</a:t>
            </a:fld>
            <a:endParaRPr lang="en-GB" noProof="0" dirty="0"/>
          </a:p>
        </p:txBody>
      </p:sp>
      <p:sp>
        <p:nvSpPr>
          <p:cNvPr id="7" name="TextBox 6">
            <a:extLst>
              <a:ext uri="{FF2B5EF4-FFF2-40B4-BE49-F238E27FC236}">
                <a16:creationId xmlns:a16="http://schemas.microsoft.com/office/drawing/2014/main" id="{D296CDD9-97E9-735B-8549-0F3AE3CCAC58}"/>
              </a:ext>
            </a:extLst>
          </p:cNvPr>
          <p:cNvSpPr txBox="1"/>
          <p:nvPr userDrawn="1"/>
        </p:nvSpPr>
        <p:spPr>
          <a:xfrm>
            <a:off x="790575" y="28880544"/>
            <a:ext cx="5192516" cy="605999"/>
          </a:xfrm>
          <a:prstGeom prst="rect">
            <a:avLst/>
          </a:prstGeom>
          <a:noFill/>
        </p:spPr>
        <p:txBody>
          <a:bodyPr wrap="square" lIns="0" tIns="0" rIns="0" bIns="0" rtlCol="0" anchor="b">
            <a:noAutofit/>
          </a:bodyPr>
          <a:lstStyle/>
          <a:p>
            <a:pPr algn="l"/>
            <a:r>
              <a:rPr lang="en-GB" sz="3200" b="0" noProof="0" dirty="0">
                <a:solidFill>
                  <a:schemeClr val="accent1"/>
                </a:solidFill>
                <a:latin typeface="+mn-lt"/>
              </a:rPr>
              <a:t>Imperial College London</a:t>
            </a:r>
          </a:p>
        </p:txBody>
      </p:sp>
      <p:grpSp>
        <p:nvGrpSpPr>
          <p:cNvPr id="10" name="Group 4">
            <a:extLst>
              <a:ext uri="{FF2B5EF4-FFF2-40B4-BE49-F238E27FC236}">
                <a16:creationId xmlns:a16="http://schemas.microsoft.com/office/drawing/2014/main" id="{5B8F859E-67B2-31E4-8FF7-14252D90D5FE}"/>
              </a:ext>
            </a:extLst>
          </p:cNvPr>
          <p:cNvGrpSpPr>
            <a:grpSpLocks noChangeAspect="1"/>
          </p:cNvGrpSpPr>
          <p:nvPr userDrawn="1"/>
        </p:nvGrpSpPr>
        <p:grpSpPr bwMode="auto">
          <a:xfrm>
            <a:off x="790575" y="821055"/>
            <a:ext cx="6336000" cy="699453"/>
            <a:chOff x="0" y="8792"/>
            <a:chExt cx="13470" cy="1487"/>
          </a:xfrm>
          <a:solidFill>
            <a:schemeClr val="accent1"/>
          </a:solidFill>
        </p:grpSpPr>
        <p:sp>
          <p:nvSpPr>
            <p:cNvPr id="12" name="Freeform 5">
              <a:extLst>
                <a:ext uri="{FF2B5EF4-FFF2-40B4-BE49-F238E27FC236}">
                  <a16:creationId xmlns:a16="http://schemas.microsoft.com/office/drawing/2014/main" id="{61C58841-4C03-F11E-E9FB-C1D825B77D29}"/>
                </a:ext>
              </a:extLst>
            </p:cNvPr>
            <p:cNvSpPr>
              <a:spLocks/>
            </p:cNvSpPr>
            <p:nvPr userDrawn="1"/>
          </p:nvSpPr>
          <p:spPr bwMode="auto">
            <a:xfrm>
              <a:off x="12506" y="8792"/>
              <a:ext cx="964" cy="1487"/>
            </a:xfrm>
            <a:custGeom>
              <a:avLst/>
              <a:gdLst>
                <a:gd name="T0" fmla="*/ 0 w 964"/>
                <a:gd name="T1" fmla="*/ 0 h 1487"/>
                <a:gd name="T2" fmla="*/ 0 w 964"/>
                <a:gd name="T3" fmla="*/ 1487 h 1487"/>
                <a:gd name="T4" fmla="*/ 964 w 964"/>
                <a:gd name="T5" fmla="*/ 1487 h 1487"/>
                <a:gd name="T6" fmla="*/ 964 w 964"/>
                <a:gd name="T7" fmla="*/ 1227 h 1487"/>
                <a:gd name="T8" fmla="*/ 280 w 964"/>
                <a:gd name="T9" fmla="*/ 1227 h 1487"/>
                <a:gd name="T10" fmla="*/ 280 w 964"/>
                <a:gd name="T11" fmla="*/ 0 h 1487"/>
                <a:gd name="T12" fmla="*/ 0 w 964"/>
                <a:gd name="T13" fmla="*/ 0 h 1487"/>
                <a:gd name="T14" fmla="*/ 0 w 964"/>
                <a:gd name="T15" fmla="*/ 0 h 14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64" h="1487">
                  <a:moveTo>
                    <a:pt x="0" y="0"/>
                  </a:moveTo>
                  <a:lnTo>
                    <a:pt x="0" y="1487"/>
                  </a:lnTo>
                  <a:lnTo>
                    <a:pt x="964" y="1487"/>
                  </a:lnTo>
                  <a:lnTo>
                    <a:pt x="964" y="1227"/>
                  </a:lnTo>
                  <a:lnTo>
                    <a:pt x="280" y="1227"/>
                  </a:lnTo>
                  <a:lnTo>
                    <a:pt x="280"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3" name="Freeform 6">
              <a:extLst>
                <a:ext uri="{FF2B5EF4-FFF2-40B4-BE49-F238E27FC236}">
                  <a16:creationId xmlns:a16="http://schemas.microsoft.com/office/drawing/2014/main" id="{A66AEB3A-19AD-FDFB-E196-3A2F869534FF}"/>
                </a:ext>
              </a:extLst>
            </p:cNvPr>
            <p:cNvSpPr>
              <a:spLocks noEditPoints="1"/>
            </p:cNvSpPr>
            <p:nvPr userDrawn="1"/>
          </p:nvSpPr>
          <p:spPr bwMode="auto">
            <a:xfrm>
              <a:off x="10525" y="8792"/>
              <a:ext cx="1346" cy="1487"/>
            </a:xfrm>
            <a:custGeom>
              <a:avLst/>
              <a:gdLst>
                <a:gd name="T0" fmla="*/ 488 w 1346"/>
                <a:gd name="T1" fmla="*/ 0 h 1487"/>
                <a:gd name="T2" fmla="*/ 0 w 1346"/>
                <a:gd name="T3" fmla="*/ 1487 h 1487"/>
                <a:gd name="T4" fmla="*/ 296 w 1346"/>
                <a:gd name="T5" fmla="*/ 1487 h 1487"/>
                <a:gd name="T6" fmla="*/ 397 w 1346"/>
                <a:gd name="T7" fmla="*/ 1160 h 1487"/>
                <a:gd name="T8" fmla="*/ 950 w 1346"/>
                <a:gd name="T9" fmla="*/ 1160 h 1487"/>
                <a:gd name="T10" fmla="*/ 1050 w 1346"/>
                <a:gd name="T11" fmla="*/ 1487 h 1487"/>
                <a:gd name="T12" fmla="*/ 1346 w 1346"/>
                <a:gd name="T13" fmla="*/ 1487 h 1487"/>
                <a:gd name="T14" fmla="*/ 858 w 1346"/>
                <a:gd name="T15" fmla="*/ 0 h 1487"/>
                <a:gd name="T16" fmla="*/ 488 w 1346"/>
                <a:gd name="T17" fmla="*/ 0 h 1487"/>
                <a:gd name="T18" fmla="*/ 488 w 1346"/>
                <a:gd name="T19" fmla="*/ 0 h 1487"/>
                <a:gd name="T20" fmla="*/ 674 w 1346"/>
                <a:gd name="T21" fmla="*/ 264 h 1487"/>
                <a:gd name="T22" fmla="*/ 875 w 1346"/>
                <a:gd name="T23" fmla="*/ 920 h 1487"/>
                <a:gd name="T24" fmla="*/ 470 w 1346"/>
                <a:gd name="T25" fmla="*/ 920 h 1487"/>
                <a:gd name="T26" fmla="*/ 674 w 1346"/>
                <a:gd name="T27" fmla="*/ 264 h 1487"/>
                <a:gd name="T28" fmla="*/ 674 w 1346"/>
                <a:gd name="T29" fmla="*/ 264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46" h="1487">
                  <a:moveTo>
                    <a:pt x="488" y="0"/>
                  </a:moveTo>
                  <a:lnTo>
                    <a:pt x="0" y="1487"/>
                  </a:lnTo>
                  <a:lnTo>
                    <a:pt x="296" y="1487"/>
                  </a:lnTo>
                  <a:lnTo>
                    <a:pt x="397" y="1160"/>
                  </a:lnTo>
                  <a:lnTo>
                    <a:pt x="950" y="1160"/>
                  </a:lnTo>
                  <a:lnTo>
                    <a:pt x="1050" y="1487"/>
                  </a:lnTo>
                  <a:lnTo>
                    <a:pt x="1346" y="1487"/>
                  </a:lnTo>
                  <a:lnTo>
                    <a:pt x="858" y="0"/>
                  </a:lnTo>
                  <a:lnTo>
                    <a:pt x="488" y="0"/>
                  </a:lnTo>
                  <a:lnTo>
                    <a:pt x="488" y="0"/>
                  </a:lnTo>
                  <a:close/>
                  <a:moveTo>
                    <a:pt x="674" y="264"/>
                  </a:moveTo>
                  <a:lnTo>
                    <a:pt x="875" y="920"/>
                  </a:lnTo>
                  <a:lnTo>
                    <a:pt x="470" y="920"/>
                  </a:lnTo>
                  <a:lnTo>
                    <a:pt x="674" y="264"/>
                  </a:lnTo>
                  <a:lnTo>
                    <a:pt x="674" y="2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4" name="Freeform 7">
              <a:extLst>
                <a:ext uri="{FF2B5EF4-FFF2-40B4-BE49-F238E27FC236}">
                  <a16:creationId xmlns:a16="http://schemas.microsoft.com/office/drawing/2014/main" id="{54DF53D1-90F8-4D66-1194-252B58894048}"/>
                </a:ext>
              </a:extLst>
            </p:cNvPr>
            <p:cNvSpPr>
              <a:spLocks/>
            </p:cNvSpPr>
            <p:nvPr userDrawn="1"/>
          </p:nvSpPr>
          <p:spPr bwMode="auto">
            <a:xfrm>
              <a:off x="8989" y="8792"/>
              <a:ext cx="976" cy="1487"/>
            </a:xfrm>
            <a:custGeom>
              <a:avLst/>
              <a:gdLst>
                <a:gd name="T0" fmla="*/ 0 w 976"/>
                <a:gd name="T1" fmla="*/ 0 h 1487"/>
                <a:gd name="T2" fmla="*/ 0 w 976"/>
                <a:gd name="T3" fmla="*/ 261 h 1487"/>
                <a:gd name="T4" fmla="*/ 347 w 976"/>
                <a:gd name="T5" fmla="*/ 261 h 1487"/>
                <a:gd name="T6" fmla="*/ 347 w 976"/>
                <a:gd name="T7" fmla="*/ 1227 h 1487"/>
                <a:gd name="T8" fmla="*/ 0 w 976"/>
                <a:gd name="T9" fmla="*/ 1227 h 1487"/>
                <a:gd name="T10" fmla="*/ 0 w 976"/>
                <a:gd name="T11" fmla="*/ 1487 h 1487"/>
                <a:gd name="T12" fmla="*/ 976 w 976"/>
                <a:gd name="T13" fmla="*/ 1487 h 1487"/>
                <a:gd name="T14" fmla="*/ 976 w 976"/>
                <a:gd name="T15" fmla="*/ 1227 h 1487"/>
                <a:gd name="T16" fmla="*/ 628 w 976"/>
                <a:gd name="T17" fmla="*/ 1227 h 1487"/>
                <a:gd name="T18" fmla="*/ 628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7" y="261"/>
                  </a:lnTo>
                  <a:lnTo>
                    <a:pt x="347" y="1227"/>
                  </a:lnTo>
                  <a:lnTo>
                    <a:pt x="0" y="1227"/>
                  </a:lnTo>
                  <a:lnTo>
                    <a:pt x="0" y="1487"/>
                  </a:lnTo>
                  <a:lnTo>
                    <a:pt x="976" y="1487"/>
                  </a:lnTo>
                  <a:lnTo>
                    <a:pt x="976" y="1227"/>
                  </a:lnTo>
                  <a:lnTo>
                    <a:pt x="628" y="1227"/>
                  </a:lnTo>
                  <a:lnTo>
                    <a:pt x="628"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5" name="Freeform 8">
              <a:extLst>
                <a:ext uri="{FF2B5EF4-FFF2-40B4-BE49-F238E27FC236}">
                  <a16:creationId xmlns:a16="http://schemas.microsoft.com/office/drawing/2014/main" id="{3F5DA096-5291-A2DF-1BA8-D4CE73D939D0}"/>
                </a:ext>
              </a:extLst>
            </p:cNvPr>
            <p:cNvSpPr>
              <a:spLocks noEditPoints="1"/>
            </p:cNvSpPr>
            <p:nvPr userDrawn="1"/>
          </p:nvSpPr>
          <p:spPr bwMode="auto">
            <a:xfrm>
              <a:off x="7246" y="8792"/>
              <a:ext cx="1155" cy="1487"/>
            </a:xfrm>
            <a:custGeom>
              <a:avLst/>
              <a:gdLst>
                <a:gd name="T0" fmla="*/ 884 w 932"/>
                <a:gd name="T1" fmla="*/ 372 h 1199"/>
                <a:gd name="T2" fmla="*/ 442 w 932"/>
                <a:gd name="T3" fmla="*/ 0 h 1199"/>
                <a:gd name="T4" fmla="*/ 0 w 932"/>
                <a:gd name="T5" fmla="*/ 0 h 1199"/>
                <a:gd name="T6" fmla="*/ 0 w 932"/>
                <a:gd name="T7" fmla="*/ 1199 h 1199"/>
                <a:gd name="T8" fmla="*/ 227 w 932"/>
                <a:gd name="T9" fmla="*/ 1199 h 1199"/>
                <a:gd name="T10" fmla="*/ 227 w 932"/>
                <a:gd name="T11" fmla="*/ 755 h 1199"/>
                <a:gd name="T12" fmla="*/ 418 w 932"/>
                <a:gd name="T13" fmla="*/ 755 h 1199"/>
                <a:gd name="T14" fmla="*/ 450 w 932"/>
                <a:gd name="T15" fmla="*/ 755 h 1199"/>
                <a:gd name="T16" fmla="*/ 681 w 932"/>
                <a:gd name="T17" fmla="*/ 1199 h 1199"/>
                <a:gd name="T18" fmla="*/ 932 w 932"/>
                <a:gd name="T19" fmla="*/ 1199 h 1199"/>
                <a:gd name="T20" fmla="*/ 676 w 932"/>
                <a:gd name="T21" fmla="*/ 707 h 1199"/>
                <a:gd name="T22" fmla="*/ 884 w 932"/>
                <a:gd name="T23" fmla="*/ 372 h 1199"/>
                <a:gd name="T24" fmla="*/ 645 w 932"/>
                <a:gd name="T25" fmla="*/ 372 h 1199"/>
                <a:gd name="T26" fmla="*/ 418 w 932"/>
                <a:gd name="T27" fmla="*/ 562 h 1199"/>
                <a:gd name="T28" fmla="*/ 227 w 932"/>
                <a:gd name="T29" fmla="*/ 562 h 1199"/>
                <a:gd name="T30" fmla="*/ 227 w 932"/>
                <a:gd name="T31" fmla="*/ 194 h 1199"/>
                <a:gd name="T32" fmla="*/ 418 w 932"/>
                <a:gd name="T33" fmla="*/ 194 h 1199"/>
                <a:gd name="T34" fmla="*/ 645 w 932"/>
                <a:gd name="T35" fmla="*/ 372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2" h="1199">
                  <a:moveTo>
                    <a:pt x="884" y="372"/>
                  </a:moveTo>
                  <a:cubicBezTo>
                    <a:pt x="884" y="92"/>
                    <a:pt x="693" y="0"/>
                    <a:pt x="442" y="0"/>
                  </a:cubicBezTo>
                  <a:cubicBezTo>
                    <a:pt x="0" y="0"/>
                    <a:pt x="0" y="0"/>
                    <a:pt x="0" y="0"/>
                  </a:cubicBezTo>
                  <a:cubicBezTo>
                    <a:pt x="0" y="1199"/>
                    <a:pt x="0" y="1199"/>
                    <a:pt x="0" y="1199"/>
                  </a:cubicBezTo>
                  <a:cubicBezTo>
                    <a:pt x="227" y="1199"/>
                    <a:pt x="227" y="1199"/>
                    <a:pt x="227" y="1199"/>
                  </a:cubicBezTo>
                  <a:cubicBezTo>
                    <a:pt x="227" y="755"/>
                    <a:pt x="227" y="755"/>
                    <a:pt x="227" y="755"/>
                  </a:cubicBezTo>
                  <a:cubicBezTo>
                    <a:pt x="418" y="755"/>
                    <a:pt x="418" y="755"/>
                    <a:pt x="418" y="755"/>
                  </a:cubicBezTo>
                  <a:cubicBezTo>
                    <a:pt x="429" y="755"/>
                    <a:pt x="439" y="755"/>
                    <a:pt x="450" y="755"/>
                  </a:cubicBezTo>
                  <a:cubicBezTo>
                    <a:pt x="681" y="1199"/>
                    <a:pt x="681" y="1199"/>
                    <a:pt x="681" y="1199"/>
                  </a:cubicBezTo>
                  <a:cubicBezTo>
                    <a:pt x="932" y="1199"/>
                    <a:pt x="932" y="1199"/>
                    <a:pt x="932" y="1199"/>
                  </a:cubicBezTo>
                  <a:cubicBezTo>
                    <a:pt x="676" y="707"/>
                    <a:pt x="676" y="707"/>
                    <a:pt x="676" y="707"/>
                  </a:cubicBezTo>
                  <a:cubicBezTo>
                    <a:pt x="801" y="652"/>
                    <a:pt x="884" y="545"/>
                    <a:pt x="884" y="372"/>
                  </a:cubicBezTo>
                  <a:moveTo>
                    <a:pt x="645" y="372"/>
                  </a:moveTo>
                  <a:cubicBezTo>
                    <a:pt x="645" y="516"/>
                    <a:pt x="562" y="562"/>
                    <a:pt x="418" y="562"/>
                  </a:cubicBezTo>
                  <a:cubicBezTo>
                    <a:pt x="227" y="562"/>
                    <a:pt x="227" y="562"/>
                    <a:pt x="227" y="562"/>
                  </a:cubicBezTo>
                  <a:cubicBezTo>
                    <a:pt x="227" y="194"/>
                    <a:pt x="227" y="194"/>
                    <a:pt x="227" y="194"/>
                  </a:cubicBezTo>
                  <a:cubicBezTo>
                    <a:pt x="418" y="194"/>
                    <a:pt x="418" y="194"/>
                    <a:pt x="418" y="194"/>
                  </a:cubicBezTo>
                  <a:cubicBezTo>
                    <a:pt x="574" y="194"/>
                    <a:pt x="645" y="252"/>
                    <a:pt x="645" y="37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6" name="Freeform 9">
              <a:extLst>
                <a:ext uri="{FF2B5EF4-FFF2-40B4-BE49-F238E27FC236}">
                  <a16:creationId xmlns:a16="http://schemas.microsoft.com/office/drawing/2014/main" id="{03788404-0623-D7AB-430D-C7451DD8576A}"/>
                </a:ext>
              </a:extLst>
            </p:cNvPr>
            <p:cNvSpPr>
              <a:spLocks/>
            </p:cNvSpPr>
            <p:nvPr userDrawn="1"/>
          </p:nvSpPr>
          <p:spPr bwMode="auto">
            <a:xfrm>
              <a:off x="5586" y="8792"/>
              <a:ext cx="962" cy="1487"/>
            </a:xfrm>
            <a:custGeom>
              <a:avLst/>
              <a:gdLst>
                <a:gd name="T0" fmla="*/ 0 w 962"/>
                <a:gd name="T1" fmla="*/ 0 h 1487"/>
                <a:gd name="T2" fmla="*/ 0 w 962"/>
                <a:gd name="T3" fmla="*/ 1487 h 1487"/>
                <a:gd name="T4" fmla="*/ 962 w 962"/>
                <a:gd name="T5" fmla="*/ 1487 h 1487"/>
                <a:gd name="T6" fmla="*/ 962 w 962"/>
                <a:gd name="T7" fmla="*/ 1227 h 1487"/>
                <a:gd name="T8" fmla="*/ 281 w 962"/>
                <a:gd name="T9" fmla="*/ 1227 h 1487"/>
                <a:gd name="T10" fmla="*/ 281 w 962"/>
                <a:gd name="T11" fmla="*/ 855 h 1487"/>
                <a:gd name="T12" fmla="*/ 903 w 962"/>
                <a:gd name="T13" fmla="*/ 855 h 1487"/>
                <a:gd name="T14" fmla="*/ 903 w 962"/>
                <a:gd name="T15" fmla="*/ 603 h 1487"/>
                <a:gd name="T16" fmla="*/ 281 w 962"/>
                <a:gd name="T17" fmla="*/ 603 h 1487"/>
                <a:gd name="T18" fmla="*/ 281 w 962"/>
                <a:gd name="T19" fmla="*/ 261 h 1487"/>
                <a:gd name="T20" fmla="*/ 962 w 962"/>
                <a:gd name="T21" fmla="*/ 261 h 1487"/>
                <a:gd name="T22" fmla="*/ 962 w 962"/>
                <a:gd name="T23" fmla="*/ 0 h 1487"/>
                <a:gd name="T24" fmla="*/ 0 w 962"/>
                <a:gd name="T25" fmla="*/ 0 h 1487"/>
                <a:gd name="T26" fmla="*/ 0 w 962"/>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2" h="1487">
                  <a:moveTo>
                    <a:pt x="0" y="0"/>
                  </a:moveTo>
                  <a:lnTo>
                    <a:pt x="0" y="1487"/>
                  </a:lnTo>
                  <a:lnTo>
                    <a:pt x="962" y="1487"/>
                  </a:lnTo>
                  <a:lnTo>
                    <a:pt x="962" y="1227"/>
                  </a:lnTo>
                  <a:lnTo>
                    <a:pt x="281" y="1227"/>
                  </a:lnTo>
                  <a:lnTo>
                    <a:pt x="281" y="855"/>
                  </a:lnTo>
                  <a:lnTo>
                    <a:pt x="903" y="855"/>
                  </a:lnTo>
                  <a:lnTo>
                    <a:pt x="903" y="603"/>
                  </a:lnTo>
                  <a:lnTo>
                    <a:pt x="281" y="603"/>
                  </a:lnTo>
                  <a:lnTo>
                    <a:pt x="281" y="261"/>
                  </a:lnTo>
                  <a:lnTo>
                    <a:pt x="962" y="261"/>
                  </a:lnTo>
                  <a:lnTo>
                    <a:pt x="962"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7" name="Freeform 10">
              <a:extLst>
                <a:ext uri="{FF2B5EF4-FFF2-40B4-BE49-F238E27FC236}">
                  <a16:creationId xmlns:a16="http://schemas.microsoft.com/office/drawing/2014/main" id="{25BE06B1-DA44-6343-3BC4-0121CD607775}"/>
                </a:ext>
              </a:extLst>
            </p:cNvPr>
            <p:cNvSpPr>
              <a:spLocks noEditPoints="1"/>
            </p:cNvSpPr>
            <p:nvPr userDrawn="1"/>
          </p:nvSpPr>
          <p:spPr bwMode="auto">
            <a:xfrm>
              <a:off x="3930" y="8792"/>
              <a:ext cx="1065" cy="1487"/>
            </a:xfrm>
            <a:custGeom>
              <a:avLst/>
              <a:gdLst>
                <a:gd name="T0" fmla="*/ 406 w 860"/>
                <a:gd name="T1" fmla="*/ 791 h 1199"/>
                <a:gd name="T2" fmla="*/ 227 w 860"/>
                <a:gd name="T3" fmla="*/ 791 h 1199"/>
                <a:gd name="T4" fmla="*/ 227 w 860"/>
                <a:gd name="T5" fmla="*/ 1199 h 1199"/>
                <a:gd name="T6" fmla="*/ 0 w 860"/>
                <a:gd name="T7" fmla="*/ 1199 h 1199"/>
                <a:gd name="T8" fmla="*/ 0 w 860"/>
                <a:gd name="T9" fmla="*/ 0 h 1199"/>
                <a:gd name="T10" fmla="*/ 406 w 860"/>
                <a:gd name="T11" fmla="*/ 0 h 1199"/>
                <a:gd name="T12" fmla="*/ 860 w 860"/>
                <a:gd name="T13" fmla="*/ 396 h 1199"/>
                <a:gd name="T14" fmla="*/ 406 w 860"/>
                <a:gd name="T15" fmla="*/ 791 h 1199"/>
                <a:gd name="T16" fmla="*/ 394 w 860"/>
                <a:gd name="T17" fmla="*/ 194 h 1199"/>
                <a:gd name="T18" fmla="*/ 227 w 860"/>
                <a:gd name="T19" fmla="*/ 194 h 1199"/>
                <a:gd name="T20" fmla="*/ 227 w 860"/>
                <a:gd name="T21" fmla="*/ 598 h 1199"/>
                <a:gd name="T22" fmla="*/ 394 w 860"/>
                <a:gd name="T23" fmla="*/ 598 h 1199"/>
                <a:gd name="T24" fmla="*/ 621 w 860"/>
                <a:gd name="T25" fmla="*/ 396 h 1199"/>
                <a:gd name="T26" fmla="*/ 394 w 860"/>
                <a:gd name="T27" fmla="*/ 194 h 1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0" h="1199">
                  <a:moveTo>
                    <a:pt x="406" y="791"/>
                  </a:moveTo>
                  <a:cubicBezTo>
                    <a:pt x="227" y="791"/>
                    <a:pt x="227" y="791"/>
                    <a:pt x="227" y="791"/>
                  </a:cubicBezTo>
                  <a:cubicBezTo>
                    <a:pt x="227" y="1199"/>
                    <a:pt x="227" y="1199"/>
                    <a:pt x="227" y="1199"/>
                  </a:cubicBezTo>
                  <a:cubicBezTo>
                    <a:pt x="0" y="1199"/>
                    <a:pt x="0" y="1199"/>
                    <a:pt x="0" y="1199"/>
                  </a:cubicBezTo>
                  <a:cubicBezTo>
                    <a:pt x="0" y="0"/>
                    <a:pt x="0" y="0"/>
                    <a:pt x="0" y="0"/>
                  </a:cubicBezTo>
                  <a:cubicBezTo>
                    <a:pt x="406" y="0"/>
                    <a:pt x="406" y="0"/>
                    <a:pt x="406" y="0"/>
                  </a:cubicBezTo>
                  <a:cubicBezTo>
                    <a:pt x="661" y="0"/>
                    <a:pt x="860" y="116"/>
                    <a:pt x="860" y="396"/>
                  </a:cubicBezTo>
                  <a:cubicBezTo>
                    <a:pt x="860" y="671"/>
                    <a:pt x="659" y="791"/>
                    <a:pt x="406" y="791"/>
                  </a:cubicBezTo>
                  <a:moveTo>
                    <a:pt x="394" y="194"/>
                  </a:moveTo>
                  <a:cubicBezTo>
                    <a:pt x="227" y="194"/>
                    <a:pt x="227" y="194"/>
                    <a:pt x="227" y="194"/>
                  </a:cubicBezTo>
                  <a:cubicBezTo>
                    <a:pt x="227" y="598"/>
                    <a:pt x="227" y="598"/>
                    <a:pt x="227" y="598"/>
                  </a:cubicBezTo>
                  <a:cubicBezTo>
                    <a:pt x="394" y="598"/>
                    <a:pt x="394" y="598"/>
                    <a:pt x="394" y="598"/>
                  </a:cubicBezTo>
                  <a:cubicBezTo>
                    <a:pt x="525" y="598"/>
                    <a:pt x="621" y="534"/>
                    <a:pt x="621" y="396"/>
                  </a:cubicBezTo>
                  <a:cubicBezTo>
                    <a:pt x="621" y="252"/>
                    <a:pt x="525" y="194"/>
                    <a:pt x="394" y="19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8" name="Freeform 11">
              <a:extLst>
                <a:ext uri="{FF2B5EF4-FFF2-40B4-BE49-F238E27FC236}">
                  <a16:creationId xmlns:a16="http://schemas.microsoft.com/office/drawing/2014/main" id="{7FCC7591-2A02-9882-D609-263757CD5388}"/>
                </a:ext>
              </a:extLst>
            </p:cNvPr>
            <p:cNvSpPr>
              <a:spLocks/>
            </p:cNvSpPr>
            <p:nvPr userDrawn="1"/>
          </p:nvSpPr>
          <p:spPr bwMode="auto">
            <a:xfrm>
              <a:off x="1705" y="8792"/>
              <a:ext cx="1509" cy="1487"/>
            </a:xfrm>
            <a:custGeom>
              <a:avLst/>
              <a:gdLst>
                <a:gd name="T0" fmla="*/ 1110 w 1509"/>
                <a:gd name="T1" fmla="*/ 0 h 1487"/>
                <a:gd name="T2" fmla="*/ 755 w 1509"/>
                <a:gd name="T3" fmla="*/ 874 h 1487"/>
                <a:gd name="T4" fmla="*/ 401 w 1509"/>
                <a:gd name="T5" fmla="*/ 0 h 1487"/>
                <a:gd name="T6" fmla="*/ 0 w 1509"/>
                <a:gd name="T7" fmla="*/ 0 h 1487"/>
                <a:gd name="T8" fmla="*/ 0 w 1509"/>
                <a:gd name="T9" fmla="*/ 1487 h 1487"/>
                <a:gd name="T10" fmla="*/ 267 w 1509"/>
                <a:gd name="T11" fmla="*/ 1487 h 1487"/>
                <a:gd name="T12" fmla="*/ 267 w 1509"/>
                <a:gd name="T13" fmla="*/ 376 h 1487"/>
                <a:gd name="T14" fmla="*/ 607 w 1509"/>
                <a:gd name="T15" fmla="*/ 1160 h 1487"/>
                <a:gd name="T16" fmla="*/ 622 w 1509"/>
                <a:gd name="T17" fmla="*/ 1160 h 1487"/>
                <a:gd name="T18" fmla="*/ 888 w 1509"/>
                <a:gd name="T19" fmla="*/ 1160 h 1487"/>
                <a:gd name="T20" fmla="*/ 903 w 1509"/>
                <a:gd name="T21" fmla="*/ 1160 h 1487"/>
                <a:gd name="T22" fmla="*/ 1243 w 1509"/>
                <a:gd name="T23" fmla="*/ 376 h 1487"/>
                <a:gd name="T24" fmla="*/ 1243 w 1509"/>
                <a:gd name="T25" fmla="*/ 1487 h 1487"/>
                <a:gd name="T26" fmla="*/ 1509 w 1509"/>
                <a:gd name="T27" fmla="*/ 1487 h 1487"/>
                <a:gd name="T28" fmla="*/ 1509 w 1509"/>
                <a:gd name="T29" fmla="*/ 0 h 1487"/>
                <a:gd name="T30" fmla="*/ 1110 w 1509"/>
                <a:gd name="T31" fmla="*/ 0 h 1487"/>
                <a:gd name="T32" fmla="*/ 1110 w 1509"/>
                <a:gd name="T33"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09" h="1487">
                  <a:moveTo>
                    <a:pt x="1110" y="0"/>
                  </a:moveTo>
                  <a:lnTo>
                    <a:pt x="755" y="874"/>
                  </a:lnTo>
                  <a:lnTo>
                    <a:pt x="401" y="0"/>
                  </a:lnTo>
                  <a:lnTo>
                    <a:pt x="0" y="0"/>
                  </a:lnTo>
                  <a:lnTo>
                    <a:pt x="0" y="1487"/>
                  </a:lnTo>
                  <a:lnTo>
                    <a:pt x="267" y="1487"/>
                  </a:lnTo>
                  <a:lnTo>
                    <a:pt x="267" y="376"/>
                  </a:lnTo>
                  <a:lnTo>
                    <a:pt x="607" y="1160"/>
                  </a:lnTo>
                  <a:lnTo>
                    <a:pt x="622" y="1160"/>
                  </a:lnTo>
                  <a:lnTo>
                    <a:pt x="888" y="1160"/>
                  </a:lnTo>
                  <a:lnTo>
                    <a:pt x="903" y="1160"/>
                  </a:lnTo>
                  <a:lnTo>
                    <a:pt x="1243" y="376"/>
                  </a:lnTo>
                  <a:lnTo>
                    <a:pt x="1243" y="1487"/>
                  </a:lnTo>
                  <a:lnTo>
                    <a:pt x="1509" y="1487"/>
                  </a:lnTo>
                  <a:lnTo>
                    <a:pt x="1509" y="0"/>
                  </a:lnTo>
                  <a:lnTo>
                    <a:pt x="1110" y="0"/>
                  </a:lnTo>
                  <a:lnTo>
                    <a:pt x="11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sp>
          <p:nvSpPr>
            <p:cNvPr id="19" name="Freeform 12">
              <a:extLst>
                <a:ext uri="{FF2B5EF4-FFF2-40B4-BE49-F238E27FC236}">
                  <a16:creationId xmlns:a16="http://schemas.microsoft.com/office/drawing/2014/main" id="{3A09E968-58E1-1A1E-4EA6-8E6130280E06}"/>
                </a:ext>
              </a:extLst>
            </p:cNvPr>
            <p:cNvSpPr>
              <a:spLocks/>
            </p:cNvSpPr>
            <p:nvPr userDrawn="1"/>
          </p:nvSpPr>
          <p:spPr bwMode="auto">
            <a:xfrm>
              <a:off x="0" y="8792"/>
              <a:ext cx="976" cy="1487"/>
            </a:xfrm>
            <a:custGeom>
              <a:avLst/>
              <a:gdLst>
                <a:gd name="T0" fmla="*/ 0 w 976"/>
                <a:gd name="T1" fmla="*/ 0 h 1487"/>
                <a:gd name="T2" fmla="*/ 0 w 976"/>
                <a:gd name="T3" fmla="*/ 261 h 1487"/>
                <a:gd name="T4" fmla="*/ 348 w 976"/>
                <a:gd name="T5" fmla="*/ 261 h 1487"/>
                <a:gd name="T6" fmla="*/ 348 w 976"/>
                <a:gd name="T7" fmla="*/ 1227 h 1487"/>
                <a:gd name="T8" fmla="*/ 0 w 976"/>
                <a:gd name="T9" fmla="*/ 1227 h 1487"/>
                <a:gd name="T10" fmla="*/ 0 w 976"/>
                <a:gd name="T11" fmla="*/ 1487 h 1487"/>
                <a:gd name="T12" fmla="*/ 976 w 976"/>
                <a:gd name="T13" fmla="*/ 1487 h 1487"/>
                <a:gd name="T14" fmla="*/ 976 w 976"/>
                <a:gd name="T15" fmla="*/ 1227 h 1487"/>
                <a:gd name="T16" fmla="*/ 629 w 976"/>
                <a:gd name="T17" fmla="*/ 1227 h 1487"/>
                <a:gd name="T18" fmla="*/ 629 w 976"/>
                <a:gd name="T19" fmla="*/ 261 h 1487"/>
                <a:gd name="T20" fmla="*/ 976 w 976"/>
                <a:gd name="T21" fmla="*/ 261 h 1487"/>
                <a:gd name="T22" fmla="*/ 976 w 976"/>
                <a:gd name="T23" fmla="*/ 0 h 1487"/>
                <a:gd name="T24" fmla="*/ 0 w 976"/>
                <a:gd name="T25" fmla="*/ 0 h 1487"/>
                <a:gd name="T26" fmla="*/ 0 w 976"/>
                <a:gd name="T27" fmla="*/ 0 h 1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6" h="1487">
                  <a:moveTo>
                    <a:pt x="0" y="0"/>
                  </a:moveTo>
                  <a:lnTo>
                    <a:pt x="0" y="261"/>
                  </a:lnTo>
                  <a:lnTo>
                    <a:pt x="348" y="261"/>
                  </a:lnTo>
                  <a:lnTo>
                    <a:pt x="348" y="1227"/>
                  </a:lnTo>
                  <a:lnTo>
                    <a:pt x="0" y="1227"/>
                  </a:lnTo>
                  <a:lnTo>
                    <a:pt x="0" y="1487"/>
                  </a:lnTo>
                  <a:lnTo>
                    <a:pt x="976" y="1487"/>
                  </a:lnTo>
                  <a:lnTo>
                    <a:pt x="976" y="1227"/>
                  </a:lnTo>
                  <a:lnTo>
                    <a:pt x="629" y="1227"/>
                  </a:lnTo>
                  <a:lnTo>
                    <a:pt x="629" y="261"/>
                  </a:lnTo>
                  <a:lnTo>
                    <a:pt x="976" y="261"/>
                  </a:lnTo>
                  <a:lnTo>
                    <a:pt x="976" y="0"/>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dirty="0"/>
            </a:p>
          </p:txBody>
        </p:sp>
      </p:grpSp>
      <p:cxnSp>
        <p:nvCxnSpPr>
          <p:cNvPr id="21" name="Straight Connector 20">
            <a:extLst>
              <a:ext uri="{FF2B5EF4-FFF2-40B4-BE49-F238E27FC236}">
                <a16:creationId xmlns:a16="http://schemas.microsoft.com/office/drawing/2014/main" id="{7B0F1BC1-E68D-0921-9C05-B7E16303C4E8}"/>
              </a:ext>
            </a:extLst>
          </p:cNvPr>
          <p:cNvCxnSpPr>
            <a:cxnSpLocks/>
          </p:cNvCxnSpPr>
          <p:nvPr userDrawn="1"/>
        </p:nvCxnSpPr>
        <p:spPr>
          <a:xfrm>
            <a:off x="790575" y="20304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75747F-1017-4D31-5505-A8430B838C69}"/>
              </a:ext>
            </a:extLst>
          </p:cNvPr>
          <p:cNvCxnSpPr>
            <a:cxnSpLocks/>
          </p:cNvCxnSpPr>
          <p:nvPr userDrawn="1"/>
        </p:nvCxnSpPr>
        <p:spPr>
          <a:xfrm>
            <a:off x="790575" y="44532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73FABCA-D867-B923-AEC5-2529DDAF191A}"/>
              </a:ext>
            </a:extLst>
          </p:cNvPr>
          <p:cNvCxnSpPr>
            <a:cxnSpLocks/>
          </p:cNvCxnSpPr>
          <p:nvPr userDrawn="1"/>
        </p:nvCxnSpPr>
        <p:spPr>
          <a:xfrm>
            <a:off x="14040000" y="2030400"/>
            <a:ext cx="0" cy="24228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A522AD-270D-814A-95B1-9E0337444A84}"/>
              </a:ext>
            </a:extLst>
          </p:cNvPr>
          <p:cNvCxnSpPr>
            <a:cxnSpLocks/>
          </p:cNvCxnSpPr>
          <p:nvPr userDrawn="1"/>
        </p:nvCxnSpPr>
        <p:spPr>
          <a:xfrm>
            <a:off x="792000" y="28656000"/>
            <a:ext cx="19802475"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50" r:id="rId1"/>
    <p:sldLayoutId id="2147483651" r:id="rId2"/>
  </p:sldLayoutIdLst>
  <p:transition>
    <p:fade/>
  </p:transition>
  <p:hf sldNum="0" hdr="0" dt="0"/>
  <p:txStyles>
    <p:titleStyle>
      <a:lvl1pPr algn="l" defTabSz="1202763" rtl="0" eaLnBrk="1" latinLnBrk="0" hangingPunct="1">
        <a:lnSpc>
          <a:spcPct val="90000"/>
        </a:lnSpc>
        <a:spcBef>
          <a:spcPct val="0"/>
        </a:spcBef>
        <a:buNone/>
        <a:defRPr sz="4200" b="0" kern="1200">
          <a:solidFill>
            <a:schemeClr val="accent1"/>
          </a:solidFill>
          <a:latin typeface="+mj-lt"/>
          <a:ea typeface="+mj-ea"/>
          <a:cs typeface="+mj-cs"/>
        </a:defRPr>
      </a:lvl1pPr>
    </p:titleStyle>
    <p:bodyStyle>
      <a:lvl1pPr marL="0" indent="0" algn="l" defTabSz="1202763" rtl="0" eaLnBrk="1" latinLnBrk="0" hangingPunct="1">
        <a:lnSpc>
          <a:spcPct val="105000"/>
        </a:lnSpc>
        <a:spcBef>
          <a:spcPts val="0"/>
        </a:spcBef>
        <a:buFont typeface="Arial" panose="020B0604020202020204" pitchFamily="34" charset="0"/>
        <a:buNone/>
        <a:defRPr sz="2600" kern="1200">
          <a:solidFill>
            <a:schemeClr val="tx1"/>
          </a:solidFill>
          <a:latin typeface="+mn-lt"/>
          <a:ea typeface="+mn-ea"/>
          <a:cs typeface="+mn-cs"/>
        </a:defRPr>
      </a:lvl1pPr>
      <a:lvl2pPr marL="0" indent="0" algn="l" defTabSz="1202763" rtl="0" eaLnBrk="1" latinLnBrk="0" hangingPunct="1">
        <a:lnSpc>
          <a:spcPct val="105000"/>
        </a:lnSpc>
        <a:spcBef>
          <a:spcPts val="0"/>
        </a:spcBef>
        <a:buFont typeface="Arial" panose="020B0604020202020204" pitchFamily="34" charset="0"/>
        <a:buNone/>
        <a:defRPr sz="2600" b="0" i="0" kern="1200">
          <a:solidFill>
            <a:schemeClr val="tx1"/>
          </a:solidFill>
          <a:latin typeface="+mj-lt"/>
          <a:ea typeface="+mn-ea"/>
          <a:cs typeface="+mn-cs"/>
        </a:defRPr>
      </a:lvl2pPr>
      <a:lvl3pPr marL="360000" indent="-360000" algn="l" defTabSz="1202763" rtl="0" eaLnBrk="1" latinLnBrk="0" hangingPunct="1">
        <a:lnSpc>
          <a:spcPct val="105000"/>
        </a:lnSpc>
        <a:spcBef>
          <a:spcPts val="0"/>
        </a:spcBef>
        <a:buClr>
          <a:schemeClr val="accent1"/>
        </a:buClr>
        <a:buFont typeface="Arial" panose="020B0604020202020204" pitchFamily="34" charset="0"/>
        <a:buChar char="•"/>
        <a:defRPr sz="2600" kern="1200">
          <a:solidFill>
            <a:schemeClr val="tx1"/>
          </a:solidFill>
          <a:latin typeface="+mn-lt"/>
          <a:ea typeface="+mn-ea"/>
          <a:cs typeface="+mn-cs"/>
        </a:defRPr>
      </a:lvl3pPr>
      <a:lvl4pPr marL="0" indent="0" algn="l" defTabSz="1202763" rtl="0" eaLnBrk="1" latinLnBrk="0" hangingPunct="1">
        <a:lnSpc>
          <a:spcPct val="105000"/>
        </a:lnSpc>
        <a:spcBef>
          <a:spcPts val="0"/>
        </a:spcBef>
        <a:spcAft>
          <a:spcPts val="0"/>
        </a:spcAft>
        <a:buFont typeface="Arial" panose="020B0604020202020204" pitchFamily="34" charset="0"/>
        <a:buNone/>
        <a:defRPr sz="1600" kern="1200">
          <a:solidFill>
            <a:schemeClr val="tx1"/>
          </a:solidFill>
          <a:latin typeface="+mn-lt"/>
          <a:ea typeface="+mn-ea"/>
          <a:cs typeface="+mn-cs"/>
        </a:defRPr>
      </a:lvl4pPr>
      <a:lvl5pPr marL="0" indent="0" algn="l" defTabSz="1202763" rtl="0" eaLnBrk="1" latinLnBrk="0" hangingPunct="1">
        <a:lnSpc>
          <a:spcPct val="105000"/>
        </a:lnSpc>
        <a:spcBef>
          <a:spcPts val="0"/>
        </a:spcBef>
        <a:spcAft>
          <a:spcPts val="3969"/>
        </a:spcAft>
        <a:buFont typeface="Arial" panose="020B0604020202020204" pitchFamily="34" charset="0"/>
        <a:buNone/>
        <a:defRPr sz="4200" b="0" kern="1200">
          <a:solidFill>
            <a:schemeClr val="tx1"/>
          </a:solidFill>
          <a:latin typeface="+mn-lt"/>
          <a:ea typeface="+mn-ea"/>
          <a:cs typeface="+mn-cs"/>
        </a:defRPr>
      </a:lvl5pPr>
      <a:lvl6pPr marL="0" indent="0" algn="l" defTabSz="1202763" rtl="0" eaLnBrk="1" latinLnBrk="0" hangingPunct="1">
        <a:lnSpc>
          <a:spcPct val="105000"/>
        </a:lnSpc>
        <a:spcBef>
          <a:spcPts val="0"/>
        </a:spcBef>
        <a:spcAft>
          <a:spcPts val="3969"/>
        </a:spcAft>
        <a:buFont typeface="Arial" panose="020B0604020202020204" pitchFamily="34" charset="0"/>
        <a:buNone/>
        <a:defRPr sz="4200" kern="1200">
          <a:solidFill>
            <a:schemeClr val="tx2"/>
          </a:solidFill>
          <a:latin typeface="+mj-lt"/>
          <a:ea typeface="Inter ExtraBold" panose="02000503000000020004" pitchFamily="2" charset="0"/>
          <a:cs typeface="+mn-cs"/>
        </a:defRPr>
      </a:lvl6pPr>
      <a:lvl7pPr marL="0" indent="0" algn="l" defTabSz="1202763" rtl="0" eaLnBrk="1" latinLnBrk="0" hangingPunct="1">
        <a:lnSpc>
          <a:spcPct val="85000"/>
        </a:lnSpc>
        <a:spcBef>
          <a:spcPts val="0"/>
        </a:spcBef>
        <a:buFont typeface="Arial" panose="020B0604020202020204" pitchFamily="34" charset="0"/>
        <a:buNone/>
        <a:defRPr sz="15000" kern="1200">
          <a:solidFill>
            <a:schemeClr val="tx2"/>
          </a:solidFill>
          <a:latin typeface="Imperial Sans Text Extrabold" panose="020B0903020202020204" pitchFamily="34" charset="0"/>
          <a:ea typeface="+mn-ea"/>
          <a:cs typeface="+mn-cs"/>
        </a:defRPr>
      </a:lvl7pPr>
      <a:lvl8pPr marL="4510361"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8pPr>
      <a:lvl9pPr marL="5111743" indent="-300690" algn="l" defTabSz="1202763" rtl="0" eaLnBrk="1" latinLnBrk="0" hangingPunct="1">
        <a:lnSpc>
          <a:spcPct val="90000"/>
        </a:lnSpc>
        <a:spcBef>
          <a:spcPts val="658"/>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202763" rtl="0" eaLnBrk="1" latinLnBrk="0" hangingPunct="1">
        <a:defRPr sz="2600" kern="1200">
          <a:solidFill>
            <a:schemeClr val="tx1"/>
          </a:solidFill>
          <a:latin typeface="+mn-lt"/>
          <a:ea typeface="+mn-ea"/>
          <a:cs typeface="+mn-cs"/>
        </a:defRPr>
      </a:lvl1pPr>
      <a:lvl2pPr marL="601381" algn="l" defTabSz="1202763" rtl="0" eaLnBrk="1" latinLnBrk="0" hangingPunct="1">
        <a:defRPr sz="2600" kern="1200">
          <a:solidFill>
            <a:schemeClr val="tx1"/>
          </a:solidFill>
          <a:latin typeface="+mn-lt"/>
          <a:ea typeface="+mn-ea"/>
          <a:cs typeface="+mn-cs"/>
        </a:defRPr>
      </a:lvl2pPr>
      <a:lvl3pPr marL="1202763" algn="l" defTabSz="1202763" rtl="0" eaLnBrk="1" latinLnBrk="0" hangingPunct="1">
        <a:defRPr sz="2600" kern="1200">
          <a:solidFill>
            <a:schemeClr val="tx1"/>
          </a:solidFill>
          <a:latin typeface="+mn-lt"/>
          <a:ea typeface="+mn-ea"/>
          <a:cs typeface="+mn-cs"/>
        </a:defRPr>
      </a:lvl3pPr>
      <a:lvl4pPr marL="1804144" algn="l" defTabSz="1202763" rtl="0" eaLnBrk="1" latinLnBrk="0" hangingPunct="1">
        <a:defRPr sz="2600" kern="1200">
          <a:solidFill>
            <a:schemeClr val="tx1"/>
          </a:solidFill>
          <a:latin typeface="+mn-lt"/>
          <a:ea typeface="+mn-ea"/>
          <a:cs typeface="+mn-cs"/>
        </a:defRPr>
      </a:lvl4pPr>
      <a:lvl5pPr marL="2405526" algn="l" defTabSz="1202763" rtl="0" eaLnBrk="1" latinLnBrk="0" hangingPunct="1">
        <a:defRPr sz="2600" kern="1200">
          <a:solidFill>
            <a:schemeClr val="tx1"/>
          </a:solidFill>
          <a:latin typeface="+mn-lt"/>
          <a:ea typeface="+mn-ea"/>
          <a:cs typeface="+mn-cs"/>
        </a:defRPr>
      </a:lvl5pPr>
      <a:lvl6pPr marL="3006907" algn="l" defTabSz="1202763" rtl="0" eaLnBrk="1" latinLnBrk="0" hangingPunct="1">
        <a:defRPr sz="2600" kern="1200">
          <a:solidFill>
            <a:schemeClr val="tx1"/>
          </a:solidFill>
          <a:latin typeface="+mn-lt"/>
          <a:ea typeface="+mn-ea"/>
          <a:cs typeface="+mn-cs"/>
        </a:defRPr>
      </a:lvl6pPr>
      <a:lvl7pPr marL="3608290" algn="l" defTabSz="1202763" rtl="0" eaLnBrk="1" latinLnBrk="0" hangingPunct="1">
        <a:defRPr sz="2600" kern="1200">
          <a:solidFill>
            <a:schemeClr val="tx1"/>
          </a:solidFill>
          <a:latin typeface="+mn-lt"/>
          <a:ea typeface="+mn-ea"/>
          <a:cs typeface="+mn-cs"/>
        </a:defRPr>
      </a:lvl7pPr>
      <a:lvl8pPr marL="4209670" algn="l" defTabSz="1202763" rtl="0" eaLnBrk="1" latinLnBrk="0" hangingPunct="1">
        <a:defRPr sz="2600" kern="1200">
          <a:solidFill>
            <a:schemeClr val="tx1"/>
          </a:solidFill>
          <a:latin typeface="+mn-lt"/>
          <a:ea typeface="+mn-ea"/>
          <a:cs typeface="+mn-cs"/>
        </a:defRPr>
      </a:lvl8pPr>
      <a:lvl9pPr marL="4811053" algn="l" defTabSz="1202763" rtl="0" eaLnBrk="1" latinLnBrk="0" hangingPunct="1">
        <a:defRPr sz="26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735" userDrawn="1">
          <p15:clr>
            <a:srgbClr val="F26B43"/>
          </p15:clr>
        </p15:guide>
        <p15:guide id="2" orient="horz" pos="9536" userDrawn="1">
          <p15:clr>
            <a:srgbClr val="F26B43"/>
          </p15:clr>
        </p15:guide>
        <p15:guide id="3" pos="498" userDrawn="1">
          <p15:clr>
            <a:srgbClr val="F26B43"/>
          </p15:clr>
        </p15:guide>
        <p15:guide id="4" pos="12972" userDrawn="1">
          <p15:clr>
            <a:srgbClr val="F26B43"/>
          </p15:clr>
        </p15:guide>
        <p15:guide id="5" orient="horz" pos="500" userDrawn="1">
          <p15:clr>
            <a:srgbClr val="F26B43"/>
          </p15:clr>
        </p15:guide>
        <p15:guide id="6" orient="horz" pos="18571" userDrawn="1">
          <p15:clr>
            <a:srgbClr val="F26B43"/>
          </p15:clr>
        </p15:guide>
        <p15:guide id="7" orient="horz" pos="17780" userDrawn="1">
          <p15:clr>
            <a:srgbClr val="F26B43"/>
          </p15:clr>
        </p15:guide>
        <p15:guide id="8" orient="horz" pos="3094" userDrawn="1">
          <p15:clr>
            <a:srgbClr val="F26B43"/>
          </p15:clr>
        </p15:guide>
        <p15:guide id="9" pos="8761" userDrawn="1">
          <p15:clr>
            <a:srgbClr val="F26B43"/>
          </p15:clr>
        </p15:guide>
        <p15:guide id="10" pos="8923" userDrawn="1">
          <p15:clr>
            <a:srgbClr val="F26B43"/>
          </p15:clr>
        </p15:guide>
        <p15:guide id="11" pos="4547" userDrawn="1">
          <p15:clr>
            <a:srgbClr val="F26B43"/>
          </p15:clr>
        </p15:guide>
        <p15:guide id="12" pos="470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9601A43-521E-7D2C-E6A2-455F8466DBC3}"/>
              </a:ext>
            </a:extLst>
          </p:cNvPr>
          <p:cNvSpPr>
            <a:spLocks noGrp="1"/>
          </p:cNvSpPr>
          <p:nvPr>
            <p:ph type="ftr" sz="quarter" idx="12"/>
          </p:nvPr>
        </p:nvSpPr>
        <p:spPr/>
        <p:txBody>
          <a:bodyPr/>
          <a:lstStyle/>
          <a:p>
            <a:r>
              <a:rPr lang="en-GB" noProof="0"/>
              <a:t>imperial.ac.uk</a:t>
            </a:r>
            <a:endParaRPr lang="en-GB" noProof="0" dirty="0"/>
          </a:p>
        </p:txBody>
      </p:sp>
      <p:sp>
        <p:nvSpPr>
          <p:cNvPr id="9" name="TextBox 8"/>
          <p:cNvSpPr txBox="1"/>
          <p:nvPr/>
        </p:nvSpPr>
        <p:spPr>
          <a:xfrm>
            <a:off x="792000" y="2052000"/>
            <a:ext cx="1584000" cy="1329595"/>
          </a:xfrm>
          <a:prstGeom prst="rect">
            <a:avLst/>
          </a:prstGeom>
          <a:noFill/>
        </p:spPr>
        <p:txBody>
          <a:bodyPr wrap="square" lIns="0" tIns="0" rIns="0" bIns="0" anchor="t">
            <a:spAutoFit/>
          </a:bodyPr>
          <a:lstStyle/>
          <a:p>
            <a:pPr algn="l">
              <a:lnSpc>
                <a:spcPct val="90000"/>
              </a:lnSpc>
              <a:spcAft>
                <a:spcPts val="0"/>
              </a:spcAft>
            </a:pPr>
            <a:r>
              <a:rPr lang="en-GB" sz="9600" b="1" i="0" dirty="0">
                <a:solidFill>
                  <a:srgbClr val="0000CD"/>
                </a:solidFill>
                <a:latin typeface="Arial"/>
              </a:rPr>
              <a:t>58</a:t>
            </a:r>
            <a:endParaRPr sz="9600" b="1" i="0" dirty="0">
              <a:solidFill>
                <a:srgbClr val="0000CD"/>
              </a:solidFill>
              <a:latin typeface="Arial"/>
            </a:endParaRPr>
          </a:p>
        </p:txBody>
      </p:sp>
      <p:sp>
        <p:nvSpPr>
          <p:cNvPr id="10" name="TextBox 9"/>
          <p:cNvSpPr txBox="1"/>
          <p:nvPr/>
        </p:nvSpPr>
        <p:spPr>
          <a:xfrm>
            <a:off x="2448000" y="2088000"/>
            <a:ext cx="11448000" cy="2304000"/>
          </a:xfrm>
          <a:prstGeom prst="rect">
            <a:avLst/>
          </a:prstGeom>
          <a:noFill/>
        </p:spPr>
        <p:txBody>
          <a:bodyPr wrap="square" lIns="0" tIns="0" rIns="0" bIns="0" anchor="t">
            <a:spAutoFit/>
          </a:bodyPr>
          <a:lstStyle/>
          <a:p>
            <a:pPr algn="l">
              <a:lnSpc>
                <a:spcPct val="100000"/>
              </a:lnSpc>
              <a:spcAft>
                <a:spcPts val="0"/>
              </a:spcAft>
            </a:pPr>
            <a:r>
              <a:rPr sz="3700" b="1" i="0">
                <a:solidFill>
                  <a:srgbClr val="000080"/>
                </a:solidFill>
                <a:latin typeface="Arial"/>
              </a:rPr>
              <a:t>Offshore wind cannibalisation in the Baltic and North Sea: </a:t>
            </a:r>
            <a:r>
              <a:rPr sz="3700" b="0" i="0">
                <a:solidFill>
                  <a:srgbClr val="0000CD"/>
                </a:solidFill>
                <a:latin typeface="Arial"/>
              </a:rPr>
              <a:t>how much value is lost depends on the grid built alongside the farms</a:t>
            </a:r>
          </a:p>
        </p:txBody>
      </p:sp>
      <p:sp>
        <p:nvSpPr>
          <p:cNvPr id="11" name="TextBox 10"/>
          <p:cNvSpPr txBox="1"/>
          <p:nvPr/>
        </p:nvSpPr>
        <p:spPr>
          <a:xfrm>
            <a:off x="14148000" y="2160000"/>
            <a:ext cx="6444000" cy="2160000"/>
          </a:xfrm>
          <a:prstGeom prst="rect">
            <a:avLst/>
          </a:prstGeom>
          <a:noFill/>
        </p:spPr>
        <p:txBody>
          <a:bodyPr wrap="square" lIns="0" tIns="0" rIns="0" bIns="0" anchor="t">
            <a:spAutoFit/>
          </a:bodyPr>
          <a:lstStyle/>
          <a:p>
            <a:pPr algn="l">
              <a:lnSpc>
                <a:spcPct val="104000"/>
              </a:lnSpc>
              <a:spcAft>
                <a:spcPts val="100"/>
              </a:spcAft>
            </a:pPr>
            <a:r>
              <a:rPr sz="2800" b="1" i="0">
                <a:solidFill>
                  <a:srgbClr val="000080"/>
                </a:solidFill>
                <a:latin typeface="Arial"/>
              </a:rPr>
              <a:t>Faisal Bindakhil</a:t>
            </a:r>
          </a:p>
          <a:p>
            <a:pPr algn="l">
              <a:lnSpc>
                <a:spcPct val="104000"/>
              </a:lnSpc>
              <a:spcAft>
                <a:spcPts val="100"/>
              </a:spcAft>
            </a:pPr>
            <a:r>
              <a:rPr sz="2400" b="0" i="0">
                <a:solidFill>
                  <a:srgbClr val="1F1F1F"/>
                </a:solidFill>
                <a:latin typeface="Arial"/>
              </a:rPr>
              <a:t>MSc Sustainable Energy Futures</a:t>
            </a:r>
          </a:p>
          <a:p>
            <a:pPr algn="l">
              <a:lnSpc>
                <a:spcPct val="104000"/>
              </a:lnSpc>
              <a:spcAft>
                <a:spcPts val="100"/>
              </a:spcAft>
            </a:pPr>
            <a:r>
              <a:rPr sz="2400" b="0" i="0">
                <a:solidFill>
                  <a:srgbClr val="1F1F1F"/>
                </a:solidFill>
                <a:latin typeface="Arial"/>
              </a:rPr>
              <a:t>Imperial College London</a:t>
            </a:r>
          </a:p>
          <a:p>
            <a:pPr algn="l">
              <a:lnSpc>
                <a:spcPct val="104000"/>
              </a:lnSpc>
              <a:spcAft>
                <a:spcPts val="100"/>
              </a:spcAft>
            </a:pPr>
            <a:r>
              <a:rPr sz="2400" b="0" i="0">
                <a:solidFill>
                  <a:srgbClr val="1F1F1F"/>
                </a:solidFill>
                <a:latin typeface="Arial"/>
              </a:rPr>
              <a:t>Supervisor: Dr Ruslan Galimov, RWE</a:t>
            </a:r>
          </a:p>
        </p:txBody>
      </p:sp>
      <p:sp>
        <p:nvSpPr>
          <p:cNvPr id="12" name="TextBox 11"/>
          <p:cNvSpPr txBox="1"/>
          <p:nvPr/>
        </p:nvSpPr>
        <p:spPr>
          <a:xfrm>
            <a:off x="792000" y="4896000"/>
            <a:ext cx="9648000" cy="648000"/>
          </a:xfrm>
          <a:prstGeom prst="rect">
            <a:avLst/>
          </a:prstGeom>
          <a:noFill/>
        </p:spPr>
        <p:txBody>
          <a:bodyPr wrap="square" lIns="0" tIns="0" rIns="0" bIns="0" anchor="t">
            <a:spAutoFit/>
          </a:bodyPr>
          <a:lstStyle/>
          <a:p>
            <a:pPr algn="l">
              <a:lnSpc>
                <a:spcPct val="100000"/>
              </a:lnSpc>
              <a:spcAft>
                <a:spcPts val="0"/>
              </a:spcAft>
            </a:pPr>
            <a:r>
              <a:rPr sz="4400" b="1" i="0">
                <a:solidFill>
                  <a:srgbClr val="0000CD"/>
                </a:solidFill>
                <a:latin typeface="Arial"/>
              </a:rPr>
              <a:t>Background</a:t>
            </a:r>
          </a:p>
        </p:txBody>
      </p:sp>
      <p:sp>
        <p:nvSpPr>
          <p:cNvPr id="13" name="TextBox 12"/>
          <p:cNvSpPr txBox="1"/>
          <p:nvPr/>
        </p:nvSpPr>
        <p:spPr>
          <a:xfrm>
            <a:off x="792000" y="5688000"/>
            <a:ext cx="9648000" cy="3312000"/>
          </a:xfrm>
          <a:prstGeom prst="rect">
            <a:avLst/>
          </a:prstGeom>
          <a:noFill/>
        </p:spPr>
        <p:txBody>
          <a:bodyPr wrap="square" lIns="0" tIns="0" rIns="0" bIns="0" anchor="t">
            <a:spAutoFit/>
          </a:bodyPr>
          <a:lstStyle/>
          <a:p>
            <a:pPr algn="l">
              <a:lnSpc>
                <a:spcPct val="108000"/>
              </a:lnSpc>
              <a:spcAft>
                <a:spcPts val="0"/>
              </a:spcAft>
            </a:pPr>
            <a:r>
              <a:rPr sz="2400" b="0" i="0" dirty="0">
                <a:solidFill>
                  <a:srgbClr val="1F1F1F"/>
                </a:solidFill>
                <a:latin typeface="Arial"/>
              </a:rPr>
              <a:t>Europe's next wave of offshore wind moves from the mature North Sea into the enclosed Baltic Sea. Wind farms in one sea generate in the same hours, so when they all produce the price falls. The share of the average market price a farm actually receives is its </a:t>
            </a:r>
            <a:r>
              <a:rPr sz="2400" b="1" i="0" dirty="0">
                <a:solidFill>
                  <a:srgbClr val="1F1F1F"/>
                </a:solidFill>
                <a:latin typeface="Arial"/>
              </a:rPr>
              <a:t>capture value</a:t>
            </a:r>
            <a:r>
              <a:rPr sz="2400" b="0" i="0" dirty="0">
                <a:solidFill>
                  <a:srgbClr val="1F1F1F"/>
                </a:solidFill>
                <a:latin typeface="Arial"/>
              </a:rPr>
              <a:t> [1], and it falls as more wind is built. The Baltic fleet grows </a:t>
            </a:r>
            <a:r>
              <a:rPr sz="2400" b="0" i="0" dirty="0" err="1">
                <a:solidFill>
                  <a:srgbClr val="1F1F1F"/>
                </a:solidFill>
                <a:latin typeface="Arial"/>
              </a:rPr>
              <a:t>nineteenfold</a:t>
            </a:r>
            <a:r>
              <a:rPr sz="2400" b="0" i="0" dirty="0">
                <a:solidFill>
                  <a:srgbClr val="1F1F1F"/>
                </a:solidFill>
                <a:latin typeface="Arial"/>
              </a:rPr>
              <a:t> by 2040, the North Sea's ninefold, and the Baltic grid is weakly connected to its </a:t>
            </a:r>
            <a:r>
              <a:rPr sz="2400" b="0" i="0" dirty="0" err="1">
                <a:solidFill>
                  <a:srgbClr val="1F1F1F"/>
                </a:solidFill>
                <a:latin typeface="Arial"/>
              </a:rPr>
              <a:t>neighbours</a:t>
            </a:r>
            <a:r>
              <a:rPr sz="2400" b="0" i="0" dirty="0">
                <a:solidFill>
                  <a:srgbClr val="1F1F1F"/>
                </a:solidFill>
                <a:latin typeface="Arial"/>
              </a:rPr>
              <a:t>.</a:t>
            </a:r>
          </a:p>
        </p:txBody>
      </p:sp>
      <p:sp>
        <p:nvSpPr>
          <p:cNvPr id="14" name="TextBox 13"/>
          <p:cNvSpPr txBox="1"/>
          <p:nvPr/>
        </p:nvSpPr>
        <p:spPr>
          <a:xfrm>
            <a:off x="792000" y="8712000"/>
            <a:ext cx="9648000" cy="648000"/>
          </a:xfrm>
          <a:prstGeom prst="rect">
            <a:avLst/>
          </a:prstGeom>
          <a:noFill/>
        </p:spPr>
        <p:txBody>
          <a:bodyPr wrap="square" lIns="0" tIns="0" rIns="0" bIns="0" anchor="t">
            <a:spAutoFit/>
          </a:bodyPr>
          <a:lstStyle/>
          <a:p>
            <a:pPr algn="l">
              <a:lnSpc>
                <a:spcPct val="100000"/>
              </a:lnSpc>
              <a:spcAft>
                <a:spcPts val="0"/>
              </a:spcAft>
            </a:pPr>
            <a:r>
              <a:rPr sz="4400" b="1" i="0">
                <a:solidFill>
                  <a:srgbClr val="0000CD"/>
                </a:solidFill>
                <a:latin typeface="Arial"/>
              </a:rPr>
              <a:t>Objective</a:t>
            </a:r>
          </a:p>
        </p:txBody>
      </p:sp>
      <p:sp>
        <p:nvSpPr>
          <p:cNvPr id="15" name="TextBox 14"/>
          <p:cNvSpPr txBox="1"/>
          <p:nvPr/>
        </p:nvSpPr>
        <p:spPr>
          <a:xfrm>
            <a:off x="792000" y="9504000"/>
            <a:ext cx="9648000" cy="3168000"/>
          </a:xfrm>
          <a:prstGeom prst="rect">
            <a:avLst/>
          </a:prstGeom>
          <a:noFill/>
        </p:spPr>
        <p:txBody>
          <a:bodyPr wrap="square" lIns="0" tIns="0" rIns="0" bIns="0" anchor="t">
            <a:spAutoFit/>
          </a:bodyPr>
          <a:lstStyle/>
          <a:p>
            <a:pPr algn="l">
              <a:lnSpc>
                <a:spcPct val="108000"/>
              </a:lnSpc>
              <a:spcAft>
                <a:spcPts val="200"/>
              </a:spcAft>
            </a:pPr>
            <a:r>
              <a:rPr sz="2400" b="1" i="0" dirty="0">
                <a:solidFill>
                  <a:srgbClr val="000080"/>
                </a:solidFill>
                <a:latin typeface="Arial"/>
              </a:rPr>
              <a:t>Measure how much value offshore wind loses as the planned fleets are built, and answer:</a:t>
            </a:r>
          </a:p>
          <a:p>
            <a:pPr marL="396000" indent="-396000" algn="l">
              <a:lnSpc>
                <a:spcPct val="108000"/>
              </a:lnSpc>
              <a:spcAft>
                <a:spcPts val="200"/>
              </a:spcAft>
              <a:buAutoNum type="arabicPeriod"/>
            </a:pPr>
            <a:r>
              <a:rPr sz="2400" b="0" i="0" dirty="0">
                <a:solidFill>
                  <a:srgbClr val="1F1F1F"/>
                </a:solidFill>
                <a:latin typeface="Arial"/>
              </a:rPr>
              <a:t>How do the two seas compare, today and once the planned farms are built?</a:t>
            </a:r>
          </a:p>
          <a:p>
            <a:pPr marL="396000" indent="-396000" algn="l">
              <a:lnSpc>
                <a:spcPct val="108000"/>
              </a:lnSpc>
              <a:spcAft>
                <a:spcPts val="200"/>
              </a:spcAft>
              <a:buAutoNum type="arabicPeriod"/>
            </a:pPr>
            <a:r>
              <a:rPr sz="2400" b="0" i="0" dirty="0">
                <a:solidFill>
                  <a:srgbClr val="1F1F1F"/>
                </a:solidFill>
                <a:latin typeface="Arial"/>
              </a:rPr>
              <a:t>What causes the loss of value, and how much of it can the grid avoid?</a:t>
            </a:r>
          </a:p>
          <a:p>
            <a:pPr marL="396000" indent="-396000" algn="l">
              <a:lnSpc>
                <a:spcPct val="108000"/>
              </a:lnSpc>
              <a:spcAft>
                <a:spcPts val="200"/>
              </a:spcAft>
              <a:buAutoNum type="arabicPeriod"/>
            </a:pPr>
            <a:r>
              <a:rPr sz="2400" b="0" i="0" dirty="0">
                <a:solidFill>
                  <a:srgbClr val="1F1F1F"/>
                </a:solidFill>
                <a:latin typeface="Arial"/>
              </a:rPr>
              <a:t>Can a model trained on the past project this future, or must the market be rebuilt?</a:t>
            </a:r>
          </a:p>
        </p:txBody>
      </p:sp>
      <p:sp>
        <p:nvSpPr>
          <p:cNvPr id="16" name="TextBox 15"/>
          <p:cNvSpPr txBox="1"/>
          <p:nvPr/>
        </p:nvSpPr>
        <p:spPr>
          <a:xfrm>
            <a:off x="792000" y="12888000"/>
            <a:ext cx="9648000" cy="648000"/>
          </a:xfrm>
          <a:prstGeom prst="rect">
            <a:avLst/>
          </a:prstGeom>
          <a:noFill/>
        </p:spPr>
        <p:txBody>
          <a:bodyPr wrap="square" lIns="0" tIns="0" rIns="0" bIns="0" anchor="t">
            <a:spAutoFit/>
          </a:bodyPr>
          <a:lstStyle/>
          <a:p>
            <a:pPr algn="l">
              <a:lnSpc>
                <a:spcPct val="100000"/>
              </a:lnSpc>
              <a:spcAft>
                <a:spcPts val="0"/>
              </a:spcAft>
            </a:pPr>
            <a:r>
              <a:rPr sz="4400" b="1" i="0">
                <a:solidFill>
                  <a:srgbClr val="0000CD"/>
                </a:solidFill>
                <a:latin typeface="Arial"/>
              </a:rPr>
              <a:t>Methodology</a:t>
            </a:r>
          </a:p>
        </p:txBody>
      </p:sp>
      <p:sp>
        <p:nvSpPr>
          <p:cNvPr id="17" name="TextBox 16"/>
          <p:cNvSpPr txBox="1"/>
          <p:nvPr/>
        </p:nvSpPr>
        <p:spPr>
          <a:xfrm>
            <a:off x="792000" y="13680000"/>
            <a:ext cx="9648000" cy="2363660"/>
          </a:xfrm>
          <a:prstGeom prst="rect">
            <a:avLst/>
          </a:prstGeom>
          <a:noFill/>
        </p:spPr>
        <p:txBody>
          <a:bodyPr wrap="square" lIns="0" tIns="0" rIns="0" bIns="0" anchor="t">
            <a:spAutoFit/>
          </a:bodyPr>
          <a:lstStyle/>
          <a:p>
            <a:pPr algn="l">
              <a:lnSpc>
                <a:spcPct val="108000"/>
              </a:lnSpc>
              <a:spcAft>
                <a:spcPts val="0"/>
              </a:spcAft>
            </a:pPr>
            <a:r>
              <a:rPr sz="2400" b="0" i="0" dirty="0">
                <a:solidFill>
                  <a:srgbClr val="1F1F1F"/>
                </a:solidFill>
                <a:latin typeface="Arial"/>
              </a:rPr>
              <a:t>Two models estimate capture value from different inputs. The </a:t>
            </a:r>
            <a:r>
              <a:rPr sz="2400" b="1" i="0" dirty="0">
                <a:solidFill>
                  <a:srgbClr val="000080"/>
                </a:solidFill>
                <a:latin typeface="Arial"/>
              </a:rPr>
              <a:t>statistical model</a:t>
            </a:r>
            <a:r>
              <a:rPr sz="2400" b="0" i="0" dirty="0">
                <a:solidFill>
                  <a:srgbClr val="1F1F1F"/>
                </a:solidFill>
                <a:latin typeface="Arial"/>
              </a:rPr>
              <a:t> is a regression fitted to eight years of prices at 31 farms [5], with wind output from ERA5 weather [2]. The </a:t>
            </a:r>
            <a:r>
              <a:rPr sz="2400" b="1" i="0" dirty="0">
                <a:solidFill>
                  <a:srgbClr val="006400"/>
                </a:solidFill>
                <a:latin typeface="Arial"/>
              </a:rPr>
              <a:t>power‑system model</a:t>
            </a:r>
            <a:r>
              <a:rPr sz="2400" b="0" i="0" dirty="0">
                <a:solidFill>
                  <a:srgbClr val="1F1F1F"/>
                </a:solidFill>
                <a:latin typeface="Arial"/>
              </a:rPr>
              <a:t>, </a:t>
            </a:r>
            <a:r>
              <a:rPr sz="2400" b="0" i="0" dirty="0" err="1">
                <a:solidFill>
                  <a:srgbClr val="1F1F1F"/>
                </a:solidFill>
                <a:latin typeface="Arial"/>
              </a:rPr>
              <a:t>PyPSA</a:t>
            </a:r>
            <a:r>
              <a:rPr sz="2400" b="0" i="0" dirty="0">
                <a:solidFill>
                  <a:srgbClr val="1F1F1F"/>
                </a:solidFill>
                <a:latin typeface="Arial"/>
              </a:rPr>
              <a:t>‑Eur [3], rebuilds every hour's price from Europe's plants, grid and demand under the 2030 and 2040 plans [4]. Both are checked against 2023</a:t>
            </a:r>
            <a:r>
              <a:rPr lang="en-GB" sz="2400" b="0" i="0" dirty="0">
                <a:solidFill>
                  <a:srgbClr val="1F1F1F"/>
                </a:solidFill>
                <a:latin typeface="Arial"/>
              </a:rPr>
              <a:t> and 2024</a:t>
            </a:r>
            <a:r>
              <a:rPr sz="2400" b="0" i="0" dirty="0">
                <a:solidFill>
                  <a:srgbClr val="1F1F1F"/>
                </a:solidFill>
                <a:latin typeface="Arial"/>
              </a:rPr>
              <a:t> prices.</a:t>
            </a:r>
          </a:p>
        </p:txBody>
      </p:sp>
      <p:sp>
        <p:nvSpPr>
          <p:cNvPr id="18" name="Rounded Rectangle 17"/>
          <p:cNvSpPr/>
          <p:nvPr/>
        </p:nvSpPr>
        <p:spPr>
          <a:xfrm>
            <a:off x="792000" y="16416000"/>
            <a:ext cx="9648000" cy="936000"/>
          </a:xfrm>
          <a:prstGeom prst="roundRect">
            <a:avLst>
              <a:gd name="adj" fmla="val 18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36000" y="16488000"/>
            <a:ext cx="9360000" cy="792000"/>
          </a:xfrm>
          <a:prstGeom prst="rect">
            <a:avLst/>
          </a:prstGeom>
          <a:noFill/>
        </p:spPr>
        <p:txBody>
          <a:bodyPr wrap="square" lIns="0" tIns="0" rIns="0" bIns="0" anchor="ctr">
            <a:spAutoFit/>
          </a:bodyPr>
          <a:lstStyle/>
          <a:p>
            <a:pPr algn="ctr">
              <a:lnSpc>
                <a:spcPct val="105000"/>
              </a:lnSpc>
              <a:spcAft>
                <a:spcPts val="0"/>
              </a:spcAft>
            </a:pPr>
            <a:r>
              <a:rPr sz="2400" b="0" i="0">
                <a:solidFill>
                  <a:srgbClr val="000080"/>
                </a:solidFill>
                <a:latin typeface="Arial"/>
              </a:rPr>
              <a:t>ERA5 weather, turned into the hourly output of every wind farm [2]</a:t>
            </a:r>
          </a:p>
        </p:txBody>
      </p:sp>
      <p:sp>
        <p:nvSpPr>
          <p:cNvPr id="20" name="Down Arrow 19"/>
          <p:cNvSpPr/>
          <p:nvPr/>
        </p:nvSpPr>
        <p:spPr>
          <a:xfrm>
            <a:off x="2934000" y="17388000"/>
            <a:ext cx="324000" cy="396000"/>
          </a:xfrm>
          <a:prstGeom prst="downArrow">
            <a:avLst/>
          </a:prstGeom>
          <a:solidFill>
            <a:srgbClr val="0000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Down Arrow 20"/>
          <p:cNvSpPr/>
          <p:nvPr/>
        </p:nvSpPr>
        <p:spPr>
          <a:xfrm>
            <a:off x="7974000" y="17388000"/>
            <a:ext cx="324000" cy="396000"/>
          </a:xfrm>
          <a:prstGeom prst="downArrow">
            <a:avLst/>
          </a:prstGeom>
          <a:solidFill>
            <a:srgbClr val="0000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p:cNvSpPr/>
          <p:nvPr/>
        </p:nvSpPr>
        <p:spPr>
          <a:xfrm>
            <a:off x="792000" y="17820000"/>
            <a:ext cx="4608000" cy="1296000"/>
          </a:xfrm>
          <a:prstGeom prst="roundRect">
            <a:avLst>
              <a:gd name="adj" fmla="val 18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36000" y="17892000"/>
            <a:ext cx="4320000" cy="1152000"/>
          </a:xfrm>
          <a:prstGeom prst="rect">
            <a:avLst/>
          </a:prstGeom>
          <a:noFill/>
        </p:spPr>
        <p:txBody>
          <a:bodyPr wrap="square" lIns="0" tIns="0" rIns="0" bIns="0" anchor="ctr">
            <a:spAutoFit/>
          </a:bodyPr>
          <a:lstStyle/>
          <a:p>
            <a:pPr algn="ctr">
              <a:lnSpc>
                <a:spcPct val="105000"/>
              </a:lnSpc>
              <a:spcAft>
                <a:spcPts val="0"/>
              </a:spcAft>
            </a:pPr>
            <a:r>
              <a:rPr sz="2400" b="0" i="0">
                <a:solidFill>
                  <a:srgbClr val="000080"/>
                </a:solidFill>
                <a:latin typeface="Arial"/>
              </a:rPr>
              <a:t>Observed prices, 2017 to 2024 [5]</a:t>
            </a:r>
          </a:p>
        </p:txBody>
      </p:sp>
      <p:sp>
        <p:nvSpPr>
          <p:cNvPr id="24" name="Rounded Rectangle 23"/>
          <p:cNvSpPr/>
          <p:nvPr/>
        </p:nvSpPr>
        <p:spPr>
          <a:xfrm>
            <a:off x="5832000" y="17820000"/>
            <a:ext cx="4608000" cy="1296000"/>
          </a:xfrm>
          <a:prstGeom prst="roundRect">
            <a:avLst>
              <a:gd name="adj" fmla="val 18000"/>
            </a:avLst>
          </a:prstGeom>
          <a:solidFill>
            <a:srgbClr val="E6E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976000" y="17892000"/>
            <a:ext cx="4320000" cy="1152000"/>
          </a:xfrm>
          <a:prstGeom prst="rect">
            <a:avLst/>
          </a:prstGeom>
          <a:noFill/>
        </p:spPr>
        <p:txBody>
          <a:bodyPr wrap="square" lIns="0" tIns="0" rIns="0" bIns="0" anchor="ctr">
            <a:spAutoFit/>
          </a:bodyPr>
          <a:lstStyle/>
          <a:p>
            <a:pPr algn="ctr">
              <a:lnSpc>
                <a:spcPct val="105000"/>
              </a:lnSpc>
              <a:spcAft>
                <a:spcPts val="0"/>
              </a:spcAft>
            </a:pPr>
            <a:r>
              <a:rPr sz="2400" b="0" i="0">
                <a:solidFill>
                  <a:srgbClr val="000080"/>
                </a:solidFill>
                <a:latin typeface="Arial"/>
              </a:rPr>
              <a:t>Plants, grid and demand, with the 2030 and 2040 plans [3, 4]</a:t>
            </a:r>
          </a:p>
        </p:txBody>
      </p:sp>
      <p:sp>
        <p:nvSpPr>
          <p:cNvPr id="26" name="Down Arrow 25"/>
          <p:cNvSpPr/>
          <p:nvPr/>
        </p:nvSpPr>
        <p:spPr>
          <a:xfrm>
            <a:off x="2934000" y="19152000"/>
            <a:ext cx="324000" cy="396000"/>
          </a:xfrm>
          <a:prstGeom prst="downArrow">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Down Arrow 26"/>
          <p:cNvSpPr/>
          <p:nvPr/>
        </p:nvSpPr>
        <p:spPr>
          <a:xfrm>
            <a:off x="7974000" y="19152000"/>
            <a:ext cx="324000" cy="396000"/>
          </a:xfrm>
          <a:prstGeom prst="downArrow">
            <a:avLst/>
          </a:prstGeom>
          <a:solidFill>
            <a:srgbClr val="00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792000" y="19584000"/>
            <a:ext cx="4608000" cy="936000"/>
          </a:xfrm>
          <a:prstGeom prst="roundRect">
            <a:avLst>
              <a:gd name="adj" fmla="val 18000"/>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36000" y="19656000"/>
            <a:ext cx="4320000" cy="792000"/>
          </a:xfrm>
          <a:prstGeom prst="rect">
            <a:avLst/>
          </a:prstGeom>
          <a:noFill/>
        </p:spPr>
        <p:txBody>
          <a:bodyPr wrap="square" lIns="0" tIns="0" rIns="0" bIns="0" anchor="ctr">
            <a:spAutoFit/>
          </a:bodyPr>
          <a:lstStyle/>
          <a:p>
            <a:pPr algn="ctr">
              <a:lnSpc>
                <a:spcPct val="105000"/>
              </a:lnSpc>
              <a:spcAft>
                <a:spcPts val="0"/>
              </a:spcAft>
            </a:pPr>
            <a:r>
              <a:rPr sz="2400" b="1" i="0">
                <a:solidFill>
                  <a:srgbClr val="FFFFFF"/>
                </a:solidFill>
                <a:latin typeface="Arial"/>
              </a:rPr>
              <a:t>Statistical model</a:t>
            </a:r>
          </a:p>
        </p:txBody>
      </p:sp>
      <p:sp>
        <p:nvSpPr>
          <p:cNvPr id="30" name="Rounded Rectangle 29"/>
          <p:cNvSpPr/>
          <p:nvPr/>
        </p:nvSpPr>
        <p:spPr>
          <a:xfrm>
            <a:off x="5832000" y="19584000"/>
            <a:ext cx="4608000" cy="936000"/>
          </a:xfrm>
          <a:prstGeom prst="roundRect">
            <a:avLst>
              <a:gd name="adj" fmla="val 18000"/>
            </a:avLst>
          </a:prstGeom>
          <a:solidFill>
            <a:srgbClr val="00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76000" y="19656000"/>
            <a:ext cx="4320000" cy="792000"/>
          </a:xfrm>
          <a:prstGeom prst="rect">
            <a:avLst/>
          </a:prstGeom>
          <a:noFill/>
        </p:spPr>
        <p:txBody>
          <a:bodyPr wrap="square" lIns="0" tIns="0" rIns="0" bIns="0" anchor="ctr">
            <a:spAutoFit/>
          </a:bodyPr>
          <a:lstStyle/>
          <a:p>
            <a:pPr algn="ctr">
              <a:lnSpc>
                <a:spcPct val="105000"/>
              </a:lnSpc>
              <a:spcAft>
                <a:spcPts val="0"/>
              </a:spcAft>
            </a:pPr>
            <a:r>
              <a:rPr sz="2400" b="1" i="0">
                <a:solidFill>
                  <a:srgbClr val="FFFFFF"/>
                </a:solidFill>
                <a:latin typeface="Arial"/>
              </a:rPr>
              <a:t>Power‑system model</a:t>
            </a:r>
          </a:p>
        </p:txBody>
      </p:sp>
      <p:sp>
        <p:nvSpPr>
          <p:cNvPr id="32" name="Down Arrow 31"/>
          <p:cNvSpPr/>
          <p:nvPr/>
        </p:nvSpPr>
        <p:spPr>
          <a:xfrm>
            <a:off x="2934000" y="20556000"/>
            <a:ext cx="324000" cy="396000"/>
          </a:xfrm>
          <a:prstGeom prst="downArrow">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Down Arrow 32"/>
          <p:cNvSpPr/>
          <p:nvPr/>
        </p:nvSpPr>
        <p:spPr>
          <a:xfrm>
            <a:off x="7974000" y="20556000"/>
            <a:ext cx="324000" cy="396000"/>
          </a:xfrm>
          <a:prstGeom prst="downArrow">
            <a:avLst/>
          </a:prstGeom>
          <a:solidFill>
            <a:srgbClr val="00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ounded Rectangle 33"/>
          <p:cNvSpPr/>
          <p:nvPr/>
        </p:nvSpPr>
        <p:spPr>
          <a:xfrm>
            <a:off x="792000" y="20988000"/>
            <a:ext cx="9648000" cy="1368000"/>
          </a:xfrm>
          <a:prstGeom prst="roundRect">
            <a:avLst>
              <a:gd name="adj" fmla="val 18000"/>
            </a:avLst>
          </a:prstGeom>
          <a:solidFill>
            <a:srgbClr val="FFFFFF"/>
          </a:solidFill>
          <a:ln w="19050">
            <a:solidFill>
              <a:srgbClr val="0000C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36000" y="21297667"/>
            <a:ext cx="9360000" cy="748666"/>
          </a:xfrm>
          <a:prstGeom prst="rect">
            <a:avLst/>
          </a:prstGeom>
          <a:noFill/>
        </p:spPr>
        <p:txBody>
          <a:bodyPr wrap="square" lIns="0" tIns="0" rIns="0" bIns="0" anchor="ctr">
            <a:spAutoFit/>
          </a:bodyPr>
          <a:lstStyle/>
          <a:p>
            <a:pPr algn="ctr">
              <a:lnSpc>
                <a:spcPct val="105000"/>
              </a:lnSpc>
              <a:spcAft>
                <a:spcPts val="0"/>
              </a:spcAft>
            </a:pPr>
            <a:r>
              <a:rPr sz="2400" b="0" i="0" dirty="0">
                <a:solidFill>
                  <a:srgbClr val="1F1F1F"/>
                </a:solidFill>
                <a:latin typeface="Arial"/>
              </a:rPr>
              <a:t>Capture value = a farm's average price ÷ the market's average price. Both models agree on 2023</a:t>
            </a:r>
            <a:r>
              <a:rPr lang="en-GB" sz="2400" dirty="0">
                <a:solidFill>
                  <a:srgbClr val="1F1F1F"/>
                </a:solidFill>
                <a:latin typeface="Arial"/>
              </a:rPr>
              <a:t> and 2024</a:t>
            </a:r>
            <a:r>
              <a:rPr sz="2400" b="0" i="0" dirty="0">
                <a:solidFill>
                  <a:srgbClr val="1F1F1F"/>
                </a:solidFill>
                <a:latin typeface="Arial"/>
              </a:rPr>
              <a:t> within 0.5 points.</a:t>
            </a:r>
          </a:p>
        </p:txBody>
      </p:sp>
      <p:sp>
        <p:nvSpPr>
          <p:cNvPr id="36" name="TextBox 35"/>
          <p:cNvSpPr txBox="1"/>
          <p:nvPr/>
        </p:nvSpPr>
        <p:spPr>
          <a:xfrm>
            <a:off x="792000" y="22428000"/>
            <a:ext cx="9648000" cy="792000"/>
          </a:xfrm>
          <a:prstGeom prst="rect">
            <a:avLst/>
          </a:prstGeom>
          <a:noFill/>
        </p:spPr>
        <p:txBody>
          <a:bodyPr wrap="square" lIns="0" tIns="0" rIns="0" bIns="0" anchor="t">
            <a:spAutoFit/>
          </a:bodyPr>
          <a:lstStyle/>
          <a:p>
            <a:pPr algn="l">
              <a:lnSpc>
                <a:spcPct val="106000"/>
              </a:lnSpc>
              <a:spcAft>
                <a:spcPts val="0"/>
              </a:spcAft>
            </a:pPr>
            <a:r>
              <a:rPr sz="2400" b="1" i="0">
                <a:solidFill>
                  <a:srgbClr val="1F1F1F"/>
                </a:solidFill>
                <a:latin typeface="Arial"/>
              </a:rPr>
              <a:t>Figure 1: </a:t>
            </a:r>
            <a:r>
              <a:rPr sz="2400" b="0" i="0">
                <a:solidFill>
                  <a:srgbClr val="5B6170"/>
                </a:solidFill>
                <a:latin typeface="Arial"/>
              </a:rPr>
              <a:t>The two models, their inputs and their common output.</a:t>
            </a:r>
          </a:p>
        </p:txBody>
      </p:sp>
      <p:sp>
        <p:nvSpPr>
          <p:cNvPr id="39" name="TextBox 38"/>
          <p:cNvSpPr txBox="1"/>
          <p:nvPr/>
        </p:nvSpPr>
        <p:spPr>
          <a:xfrm>
            <a:off x="792000" y="26208000"/>
            <a:ext cx="9648000" cy="360000"/>
          </a:xfrm>
          <a:prstGeom prst="rect">
            <a:avLst/>
          </a:prstGeom>
          <a:noFill/>
        </p:spPr>
        <p:txBody>
          <a:bodyPr wrap="square" lIns="0" tIns="0" rIns="0" bIns="0" anchor="t">
            <a:spAutoFit/>
          </a:bodyPr>
          <a:lstStyle/>
          <a:p>
            <a:pPr algn="l">
              <a:lnSpc>
                <a:spcPct val="108000"/>
              </a:lnSpc>
              <a:spcAft>
                <a:spcPts val="0"/>
              </a:spcAft>
            </a:pPr>
            <a:r>
              <a:rPr sz="2400" b="1" i="0">
                <a:solidFill>
                  <a:srgbClr val="0000CD"/>
                </a:solidFill>
                <a:latin typeface="Arial"/>
              </a:rPr>
              <a:t>References</a:t>
            </a:r>
          </a:p>
        </p:txBody>
      </p:sp>
      <p:sp>
        <p:nvSpPr>
          <p:cNvPr id="40" name="TextBox 39"/>
          <p:cNvSpPr txBox="1"/>
          <p:nvPr/>
        </p:nvSpPr>
        <p:spPr>
          <a:xfrm>
            <a:off x="792000" y="26604000"/>
            <a:ext cx="9648000" cy="1836000"/>
          </a:xfrm>
          <a:prstGeom prst="rect">
            <a:avLst/>
          </a:prstGeom>
          <a:noFill/>
        </p:spPr>
        <p:txBody>
          <a:bodyPr wrap="square" lIns="0" tIns="0" rIns="0" bIns="0" anchor="t">
            <a:spAutoFit/>
          </a:bodyPr>
          <a:lstStyle/>
          <a:p>
            <a:pPr algn="l">
              <a:lnSpc>
                <a:spcPct val="102000"/>
              </a:lnSpc>
              <a:spcAft>
                <a:spcPts val="50"/>
              </a:spcAft>
            </a:pPr>
            <a:r>
              <a:rPr sz="1250" b="0" i="0">
                <a:solidFill>
                  <a:srgbClr val="1F1F1F"/>
                </a:solidFill>
                <a:latin typeface="Arial"/>
              </a:rPr>
              <a:t>[1] L. Hirth. The market value of variable renewables. Energy Economics, 38:218–236, 2013.</a:t>
            </a:r>
          </a:p>
          <a:p>
            <a:pPr algn="l">
              <a:lnSpc>
                <a:spcPct val="102000"/>
              </a:lnSpc>
              <a:spcAft>
                <a:spcPts val="50"/>
              </a:spcAft>
            </a:pPr>
            <a:r>
              <a:rPr sz="1250" b="0" i="0">
                <a:solidFill>
                  <a:srgbClr val="1F1F1F"/>
                </a:solidFill>
                <a:latin typeface="Arial"/>
              </a:rPr>
              <a:t>[2] L. Hayes, M. Stocks and A. Blakers. Accurate long‑term power generation model for offshore wind farms in Europe using ERA5 reanalysis. Energy, 229:120603, 2021.</a:t>
            </a:r>
          </a:p>
          <a:p>
            <a:pPr algn="l">
              <a:lnSpc>
                <a:spcPct val="102000"/>
              </a:lnSpc>
              <a:spcAft>
                <a:spcPts val="50"/>
              </a:spcAft>
            </a:pPr>
            <a:r>
              <a:rPr sz="1250" b="0" i="0">
                <a:solidFill>
                  <a:srgbClr val="1F1F1F"/>
                </a:solidFill>
                <a:latin typeface="Arial"/>
              </a:rPr>
              <a:t>[3] J. Hörsch, F. Hofmann, D. Schlachtberger and T. Brown. PyPSA‑Eur: an open optimisation model of the European transmission system. Energy Strategy Reviews, 22:207–215, 2018.</a:t>
            </a:r>
          </a:p>
          <a:p>
            <a:pPr algn="l">
              <a:lnSpc>
                <a:spcPct val="102000"/>
              </a:lnSpc>
              <a:spcAft>
                <a:spcPts val="50"/>
              </a:spcAft>
            </a:pPr>
            <a:r>
              <a:rPr sz="1250" b="0" i="0">
                <a:solidFill>
                  <a:srgbClr val="1F1F1F"/>
                </a:solidFill>
                <a:latin typeface="Arial"/>
              </a:rPr>
              <a:t>[4] ENTSO‑E and ENTSOG. TYNDP 2024 Scenarios Report, final version, January 2025.</a:t>
            </a:r>
          </a:p>
          <a:p>
            <a:pPr algn="l">
              <a:lnSpc>
                <a:spcPct val="102000"/>
              </a:lnSpc>
              <a:spcAft>
                <a:spcPts val="50"/>
              </a:spcAft>
            </a:pPr>
            <a:r>
              <a:rPr sz="1250" b="0" i="0">
                <a:solidFill>
                  <a:srgbClr val="1F1F1F"/>
                </a:solidFill>
                <a:latin typeface="Arial"/>
              </a:rPr>
              <a:t>[5] ENTSO‑E Transparency Platform. Day‑ahead prices and generation data, 2017 to 2024.</a:t>
            </a:r>
          </a:p>
        </p:txBody>
      </p:sp>
      <p:sp>
        <p:nvSpPr>
          <p:cNvPr id="41" name="TextBox 40"/>
          <p:cNvSpPr txBox="1"/>
          <p:nvPr/>
        </p:nvSpPr>
        <p:spPr>
          <a:xfrm>
            <a:off x="10872000" y="4896000"/>
            <a:ext cx="9720000" cy="648000"/>
          </a:xfrm>
          <a:prstGeom prst="rect">
            <a:avLst/>
          </a:prstGeom>
          <a:noFill/>
        </p:spPr>
        <p:txBody>
          <a:bodyPr wrap="square" lIns="0" tIns="0" rIns="0" bIns="0" anchor="t">
            <a:spAutoFit/>
          </a:bodyPr>
          <a:lstStyle/>
          <a:p>
            <a:pPr algn="l">
              <a:lnSpc>
                <a:spcPct val="100000"/>
              </a:lnSpc>
              <a:spcAft>
                <a:spcPts val="0"/>
              </a:spcAft>
            </a:pPr>
            <a:r>
              <a:rPr sz="4400" b="1" i="0">
                <a:solidFill>
                  <a:srgbClr val="0000CD"/>
                </a:solidFill>
                <a:latin typeface="Arial"/>
              </a:rPr>
              <a:t>Results</a:t>
            </a:r>
          </a:p>
        </p:txBody>
      </p:sp>
      <p:pic>
        <p:nvPicPr>
          <p:cNvPr id="42" name="Picture 41" descr="fig_p_hero.png"/>
          <p:cNvPicPr>
            <a:picLocks noChangeAspect="1"/>
          </p:cNvPicPr>
          <p:nvPr/>
        </p:nvPicPr>
        <p:blipFill>
          <a:blip r:embed="rId2"/>
          <a:stretch>
            <a:fillRect/>
          </a:stretch>
        </p:blipFill>
        <p:spPr>
          <a:xfrm>
            <a:off x="10872000" y="5688000"/>
            <a:ext cx="9720000" cy="4320000"/>
          </a:xfrm>
          <a:prstGeom prst="rect">
            <a:avLst/>
          </a:prstGeom>
        </p:spPr>
      </p:pic>
      <p:sp>
        <p:nvSpPr>
          <p:cNvPr id="43" name="TextBox 42"/>
          <p:cNvSpPr txBox="1"/>
          <p:nvPr/>
        </p:nvSpPr>
        <p:spPr>
          <a:xfrm>
            <a:off x="10872000" y="10080000"/>
            <a:ext cx="9720000" cy="792000"/>
          </a:xfrm>
          <a:prstGeom prst="rect">
            <a:avLst/>
          </a:prstGeom>
          <a:noFill/>
        </p:spPr>
        <p:txBody>
          <a:bodyPr wrap="square" lIns="0" tIns="0" rIns="0" bIns="0" anchor="t">
            <a:spAutoFit/>
          </a:bodyPr>
          <a:lstStyle/>
          <a:p>
            <a:pPr algn="l">
              <a:lnSpc>
                <a:spcPct val="106000"/>
              </a:lnSpc>
              <a:spcAft>
                <a:spcPts val="0"/>
              </a:spcAft>
            </a:pPr>
            <a:r>
              <a:rPr sz="2400" b="1" i="0">
                <a:solidFill>
                  <a:srgbClr val="1F1F1F"/>
                </a:solidFill>
                <a:latin typeface="Arial"/>
              </a:rPr>
              <a:t>Figure 2: </a:t>
            </a:r>
            <a:r>
              <a:rPr sz="2400" b="0" i="0">
                <a:solidFill>
                  <a:srgbClr val="5B6170"/>
                </a:solidFill>
                <a:latin typeface="Arial"/>
              </a:rPr>
              <a:t>Capture value observed to 2024 and projected to 2040, with the grid as today and with transmission expanded.</a:t>
            </a:r>
          </a:p>
        </p:txBody>
      </p:sp>
      <p:sp>
        <p:nvSpPr>
          <p:cNvPr id="44" name="TextBox 43"/>
          <p:cNvSpPr txBox="1"/>
          <p:nvPr/>
        </p:nvSpPr>
        <p:spPr>
          <a:xfrm>
            <a:off x="10872000" y="10980000"/>
            <a:ext cx="9720000" cy="1872000"/>
          </a:xfrm>
          <a:prstGeom prst="rect">
            <a:avLst/>
          </a:prstGeom>
          <a:noFill/>
        </p:spPr>
        <p:txBody>
          <a:bodyPr wrap="square" lIns="0" tIns="0" rIns="0" bIns="0" anchor="t">
            <a:spAutoFit/>
          </a:bodyPr>
          <a:lstStyle/>
          <a:p>
            <a:pPr algn="l">
              <a:lnSpc>
                <a:spcPct val="108000"/>
              </a:lnSpc>
              <a:spcAft>
                <a:spcPts val="0"/>
              </a:spcAft>
            </a:pPr>
            <a:r>
              <a:rPr sz="2400" b="0" i="0">
                <a:solidFill>
                  <a:srgbClr val="1F1F1F"/>
                </a:solidFill>
                <a:latin typeface="Arial"/>
              </a:rPr>
              <a:t>Both seas are level today. With the planned buildout and today's grid the Baltic falls to 0.47 by 2040 and the North Sea to 0.57. Expanding the grid lifts the Baltic to 0.66: half of its extra loss is congestion that transmission removes.</a:t>
            </a:r>
          </a:p>
        </p:txBody>
      </p:sp>
      <p:sp>
        <p:nvSpPr>
          <p:cNvPr id="45" name="Rectangle 44"/>
          <p:cNvSpPr/>
          <p:nvPr/>
        </p:nvSpPr>
        <p:spPr>
          <a:xfrm>
            <a:off x="10872000" y="13032000"/>
            <a:ext cx="2448000" cy="612000"/>
          </a:xfrm>
          <a:prstGeom prst="rect">
            <a:avLst/>
          </a:prstGeom>
          <a:solidFill>
            <a:srgbClr val="000080"/>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0980000" y="13068000"/>
            <a:ext cx="2232000" cy="540000"/>
          </a:xfrm>
          <a:prstGeom prst="rect">
            <a:avLst/>
          </a:prstGeom>
          <a:noFill/>
        </p:spPr>
        <p:txBody>
          <a:bodyPr wrap="square" lIns="0" tIns="0" rIns="0" bIns="0" anchor="ctr">
            <a:spAutoFit/>
          </a:bodyPr>
          <a:lstStyle/>
          <a:p>
            <a:pPr algn="l">
              <a:lnSpc>
                <a:spcPct val="100000"/>
              </a:lnSpc>
              <a:spcAft>
                <a:spcPts val="0"/>
              </a:spcAft>
            </a:pPr>
            <a:endParaRPr/>
          </a:p>
        </p:txBody>
      </p:sp>
      <p:sp>
        <p:nvSpPr>
          <p:cNvPr id="47" name="Rectangle 46"/>
          <p:cNvSpPr/>
          <p:nvPr/>
        </p:nvSpPr>
        <p:spPr>
          <a:xfrm>
            <a:off x="13320000" y="13032000"/>
            <a:ext cx="3636000" cy="612000"/>
          </a:xfrm>
          <a:prstGeom prst="rect">
            <a:avLst/>
          </a:prstGeom>
          <a:solidFill>
            <a:srgbClr val="000080"/>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3428000" y="13068000"/>
            <a:ext cx="3420000" cy="540000"/>
          </a:xfrm>
          <a:prstGeom prst="rect">
            <a:avLst/>
          </a:prstGeom>
          <a:noFill/>
        </p:spPr>
        <p:txBody>
          <a:bodyPr wrap="square" lIns="0" tIns="0" rIns="0" bIns="0" anchor="ctr">
            <a:spAutoFit/>
          </a:bodyPr>
          <a:lstStyle/>
          <a:p>
            <a:pPr algn="ctr">
              <a:lnSpc>
                <a:spcPct val="100000"/>
              </a:lnSpc>
              <a:spcAft>
                <a:spcPts val="0"/>
              </a:spcAft>
            </a:pPr>
            <a:r>
              <a:rPr sz="2400" b="1" i="0">
                <a:solidFill>
                  <a:srgbClr val="FFFFFF"/>
                </a:solidFill>
                <a:latin typeface="Arial"/>
              </a:rPr>
              <a:t>Statistical model</a:t>
            </a:r>
          </a:p>
        </p:txBody>
      </p:sp>
      <p:sp>
        <p:nvSpPr>
          <p:cNvPr id="49" name="Rectangle 48"/>
          <p:cNvSpPr/>
          <p:nvPr/>
        </p:nvSpPr>
        <p:spPr>
          <a:xfrm>
            <a:off x="16956000" y="13032000"/>
            <a:ext cx="3636000" cy="612000"/>
          </a:xfrm>
          <a:prstGeom prst="rect">
            <a:avLst/>
          </a:prstGeom>
          <a:solidFill>
            <a:srgbClr val="000080"/>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17064000" y="13068000"/>
            <a:ext cx="3420000" cy="540000"/>
          </a:xfrm>
          <a:prstGeom prst="rect">
            <a:avLst/>
          </a:prstGeom>
          <a:noFill/>
        </p:spPr>
        <p:txBody>
          <a:bodyPr wrap="square" lIns="0" tIns="0" rIns="0" bIns="0" anchor="ctr">
            <a:spAutoFit/>
          </a:bodyPr>
          <a:lstStyle/>
          <a:p>
            <a:pPr algn="ctr">
              <a:lnSpc>
                <a:spcPct val="100000"/>
              </a:lnSpc>
              <a:spcAft>
                <a:spcPts val="0"/>
              </a:spcAft>
            </a:pPr>
            <a:r>
              <a:rPr sz="2400" b="1" i="0">
                <a:solidFill>
                  <a:srgbClr val="FFFFFF"/>
                </a:solidFill>
                <a:latin typeface="Arial"/>
              </a:rPr>
              <a:t>Power‑system model</a:t>
            </a:r>
          </a:p>
        </p:txBody>
      </p:sp>
      <p:sp>
        <p:nvSpPr>
          <p:cNvPr id="51" name="Rectangle 50"/>
          <p:cNvSpPr/>
          <p:nvPr/>
        </p:nvSpPr>
        <p:spPr>
          <a:xfrm>
            <a:off x="10872000" y="13644000"/>
            <a:ext cx="2448000" cy="612000"/>
          </a:xfrm>
          <a:prstGeom prst="rect">
            <a:avLst/>
          </a:prstGeom>
          <a:solidFill>
            <a:srgbClr val="E6E6FA"/>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Box 51"/>
          <p:cNvSpPr txBox="1"/>
          <p:nvPr/>
        </p:nvSpPr>
        <p:spPr>
          <a:xfrm>
            <a:off x="10980000" y="13680000"/>
            <a:ext cx="2232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0080"/>
                </a:solidFill>
                <a:latin typeface="Arial"/>
              </a:rPr>
              <a:t>Today's prices</a:t>
            </a:r>
          </a:p>
        </p:txBody>
      </p:sp>
      <p:sp>
        <p:nvSpPr>
          <p:cNvPr id="53" name="Rectangle 52"/>
          <p:cNvSpPr/>
          <p:nvPr/>
        </p:nvSpPr>
        <p:spPr>
          <a:xfrm>
            <a:off x="13320000" y="13644000"/>
            <a:ext cx="3636000" cy="612000"/>
          </a:xfrm>
          <a:prstGeom prst="rect">
            <a:avLst/>
          </a:prstGeom>
          <a:solidFill>
            <a:srgbClr val="E4E6F4"/>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13428000" y="13680000"/>
            <a:ext cx="3420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0080"/>
                </a:solidFill>
                <a:latin typeface="Arial"/>
              </a:rPr>
              <a:t>closer, error 0.01</a:t>
            </a:r>
          </a:p>
        </p:txBody>
      </p:sp>
      <p:sp>
        <p:nvSpPr>
          <p:cNvPr id="55" name="Rectangle 54"/>
          <p:cNvSpPr/>
          <p:nvPr/>
        </p:nvSpPr>
        <p:spPr>
          <a:xfrm>
            <a:off x="16956000" y="13644000"/>
            <a:ext cx="3636000" cy="612000"/>
          </a:xfrm>
          <a:prstGeom prst="rect">
            <a:avLst/>
          </a:prstGeom>
          <a:solidFill>
            <a:srgbClr val="FFFFFF"/>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7064000" y="13680000"/>
            <a:ext cx="3420000" cy="540000"/>
          </a:xfrm>
          <a:prstGeom prst="rect">
            <a:avLst/>
          </a:prstGeom>
          <a:noFill/>
        </p:spPr>
        <p:txBody>
          <a:bodyPr wrap="square" lIns="0" tIns="0" rIns="0" bIns="0" anchor="ctr">
            <a:spAutoFit/>
          </a:bodyPr>
          <a:lstStyle/>
          <a:p>
            <a:pPr algn="l">
              <a:lnSpc>
                <a:spcPct val="100000"/>
              </a:lnSpc>
              <a:spcAft>
                <a:spcPts val="0"/>
              </a:spcAft>
            </a:pPr>
            <a:r>
              <a:rPr sz="2400" b="0" i="0">
                <a:solidFill>
                  <a:srgbClr val="1F1F1F"/>
                </a:solidFill>
                <a:latin typeface="Arial"/>
              </a:rPr>
              <a:t>error 0.05</a:t>
            </a:r>
          </a:p>
        </p:txBody>
      </p:sp>
      <p:sp>
        <p:nvSpPr>
          <p:cNvPr id="57" name="Rectangle 56"/>
          <p:cNvSpPr/>
          <p:nvPr/>
        </p:nvSpPr>
        <p:spPr>
          <a:xfrm>
            <a:off x="10872000" y="14256000"/>
            <a:ext cx="2448000" cy="612000"/>
          </a:xfrm>
          <a:prstGeom prst="rect">
            <a:avLst/>
          </a:prstGeom>
          <a:solidFill>
            <a:srgbClr val="E6E6FA"/>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10980000" y="14292000"/>
            <a:ext cx="2232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0080"/>
                </a:solidFill>
                <a:latin typeface="Arial"/>
              </a:rPr>
              <a:t>Any future</a:t>
            </a:r>
          </a:p>
        </p:txBody>
      </p:sp>
      <p:sp>
        <p:nvSpPr>
          <p:cNvPr id="59" name="Rectangle 58"/>
          <p:cNvSpPr/>
          <p:nvPr/>
        </p:nvSpPr>
        <p:spPr>
          <a:xfrm>
            <a:off x="13320000" y="14256000"/>
            <a:ext cx="3636000" cy="612000"/>
          </a:xfrm>
          <a:prstGeom prst="rect">
            <a:avLst/>
          </a:prstGeom>
          <a:solidFill>
            <a:srgbClr val="FFFFFF"/>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13428000" y="14292000"/>
            <a:ext cx="3420000" cy="540000"/>
          </a:xfrm>
          <a:prstGeom prst="rect">
            <a:avLst/>
          </a:prstGeom>
          <a:noFill/>
        </p:spPr>
        <p:txBody>
          <a:bodyPr wrap="square" lIns="0" tIns="0" rIns="0" bIns="0" anchor="ctr">
            <a:spAutoFit/>
          </a:bodyPr>
          <a:lstStyle/>
          <a:p>
            <a:pPr algn="l">
              <a:lnSpc>
                <a:spcPct val="100000"/>
              </a:lnSpc>
              <a:spcAft>
                <a:spcPts val="0"/>
              </a:spcAft>
            </a:pPr>
            <a:r>
              <a:rPr sz="2400" b="0" i="0">
                <a:solidFill>
                  <a:srgbClr val="1F1F1F"/>
                </a:solidFill>
                <a:latin typeface="Arial"/>
              </a:rPr>
              <a:t>one answer for all</a:t>
            </a:r>
          </a:p>
        </p:txBody>
      </p:sp>
      <p:sp>
        <p:nvSpPr>
          <p:cNvPr id="61" name="Rectangle 60"/>
          <p:cNvSpPr/>
          <p:nvPr/>
        </p:nvSpPr>
        <p:spPr>
          <a:xfrm>
            <a:off x="16956000" y="14256000"/>
            <a:ext cx="3636000" cy="612000"/>
          </a:xfrm>
          <a:prstGeom prst="rect">
            <a:avLst/>
          </a:prstGeom>
          <a:solidFill>
            <a:srgbClr val="E3EFE3"/>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17064000" y="14292000"/>
            <a:ext cx="3420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6400"/>
                </a:solidFill>
                <a:latin typeface="Arial"/>
              </a:rPr>
              <a:t>responds to the grid</a:t>
            </a:r>
          </a:p>
        </p:txBody>
      </p:sp>
      <p:sp>
        <p:nvSpPr>
          <p:cNvPr id="63" name="Rectangle 62"/>
          <p:cNvSpPr/>
          <p:nvPr/>
        </p:nvSpPr>
        <p:spPr>
          <a:xfrm>
            <a:off x="10872000" y="14868000"/>
            <a:ext cx="2448000" cy="612000"/>
          </a:xfrm>
          <a:prstGeom prst="rect">
            <a:avLst/>
          </a:prstGeom>
          <a:solidFill>
            <a:srgbClr val="E6E6FA"/>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10980000" y="14904000"/>
            <a:ext cx="2232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0080"/>
                </a:solidFill>
                <a:latin typeface="Arial"/>
              </a:rPr>
              <a:t>Congestion</a:t>
            </a:r>
          </a:p>
        </p:txBody>
      </p:sp>
      <p:sp>
        <p:nvSpPr>
          <p:cNvPr id="65" name="Rectangle 64"/>
          <p:cNvSpPr/>
          <p:nvPr/>
        </p:nvSpPr>
        <p:spPr>
          <a:xfrm>
            <a:off x="13320000" y="14868000"/>
            <a:ext cx="3636000" cy="612000"/>
          </a:xfrm>
          <a:prstGeom prst="rect">
            <a:avLst/>
          </a:prstGeom>
          <a:solidFill>
            <a:srgbClr val="FFFFFF"/>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p:cNvSpPr txBox="1"/>
          <p:nvPr/>
        </p:nvSpPr>
        <p:spPr>
          <a:xfrm>
            <a:off x="13428000" y="14904000"/>
            <a:ext cx="3420000" cy="540000"/>
          </a:xfrm>
          <a:prstGeom prst="rect">
            <a:avLst/>
          </a:prstGeom>
          <a:noFill/>
        </p:spPr>
        <p:txBody>
          <a:bodyPr wrap="square" lIns="0" tIns="0" rIns="0" bIns="0" anchor="ctr">
            <a:spAutoFit/>
          </a:bodyPr>
          <a:lstStyle/>
          <a:p>
            <a:pPr algn="l">
              <a:lnSpc>
                <a:spcPct val="100000"/>
              </a:lnSpc>
              <a:spcAft>
                <a:spcPts val="0"/>
              </a:spcAft>
            </a:pPr>
            <a:r>
              <a:rPr sz="2400" b="0" i="0">
                <a:solidFill>
                  <a:srgbClr val="1F1F1F"/>
                </a:solidFill>
                <a:latin typeface="Arial"/>
              </a:rPr>
              <a:t>an input only</a:t>
            </a:r>
          </a:p>
        </p:txBody>
      </p:sp>
      <p:sp>
        <p:nvSpPr>
          <p:cNvPr id="67" name="Rectangle 66"/>
          <p:cNvSpPr/>
          <p:nvPr/>
        </p:nvSpPr>
        <p:spPr>
          <a:xfrm>
            <a:off x="16956000" y="14868000"/>
            <a:ext cx="3636000" cy="612000"/>
          </a:xfrm>
          <a:prstGeom prst="rect">
            <a:avLst/>
          </a:prstGeom>
          <a:solidFill>
            <a:srgbClr val="E3EFE3"/>
          </a:solidFill>
          <a:ln w="7620">
            <a:solidFill>
              <a:srgbClr val="C9CE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TextBox 67"/>
          <p:cNvSpPr txBox="1"/>
          <p:nvPr/>
        </p:nvSpPr>
        <p:spPr>
          <a:xfrm>
            <a:off x="17064000" y="14904000"/>
            <a:ext cx="3420000" cy="540000"/>
          </a:xfrm>
          <a:prstGeom prst="rect">
            <a:avLst/>
          </a:prstGeom>
          <a:noFill/>
        </p:spPr>
        <p:txBody>
          <a:bodyPr wrap="square" lIns="0" tIns="0" rIns="0" bIns="0" anchor="ctr">
            <a:spAutoFit/>
          </a:bodyPr>
          <a:lstStyle/>
          <a:p>
            <a:pPr algn="l">
              <a:lnSpc>
                <a:spcPct val="100000"/>
              </a:lnSpc>
              <a:spcAft>
                <a:spcPts val="0"/>
              </a:spcAft>
            </a:pPr>
            <a:r>
              <a:rPr sz="2400" b="1" i="0">
                <a:solidFill>
                  <a:srgbClr val="006400"/>
                </a:solidFill>
                <a:latin typeface="Arial"/>
              </a:rPr>
              <a:t>priced at every node</a:t>
            </a:r>
          </a:p>
        </p:txBody>
      </p:sp>
      <p:sp>
        <p:nvSpPr>
          <p:cNvPr id="69" name="TextBox 68"/>
          <p:cNvSpPr txBox="1"/>
          <p:nvPr/>
        </p:nvSpPr>
        <p:spPr>
          <a:xfrm>
            <a:off x="10872000" y="15588000"/>
            <a:ext cx="9720000" cy="792000"/>
          </a:xfrm>
          <a:prstGeom prst="rect">
            <a:avLst/>
          </a:prstGeom>
          <a:noFill/>
        </p:spPr>
        <p:txBody>
          <a:bodyPr wrap="square" lIns="0" tIns="0" rIns="0" bIns="0" anchor="t">
            <a:spAutoFit/>
          </a:bodyPr>
          <a:lstStyle/>
          <a:p>
            <a:pPr algn="l">
              <a:lnSpc>
                <a:spcPct val="106000"/>
              </a:lnSpc>
              <a:spcAft>
                <a:spcPts val="0"/>
              </a:spcAft>
            </a:pPr>
            <a:r>
              <a:rPr sz="2400" b="1" i="0">
                <a:solidFill>
                  <a:srgbClr val="1F1F1F"/>
                </a:solidFill>
                <a:latin typeface="Arial"/>
              </a:rPr>
              <a:t>Table 1: </a:t>
            </a:r>
            <a:r>
              <a:rPr sz="2400" b="0" i="0">
                <a:solidFill>
                  <a:srgbClr val="5B6170"/>
                </a:solidFill>
                <a:latin typeface="Arial"/>
              </a:rPr>
              <a:t>The regression is better for today, the power‑system model for the long term, so the 2040 numbers come from it.</a:t>
            </a:r>
          </a:p>
        </p:txBody>
      </p:sp>
      <p:pic>
        <p:nvPicPr>
          <p:cNvPr id="70" name="Picture 69" descr="fig_p_maps.png"/>
          <p:cNvPicPr>
            <a:picLocks noChangeAspect="1"/>
          </p:cNvPicPr>
          <p:nvPr/>
        </p:nvPicPr>
        <p:blipFill>
          <a:blip r:embed="rId3"/>
          <a:stretch>
            <a:fillRect/>
          </a:stretch>
        </p:blipFill>
        <p:spPr>
          <a:xfrm>
            <a:off x="10872000" y="16560000"/>
            <a:ext cx="9720000" cy="5400000"/>
          </a:xfrm>
          <a:prstGeom prst="rect">
            <a:avLst/>
          </a:prstGeom>
        </p:spPr>
      </p:pic>
      <p:sp>
        <p:nvSpPr>
          <p:cNvPr id="71" name="TextBox 70"/>
          <p:cNvSpPr txBox="1"/>
          <p:nvPr/>
        </p:nvSpPr>
        <p:spPr>
          <a:xfrm>
            <a:off x="10872000" y="22032000"/>
            <a:ext cx="9720000" cy="792000"/>
          </a:xfrm>
          <a:prstGeom prst="rect">
            <a:avLst/>
          </a:prstGeom>
          <a:noFill/>
        </p:spPr>
        <p:txBody>
          <a:bodyPr wrap="square" lIns="0" tIns="0" rIns="0" bIns="0" anchor="t">
            <a:spAutoFit/>
          </a:bodyPr>
          <a:lstStyle/>
          <a:p>
            <a:pPr algn="l">
              <a:lnSpc>
                <a:spcPct val="106000"/>
              </a:lnSpc>
              <a:spcAft>
                <a:spcPts val="0"/>
              </a:spcAft>
            </a:pPr>
            <a:r>
              <a:rPr sz="2400" b="1" i="0">
                <a:solidFill>
                  <a:srgbClr val="1F1F1F"/>
                </a:solidFill>
                <a:latin typeface="Arial"/>
              </a:rPr>
              <a:t>Figure 3: </a:t>
            </a:r>
            <a:r>
              <a:rPr sz="2400" b="0" i="0">
                <a:solidFill>
                  <a:srgbClr val="5B6170"/>
                </a:solidFill>
                <a:latin typeface="Arial"/>
              </a:rPr>
              <a:t>Break‑even price of a new farm in 2040, cost ÷ capture value. Below 70 EUR/MWh a farm pays back.</a:t>
            </a:r>
          </a:p>
        </p:txBody>
      </p:sp>
      <p:sp>
        <p:nvSpPr>
          <p:cNvPr id="72" name="TextBox 71"/>
          <p:cNvSpPr txBox="1"/>
          <p:nvPr/>
        </p:nvSpPr>
        <p:spPr>
          <a:xfrm>
            <a:off x="10872000" y="22932000"/>
            <a:ext cx="9720000" cy="1152000"/>
          </a:xfrm>
          <a:prstGeom prst="rect">
            <a:avLst/>
          </a:prstGeom>
          <a:noFill/>
        </p:spPr>
        <p:txBody>
          <a:bodyPr wrap="square" lIns="0" tIns="0" rIns="0" bIns="0" anchor="t">
            <a:spAutoFit/>
          </a:bodyPr>
          <a:lstStyle/>
          <a:p>
            <a:pPr algn="l">
              <a:lnSpc>
                <a:spcPct val="108000"/>
              </a:lnSpc>
              <a:spcAft>
                <a:spcPts val="0"/>
              </a:spcAft>
            </a:pPr>
            <a:r>
              <a:rPr sz="2400" b="0" i="0">
                <a:solidFill>
                  <a:srgbClr val="1F1F1F"/>
                </a:solidFill>
                <a:latin typeface="Arial"/>
              </a:rPr>
              <a:t>With today's grid the Baltic break‑even price rises from 87 to 121 EUR/MWh by 2040. Expanding the grid lowers it by 33, and Polish and Danish waters pay back.</a:t>
            </a:r>
          </a:p>
        </p:txBody>
      </p:sp>
      <p:sp>
        <p:nvSpPr>
          <p:cNvPr id="73" name="TextBox 72"/>
          <p:cNvSpPr txBox="1"/>
          <p:nvPr/>
        </p:nvSpPr>
        <p:spPr>
          <a:xfrm>
            <a:off x="10872000" y="24336000"/>
            <a:ext cx="9720000" cy="648000"/>
          </a:xfrm>
          <a:prstGeom prst="rect">
            <a:avLst/>
          </a:prstGeom>
          <a:noFill/>
        </p:spPr>
        <p:txBody>
          <a:bodyPr wrap="square" lIns="0" tIns="0" rIns="0" bIns="0" anchor="t">
            <a:spAutoFit/>
          </a:bodyPr>
          <a:lstStyle/>
          <a:p>
            <a:pPr algn="l">
              <a:lnSpc>
                <a:spcPct val="100000"/>
              </a:lnSpc>
              <a:spcAft>
                <a:spcPts val="0"/>
              </a:spcAft>
            </a:pPr>
            <a:r>
              <a:rPr sz="4400" b="1" i="0">
                <a:solidFill>
                  <a:srgbClr val="0000CD"/>
                </a:solidFill>
                <a:latin typeface="Arial"/>
              </a:rPr>
              <a:t>Conclusions</a:t>
            </a:r>
          </a:p>
        </p:txBody>
      </p:sp>
      <p:sp>
        <p:nvSpPr>
          <p:cNvPr id="74" name="TextBox 73"/>
          <p:cNvSpPr txBox="1"/>
          <p:nvPr/>
        </p:nvSpPr>
        <p:spPr>
          <a:xfrm>
            <a:off x="10872000" y="25128000"/>
            <a:ext cx="9720000" cy="3312000"/>
          </a:xfrm>
          <a:prstGeom prst="rect">
            <a:avLst/>
          </a:prstGeom>
          <a:noFill/>
        </p:spPr>
        <p:txBody>
          <a:bodyPr wrap="square" lIns="0" tIns="0" rIns="0" bIns="0" anchor="t">
            <a:spAutoFit/>
          </a:bodyPr>
          <a:lstStyle/>
          <a:p>
            <a:pPr marL="396000" indent="-396000" algn="l">
              <a:lnSpc>
                <a:spcPct val="106000"/>
              </a:lnSpc>
              <a:spcAft>
                <a:spcPts val="300"/>
              </a:spcAft>
              <a:buAutoNum type="arabicPeriod"/>
            </a:pPr>
            <a:r>
              <a:rPr sz="2400" b="0" i="0">
                <a:solidFill>
                  <a:srgbClr val="1F1F1F"/>
                </a:solidFill>
                <a:latin typeface="Arial"/>
              </a:rPr>
              <a:t>Today the seas are equal at 0.88. Once the planned farms are built, with today's grid, the Baltic falls to 0.47 and the North Sea to 0.57.</a:t>
            </a:r>
          </a:p>
          <a:p>
            <a:pPr marL="396000" indent="-396000" algn="l">
              <a:lnSpc>
                <a:spcPct val="106000"/>
              </a:lnSpc>
              <a:spcAft>
                <a:spcPts val="300"/>
              </a:spcAft>
              <a:buAutoNum type="arabicPeriod"/>
            </a:pPr>
            <a:r>
              <a:rPr sz="2400" b="0" i="0">
                <a:solidFill>
                  <a:srgbClr val="1F1F1F"/>
                </a:solidFill>
                <a:latin typeface="Arial"/>
              </a:rPr>
              <a:t>The buildout costs both seas about the same. The Baltic's extra loss is grid congestion, and transmission removes it: the Baltic recovers to 0.66.</a:t>
            </a:r>
          </a:p>
          <a:p>
            <a:pPr marL="396000" indent="-396000" algn="l">
              <a:lnSpc>
                <a:spcPct val="106000"/>
              </a:lnSpc>
              <a:spcAft>
                <a:spcPts val="300"/>
              </a:spcAft>
              <a:buAutoNum type="arabicPeriod"/>
            </a:pPr>
            <a:r>
              <a:rPr sz="2400" b="0" i="0">
                <a:solidFill>
                  <a:srgbClr val="1F1F1F"/>
                </a:solidFill>
                <a:latin typeface="Arial"/>
              </a:rPr>
              <a:t>The market must be rebuilt: the model trained on the past gives one answer for every future, so the 2040 numbers come from the power‑system model.</a:t>
            </a:r>
          </a:p>
        </p:txBody>
      </p:sp>
      <p:sp>
        <p:nvSpPr>
          <p:cNvPr id="75" name="TextBox 74"/>
          <p:cNvSpPr txBox="1"/>
          <p:nvPr/>
        </p:nvSpPr>
        <p:spPr>
          <a:xfrm>
            <a:off x="792000" y="23328000"/>
            <a:ext cx="9648000" cy="648000"/>
          </a:xfrm>
          <a:prstGeom prst="rect">
            <a:avLst/>
          </a:prstGeom>
          <a:noFill/>
        </p:spPr>
        <p:txBody>
          <a:bodyPr wrap="square" lIns="0" rIns="0" tIns="0" bIns="0">
            <a:spAutoFit/>
          </a:bodyPr>
          <a:lstStyle/>
          <a:p>
            <a:pPr>
              <a:lnSpc>
                <a:spcPct val="100000"/>
              </a:lnSpc>
            </a:pPr>
            <a:r>
              <a:rPr sz="4400" b="1">
                <a:solidFill>
                  <a:srgbClr val="0000CD"/>
                </a:solidFill>
                <a:latin typeface="Arial"/>
              </a:rPr>
              <a:t>Limitations</a:t>
            </a:r>
          </a:p>
        </p:txBody>
      </p:sp>
      <p:sp>
        <p:nvSpPr>
          <p:cNvPr id="76" name="TextBox 75"/>
          <p:cNvSpPr txBox="1"/>
          <p:nvPr/>
        </p:nvSpPr>
        <p:spPr>
          <a:xfrm>
            <a:off x="792000" y="24084000"/>
            <a:ext cx="9648000" cy="1512000"/>
          </a:xfrm>
          <a:prstGeom prst="rect">
            <a:avLst/>
          </a:prstGeom>
          <a:noFill/>
        </p:spPr>
        <p:txBody>
          <a:bodyPr wrap="square" lIns="0" rIns="0" tIns="0" bIns="0">
            <a:spAutoFit/>
          </a:bodyPr>
          <a:lstStyle/>
          <a:p>
            <a:pPr>
              <a:lnSpc>
                <a:spcPct val="108000"/>
              </a:lnSpc>
            </a:pPr>
            <a:r>
              <a:rPr sz="2400" b="0">
                <a:solidFill>
                  <a:srgbClr val="1F1F1F"/>
                </a:solidFill>
                <a:latin typeface="Arial"/>
              </a:rPr>
              <a:t>The power‑system model has no negative prices and a simplified grid, so the DK2 zone is set aside. All 2040 figures use the National Trends scenario. Flexible demand recovers more value than transmission, 0.28 against 0.19, and costing it is the next step.</a:t>
            </a:r>
          </a:p>
        </p:txBody>
      </p:sp>
      <p:sp>
        <p:nvSpPr>
          <p:cNvPr id="77" name="TextBox 76"/>
          <p:cNvSpPr txBox="1"/>
          <p:nvPr/>
        </p:nvSpPr>
        <p:spPr>
          <a:xfrm>
            <a:off x="792000" y="25758000"/>
            <a:ext cx="9648000" cy="396000"/>
          </a:xfrm>
          <a:prstGeom prst="rect">
            <a:avLst/>
          </a:prstGeom>
          <a:noFill/>
        </p:spPr>
        <p:txBody>
          <a:bodyPr wrap="square" lIns="0" rIns="0" tIns="0" bIns="0">
            <a:spAutoFit/>
          </a:bodyPr>
          <a:lstStyle/>
          <a:p>
            <a:pPr>
              <a:lnSpc>
                <a:spcPct val="100000"/>
              </a:lnSpc>
            </a:pPr>
            <a:r>
              <a:rPr sz="2400" b="0">
                <a:solidFill>
                  <a:srgbClr val="5B6170"/>
                </a:solidFill>
                <a:latin typeface="Arial"/>
              </a:rPr>
              <a:t>With thanks to Dr Ruslan Galimov, RWE, who guided this project.</a:t>
            </a:r>
          </a:p>
        </p:txBody>
      </p:sp>
    </p:spTree>
  </p:cSld>
  <p:clrMapOvr>
    <a:masterClrMapping/>
  </p:clrMapOvr>
</p:sld>
</file>

<file path=ppt/theme/theme1.xml><?xml version="1.0" encoding="utf-8"?>
<a:theme xmlns:a="http://schemas.openxmlformats.org/drawingml/2006/main" name="ICL Portrait Poster Theme">
  <a:themeElements>
    <a:clrScheme name="Imperial colour theme">
      <a:dk1>
        <a:sysClr val="windowText" lastClr="000000"/>
      </a:dk1>
      <a:lt1>
        <a:sysClr val="window" lastClr="FFFFFF"/>
      </a:lt1>
      <a:dk2>
        <a:srgbClr val="000080"/>
      </a:dk2>
      <a:lt2>
        <a:srgbClr val="F5F5F5"/>
      </a:lt2>
      <a:accent1>
        <a:srgbClr val="0000CD"/>
      </a:accent1>
      <a:accent2>
        <a:srgbClr val="C71585"/>
      </a:accent2>
      <a:accent3>
        <a:srgbClr val="7B68EE"/>
      </a:accent3>
      <a:accent4>
        <a:srgbClr val="FF0000"/>
      </a:accent4>
      <a:accent5>
        <a:srgbClr val="FF4500"/>
      </a:accent5>
      <a:accent6>
        <a:srgbClr val="006400"/>
      </a:accent6>
      <a:hlink>
        <a:srgbClr val="000080"/>
      </a:hlink>
      <a:folHlink>
        <a:srgbClr val="C71585"/>
      </a:folHlink>
    </a:clrScheme>
    <a:fontScheme name="Imperial Sans font theme">
      <a:majorFont>
        <a:latin typeface="Imperial Sans Text Semibold"/>
        <a:ea typeface=""/>
        <a:cs typeface=""/>
      </a:majorFont>
      <a:minorFont>
        <a:latin typeface="Imperial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5000"/>
          </a:lnSpc>
          <a:defRPr sz="1600" dirty="0">
            <a:solidFill>
              <a:schemeClr val="tx1"/>
            </a:solidFill>
          </a:defRPr>
        </a:defPPr>
      </a:lstStyle>
    </a:txDef>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ICL_Poster Portrait A1 template.potx" id="{102DD3C0-3B38-4CBE-AC27-389CFDD5B01E}" vid="{AB3924F8-CBDD-4D00-8457-0F1783E016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Dark">
      <a:srgbClr val="232333"/>
    </a:custClr>
    <a:custClr name="Navy">
      <a:srgbClr val="000080"/>
    </a:custClr>
    <a:custClr name="Saddle Brown">
      <a:srgbClr val="8B4513"/>
    </a:custClr>
    <a:custClr name="Teal">
      <a:srgbClr val="008080"/>
    </a:custClr>
    <a:custClr name="Medium Violet Red">
      <a:srgbClr val="C71585"/>
    </a:custClr>
    <a:custClr name="Indigo">
      <a:srgbClr val="4B0082"/>
    </a:custClr>
    <a:custClr name="Crimson">
      <a:srgbClr val="DC143C"/>
    </a:custClr>
    <a:custClr name="Orange Red">
      <a:srgbClr val="FF4500"/>
    </a:custClr>
    <a:custClr name="Dark Green">
      <a:srgbClr val="006400"/>
    </a:custClr>
    <a:custClr>
      <a:srgbClr val="FFFFFF"/>
    </a:custClr>
    <a:custClr name="Slate Grey">
      <a:srgbClr val="708090"/>
    </a:custClr>
    <a:custClr name="Imperial Blue">
      <a:srgbClr val="0000CD"/>
    </a:custClr>
    <a:custClr name="Yellow">
      <a:srgbClr val="FFFF00"/>
    </a:custClr>
    <a:custClr name="Turquoise">
      <a:srgbClr val="40E0D0"/>
    </a:custClr>
    <a:custClr name="Violet">
      <a:srgbClr val="EE82EE"/>
    </a:custClr>
    <a:custClr name="Medium Blue Slate">
      <a:srgbClr val="7B68EE"/>
    </a:custClr>
    <a:custClr name="Red">
      <a:srgbClr val="FF0000"/>
    </a:custClr>
    <a:custClr name="Dark Orange">
      <a:srgbClr val="FF8C00"/>
    </a:custClr>
    <a:custClr name="Spring Green">
      <a:srgbClr val="00FF7F"/>
    </a:custClr>
    <a:custClr>
      <a:srgbClr val="FFFFFF"/>
    </a:custClr>
    <a:custClr name="White Smoke">
      <a:srgbClr val="F5F5F5"/>
    </a:custClr>
    <a:custClr name="Deep Sky Blue">
      <a:srgbClr val="00BFFF"/>
    </a:custClr>
    <a:custClr name="Khaki">
      <a:srgbClr val="F0E68C"/>
    </a:custClr>
    <a:custClr name="Pale Turquoise">
      <a:srgbClr val="AFEEEE"/>
    </a:custClr>
    <a:custClr name="Light Pink">
      <a:srgbClr val="FFB6C1"/>
    </a:custClr>
    <a:custClr name="Lavender">
      <a:srgbClr val="E6E6FA"/>
    </a:custClr>
    <a:custClr name="Salmon">
      <a:srgbClr val="FA8072"/>
    </a:custClr>
    <a:custClr name="Orange">
      <a:srgbClr val="FFA500"/>
    </a:custClr>
    <a:custClr name="Pale Green">
      <a:srgbClr val="98FB98"/>
    </a:custClr>
  </a:custClr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Imperial_Poster Portrait A1 template</Template>
  <TotalTime>19</TotalTime>
  <Words>796</Words>
  <Application>Microsoft Macintosh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Imperial Sans Text Semibold</vt:lpstr>
      <vt:lpstr>Imperial Sans Text Extrabold</vt:lpstr>
      <vt:lpstr>Imperial Sans Text</vt:lpstr>
      <vt:lpstr>Calibri</vt:lpstr>
      <vt:lpstr>ICL Portrait Poster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Short and snappy, with the main message</dc:title>
  <dc:creator>Eves, Gavin J</dc:creator>
  <cp:lastModifiedBy>Bindakhil, Faisal M A</cp:lastModifiedBy>
  <cp:revision>3</cp:revision>
  <dcterms:created xsi:type="dcterms:W3CDTF">2024-07-18T09:21:34Z</dcterms:created>
  <dcterms:modified xsi:type="dcterms:W3CDTF">2026-09-06T19:47:36Z</dcterms:modified>
</cp:coreProperties>
</file>